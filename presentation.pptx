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 id="270" r:id="rId17"/>
  </p:sldIdLst>
  <p:sldSz cx="18288000" cy="10287000"/>
  <p:notesSz cx="6858000" cy="9144000"/>
  <p:embeddedFontLst>
    <p:embeddedFont>
      <p:font typeface="Montaser Arabic" panose="020B0604020202020204" charset="-78"/>
      <p:regular r:id="rId18"/>
    </p:embeddedFont>
    <p:embeddedFont>
      <p:font typeface="Montaser Arabic Bold" panose="020B0604020202020204" charset="-78"/>
      <p:regular r:id="rId19"/>
    </p:embeddedFont>
    <p:embeddedFont>
      <p:font typeface="Montaser Arabic Semi-Bold" panose="020B0604020202020204" charset="-78"/>
      <p:regular r:id="rId20"/>
    </p:embeddedFont>
    <p:embeddedFont>
      <p:font typeface="Montaser Arabic Ultra-Bold" panose="020B0604020202020204" charset="-78"/>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5A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1" d="100"/>
          <a:sy n="71" d="100"/>
        </p:scale>
        <p:origin x="71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02355" y="6943105"/>
            <a:ext cx="8457083" cy="293351"/>
          </a:xfrm>
          <a:prstGeom prst="rect">
            <a:avLst/>
          </a:prstGeom>
        </p:spPr>
        <p:txBody>
          <a:bodyPr lIns="0" tIns="0" rIns="0" bIns="0" rtlCol="0" anchor="t">
            <a:spAutoFit/>
          </a:bodyPr>
          <a:lstStyle/>
          <a:p>
            <a:pPr marL="0" lvl="0" indent="0" algn="just">
              <a:lnSpc>
                <a:spcPts val="2308"/>
              </a:lnSpc>
            </a:pPr>
            <a:r>
              <a:rPr lang="en-US" sz="2098">
                <a:solidFill>
                  <a:srgbClr val="0B1320"/>
                </a:solidFill>
                <a:latin typeface="Montaser Arabic"/>
                <a:ea typeface="Montaser Arabic"/>
                <a:cs typeface="Montaser Arabic"/>
                <a:sym typeface="Montaser Arabic"/>
              </a:rPr>
              <a:t>MSc Artificial Intelligence  ·  June 2026</a:t>
            </a:r>
          </a:p>
        </p:txBody>
      </p:sp>
      <p:grpSp>
        <p:nvGrpSpPr>
          <p:cNvPr id="3" name="Group 3"/>
          <p:cNvGrpSpPr/>
          <p:nvPr/>
        </p:nvGrpSpPr>
        <p:grpSpPr>
          <a:xfrm>
            <a:off x="2755385" y="8654656"/>
            <a:ext cx="1186330" cy="4320194"/>
            <a:chOff x="0" y="0"/>
            <a:chExt cx="312449" cy="1137829"/>
          </a:xfrm>
        </p:grpSpPr>
        <p:sp>
          <p:nvSpPr>
            <p:cNvPr id="4" name="Freeform 4"/>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5" name="TextBox 5"/>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6" name="Group 6"/>
          <p:cNvGrpSpPr/>
          <p:nvPr/>
        </p:nvGrpSpPr>
        <p:grpSpPr>
          <a:xfrm>
            <a:off x="4204000" y="9025295"/>
            <a:ext cx="1186330" cy="4320194"/>
            <a:chOff x="0" y="0"/>
            <a:chExt cx="312449" cy="1137829"/>
          </a:xfrm>
        </p:grpSpPr>
        <p:sp>
          <p:nvSpPr>
            <p:cNvPr id="7" name="Freeform 7"/>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8" name="TextBox 8"/>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9" name="Group 9"/>
          <p:cNvGrpSpPr/>
          <p:nvPr/>
        </p:nvGrpSpPr>
        <p:grpSpPr>
          <a:xfrm>
            <a:off x="1302355" y="9568242"/>
            <a:ext cx="1186330" cy="4320194"/>
            <a:chOff x="0" y="0"/>
            <a:chExt cx="312449" cy="1137829"/>
          </a:xfrm>
        </p:grpSpPr>
        <p:sp>
          <p:nvSpPr>
            <p:cNvPr id="10" name="Freeform 10"/>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1" name="TextBox 11"/>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2" name="Group 12"/>
          <p:cNvGrpSpPr/>
          <p:nvPr/>
        </p:nvGrpSpPr>
        <p:grpSpPr>
          <a:xfrm>
            <a:off x="14445028" y="-2504166"/>
            <a:ext cx="1186330" cy="4320194"/>
            <a:chOff x="0" y="0"/>
            <a:chExt cx="312449" cy="1137829"/>
          </a:xfrm>
        </p:grpSpPr>
        <p:sp>
          <p:nvSpPr>
            <p:cNvPr id="13" name="Freeform 13"/>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14" name="TextBox 14"/>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5" name="Group 15"/>
          <p:cNvGrpSpPr/>
          <p:nvPr/>
        </p:nvGrpSpPr>
        <p:grpSpPr>
          <a:xfrm>
            <a:off x="15893643" y="-3472576"/>
            <a:ext cx="1186330" cy="4320194"/>
            <a:chOff x="0" y="0"/>
            <a:chExt cx="312449" cy="1137829"/>
          </a:xfrm>
        </p:grpSpPr>
        <p:sp>
          <p:nvSpPr>
            <p:cNvPr id="16" name="Freeform 16"/>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7" name="TextBox 17"/>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8" name="Group 18"/>
          <p:cNvGrpSpPr/>
          <p:nvPr/>
        </p:nvGrpSpPr>
        <p:grpSpPr>
          <a:xfrm>
            <a:off x="17346673" y="6865198"/>
            <a:ext cx="1186330" cy="4320194"/>
            <a:chOff x="0" y="0"/>
            <a:chExt cx="312449" cy="1137829"/>
          </a:xfrm>
        </p:grpSpPr>
        <p:sp>
          <p:nvSpPr>
            <p:cNvPr id="19" name="Freeform 19"/>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0" name="TextBox 20"/>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1" name="Group 21"/>
          <p:cNvGrpSpPr/>
          <p:nvPr/>
        </p:nvGrpSpPr>
        <p:grpSpPr>
          <a:xfrm>
            <a:off x="12991998" y="-2929629"/>
            <a:ext cx="1186330" cy="4320194"/>
            <a:chOff x="0" y="0"/>
            <a:chExt cx="312449" cy="1137829"/>
          </a:xfrm>
        </p:grpSpPr>
        <p:sp>
          <p:nvSpPr>
            <p:cNvPr id="22" name="Freeform 22"/>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3" name="TextBox 23"/>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4" name="Group 24"/>
          <p:cNvGrpSpPr/>
          <p:nvPr/>
        </p:nvGrpSpPr>
        <p:grpSpPr>
          <a:xfrm>
            <a:off x="12987583" y="7080256"/>
            <a:ext cx="1186330" cy="5006118"/>
            <a:chOff x="0" y="0"/>
            <a:chExt cx="312449" cy="1318484"/>
          </a:xfrm>
        </p:grpSpPr>
        <p:sp>
          <p:nvSpPr>
            <p:cNvPr id="25" name="Freeform 25"/>
            <p:cNvSpPr/>
            <p:nvPr/>
          </p:nvSpPr>
          <p:spPr>
            <a:xfrm>
              <a:off x="0" y="0"/>
              <a:ext cx="312449" cy="1318484"/>
            </a:xfrm>
            <a:custGeom>
              <a:avLst/>
              <a:gdLst/>
              <a:ahLst/>
              <a:cxnLst/>
              <a:rect l="l" t="t" r="r" b="b"/>
              <a:pathLst>
                <a:path w="312449" h="1318484">
                  <a:moveTo>
                    <a:pt x="156225" y="0"/>
                  </a:moveTo>
                  <a:lnTo>
                    <a:pt x="156225" y="0"/>
                  </a:lnTo>
                  <a:cubicBezTo>
                    <a:pt x="197658" y="0"/>
                    <a:pt x="237394" y="16459"/>
                    <a:pt x="266692" y="45757"/>
                  </a:cubicBezTo>
                  <a:cubicBezTo>
                    <a:pt x="295990" y="75055"/>
                    <a:pt x="312449" y="114791"/>
                    <a:pt x="312449" y="156225"/>
                  </a:cubicBezTo>
                  <a:lnTo>
                    <a:pt x="312449" y="1162259"/>
                  </a:lnTo>
                  <a:cubicBezTo>
                    <a:pt x="312449" y="1203693"/>
                    <a:pt x="295990" y="1243429"/>
                    <a:pt x="266692" y="1272727"/>
                  </a:cubicBezTo>
                  <a:cubicBezTo>
                    <a:pt x="237394" y="1302025"/>
                    <a:pt x="197658" y="1318484"/>
                    <a:pt x="156225" y="1318484"/>
                  </a:cubicBezTo>
                  <a:lnTo>
                    <a:pt x="156225" y="1318484"/>
                  </a:lnTo>
                  <a:cubicBezTo>
                    <a:pt x="114791" y="1318484"/>
                    <a:pt x="75055" y="1302025"/>
                    <a:pt x="45757" y="1272727"/>
                  </a:cubicBezTo>
                  <a:cubicBezTo>
                    <a:pt x="16459" y="1243429"/>
                    <a:pt x="0" y="1203693"/>
                    <a:pt x="0" y="1162259"/>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6" name="TextBox 26"/>
            <p:cNvSpPr txBox="1"/>
            <p:nvPr/>
          </p:nvSpPr>
          <p:spPr>
            <a:xfrm>
              <a:off x="0" y="28575"/>
              <a:ext cx="312449" cy="1289909"/>
            </a:xfrm>
            <a:prstGeom prst="rect">
              <a:avLst/>
            </a:prstGeom>
          </p:spPr>
          <p:txBody>
            <a:bodyPr lIns="50800" tIns="50800" rIns="50800" bIns="50800" rtlCol="0" anchor="ctr"/>
            <a:lstStyle/>
            <a:p>
              <a:pPr marL="0" lvl="0" indent="0" algn="ctr">
                <a:lnSpc>
                  <a:spcPts val="2640"/>
                </a:lnSpc>
              </a:pPr>
              <a:endParaRPr/>
            </a:p>
          </p:txBody>
        </p:sp>
      </p:grpSp>
      <p:grpSp>
        <p:nvGrpSpPr>
          <p:cNvPr id="27" name="Group 27"/>
          <p:cNvGrpSpPr/>
          <p:nvPr/>
        </p:nvGrpSpPr>
        <p:grpSpPr>
          <a:xfrm>
            <a:off x="15893643" y="1023288"/>
            <a:ext cx="1186330" cy="3208957"/>
            <a:chOff x="0" y="0"/>
            <a:chExt cx="312449" cy="845157"/>
          </a:xfrm>
        </p:grpSpPr>
        <p:sp>
          <p:nvSpPr>
            <p:cNvPr id="28" name="Freeform 28"/>
            <p:cNvSpPr/>
            <p:nvPr/>
          </p:nvSpPr>
          <p:spPr>
            <a:xfrm>
              <a:off x="0" y="0"/>
              <a:ext cx="312449" cy="845157"/>
            </a:xfrm>
            <a:custGeom>
              <a:avLst/>
              <a:gdLst/>
              <a:ahLst/>
              <a:cxnLst/>
              <a:rect l="l" t="t" r="r" b="b"/>
              <a:pathLst>
                <a:path w="312449" h="845157">
                  <a:moveTo>
                    <a:pt x="156225" y="0"/>
                  </a:moveTo>
                  <a:lnTo>
                    <a:pt x="156225" y="0"/>
                  </a:lnTo>
                  <a:cubicBezTo>
                    <a:pt x="197658" y="0"/>
                    <a:pt x="237394" y="16459"/>
                    <a:pt x="266692" y="45757"/>
                  </a:cubicBezTo>
                  <a:cubicBezTo>
                    <a:pt x="295990" y="75055"/>
                    <a:pt x="312449" y="114791"/>
                    <a:pt x="312449" y="156225"/>
                  </a:cubicBezTo>
                  <a:lnTo>
                    <a:pt x="312449" y="688933"/>
                  </a:lnTo>
                  <a:cubicBezTo>
                    <a:pt x="312449" y="730366"/>
                    <a:pt x="295990" y="770103"/>
                    <a:pt x="266692" y="799400"/>
                  </a:cubicBezTo>
                  <a:cubicBezTo>
                    <a:pt x="237394" y="828698"/>
                    <a:pt x="197658" y="845157"/>
                    <a:pt x="156225" y="845157"/>
                  </a:cubicBezTo>
                  <a:lnTo>
                    <a:pt x="156225" y="845157"/>
                  </a:lnTo>
                  <a:cubicBezTo>
                    <a:pt x="114791" y="845157"/>
                    <a:pt x="75055" y="828698"/>
                    <a:pt x="45757" y="799400"/>
                  </a:cubicBezTo>
                  <a:cubicBezTo>
                    <a:pt x="16459" y="770103"/>
                    <a:pt x="0" y="730366"/>
                    <a:pt x="0" y="688933"/>
                  </a:cubicBezTo>
                  <a:lnTo>
                    <a:pt x="0" y="156225"/>
                  </a:lnTo>
                  <a:cubicBezTo>
                    <a:pt x="0" y="114791"/>
                    <a:pt x="16459" y="75055"/>
                    <a:pt x="45757" y="45757"/>
                  </a:cubicBezTo>
                  <a:cubicBezTo>
                    <a:pt x="75055" y="16459"/>
                    <a:pt x="114791" y="0"/>
                    <a:pt x="156225" y="0"/>
                  </a:cubicBezTo>
                  <a:close/>
                </a:path>
              </a:pathLst>
            </a:custGeom>
            <a:solidFill>
              <a:srgbClr val="1D5A7C"/>
            </a:solidFill>
            <a:ln w="38100" cap="rnd">
              <a:solidFill>
                <a:srgbClr val="1D5A7C"/>
              </a:solidFill>
              <a:prstDash val="solid"/>
              <a:round/>
            </a:ln>
          </p:spPr>
          <p:txBody>
            <a:bodyPr/>
            <a:lstStyle/>
            <a:p>
              <a:endParaRPr lang="en-GB"/>
            </a:p>
          </p:txBody>
        </p:sp>
        <p:sp>
          <p:nvSpPr>
            <p:cNvPr id="29" name="TextBox 29"/>
            <p:cNvSpPr txBox="1"/>
            <p:nvPr/>
          </p:nvSpPr>
          <p:spPr>
            <a:xfrm>
              <a:off x="0" y="28575"/>
              <a:ext cx="312449" cy="816582"/>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30" name="Group 30"/>
          <p:cNvGrpSpPr/>
          <p:nvPr/>
        </p:nvGrpSpPr>
        <p:grpSpPr>
          <a:xfrm>
            <a:off x="15893643" y="4477500"/>
            <a:ext cx="1186330" cy="6337253"/>
            <a:chOff x="0" y="0"/>
            <a:chExt cx="312449" cy="1669071"/>
          </a:xfrm>
        </p:grpSpPr>
        <p:sp>
          <p:nvSpPr>
            <p:cNvPr id="31" name="Freeform 31"/>
            <p:cNvSpPr/>
            <p:nvPr/>
          </p:nvSpPr>
          <p:spPr>
            <a:xfrm>
              <a:off x="0" y="0"/>
              <a:ext cx="312449" cy="1669071"/>
            </a:xfrm>
            <a:custGeom>
              <a:avLst/>
              <a:gdLst/>
              <a:ahLst/>
              <a:cxnLst/>
              <a:rect l="l" t="t" r="r" b="b"/>
              <a:pathLst>
                <a:path w="312449" h="1669071">
                  <a:moveTo>
                    <a:pt x="156225" y="0"/>
                  </a:moveTo>
                  <a:lnTo>
                    <a:pt x="156225" y="0"/>
                  </a:lnTo>
                  <a:cubicBezTo>
                    <a:pt x="197658" y="0"/>
                    <a:pt x="237394" y="16459"/>
                    <a:pt x="266692" y="45757"/>
                  </a:cubicBezTo>
                  <a:cubicBezTo>
                    <a:pt x="295990" y="75055"/>
                    <a:pt x="312449" y="114791"/>
                    <a:pt x="312449" y="156225"/>
                  </a:cubicBezTo>
                  <a:lnTo>
                    <a:pt x="312449" y="1512846"/>
                  </a:lnTo>
                  <a:cubicBezTo>
                    <a:pt x="312449" y="1554279"/>
                    <a:pt x="295990" y="1594016"/>
                    <a:pt x="266692" y="1623314"/>
                  </a:cubicBezTo>
                  <a:cubicBezTo>
                    <a:pt x="237394" y="1652611"/>
                    <a:pt x="197658" y="1669071"/>
                    <a:pt x="156225" y="1669071"/>
                  </a:cubicBezTo>
                  <a:lnTo>
                    <a:pt x="156225" y="1669071"/>
                  </a:lnTo>
                  <a:cubicBezTo>
                    <a:pt x="114791" y="1669071"/>
                    <a:pt x="75055" y="1652611"/>
                    <a:pt x="45757" y="1623314"/>
                  </a:cubicBezTo>
                  <a:cubicBezTo>
                    <a:pt x="16459" y="1594016"/>
                    <a:pt x="0" y="1554279"/>
                    <a:pt x="0" y="1512846"/>
                  </a:cubicBezTo>
                  <a:lnTo>
                    <a:pt x="0" y="156225"/>
                  </a:lnTo>
                  <a:cubicBezTo>
                    <a:pt x="0" y="114791"/>
                    <a:pt x="16459" y="75055"/>
                    <a:pt x="45757" y="45757"/>
                  </a:cubicBezTo>
                  <a:cubicBezTo>
                    <a:pt x="75055" y="16459"/>
                    <a:pt x="114791" y="0"/>
                    <a:pt x="156225" y="0"/>
                  </a:cubicBezTo>
                  <a:close/>
                </a:path>
              </a:pathLst>
            </a:custGeom>
            <a:solidFill>
              <a:srgbClr val="1D5A7C"/>
            </a:solidFill>
            <a:ln cap="rnd">
              <a:noFill/>
              <a:prstDash val="solid"/>
              <a:round/>
            </a:ln>
          </p:spPr>
          <p:txBody>
            <a:bodyPr/>
            <a:lstStyle/>
            <a:p>
              <a:endParaRPr lang="en-GB"/>
            </a:p>
          </p:txBody>
        </p:sp>
        <p:sp>
          <p:nvSpPr>
            <p:cNvPr id="32" name="TextBox 32"/>
            <p:cNvSpPr txBox="1"/>
            <p:nvPr/>
          </p:nvSpPr>
          <p:spPr>
            <a:xfrm>
              <a:off x="0" y="28575"/>
              <a:ext cx="312449" cy="1640496"/>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33" name="Group 33"/>
          <p:cNvGrpSpPr/>
          <p:nvPr/>
        </p:nvGrpSpPr>
        <p:grpSpPr>
          <a:xfrm>
            <a:off x="14440613" y="2072148"/>
            <a:ext cx="1186330" cy="4320194"/>
            <a:chOff x="0" y="0"/>
            <a:chExt cx="312449" cy="1137829"/>
          </a:xfrm>
        </p:grpSpPr>
        <p:sp>
          <p:nvSpPr>
            <p:cNvPr id="34" name="Freeform 34"/>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84D4C7"/>
            </a:solidFill>
          </p:spPr>
          <p:txBody>
            <a:bodyPr/>
            <a:lstStyle/>
            <a:p>
              <a:endParaRPr lang="en-GB"/>
            </a:p>
          </p:txBody>
        </p:sp>
        <p:sp>
          <p:nvSpPr>
            <p:cNvPr id="35" name="TextBox 35"/>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36" name="Group 36"/>
          <p:cNvGrpSpPr/>
          <p:nvPr/>
        </p:nvGrpSpPr>
        <p:grpSpPr>
          <a:xfrm>
            <a:off x="14440613" y="6578640"/>
            <a:ext cx="1186330" cy="1197956"/>
            <a:chOff x="0" y="0"/>
            <a:chExt cx="312449" cy="315511"/>
          </a:xfrm>
        </p:grpSpPr>
        <p:sp>
          <p:nvSpPr>
            <p:cNvPr id="37" name="Freeform 37"/>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38" name="TextBox 38"/>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39" name="TextBox 39"/>
          <p:cNvSpPr txBox="1"/>
          <p:nvPr/>
        </p:nvSpPr>
        <p:spPr>
          <a:xfrm>
            <a:off x="1302355" y="6527168"/>
            <a:ext cx="8457083" cy="293351"/>
          </a:xfrm>
          <a:prstGeom prst="rect">
            <a:avLst/>
          </a:prstGeom>
        </p:spPr>
        <p:txBody>
          <a:bodyPr lIns="0" tIns="0" rIns="0" bIns="0" rtlCol="0" anchor="t">
            <a:spAutoFit/>
          </a:bodyPr>
          <a:lstStyle/>
          <a:p>
            <a:pPr marL="0" lvl="0" indent="0" algn="just">
              <a:lnSpc>
                <a:spcPts val="2308"/>
              </a:lnSpc>
            </a:pPr>
            <a:r>
              <a:rPr lang="en-US" sz="2098" b="1">
                <a:solidFill>
                  <a:srgbClr val="0B1320"/>
                </a:solidFill>
                <a:latin typeface="Montaser Arabic Bold"/>
                <a:ea typeface="Montaser Arabic Bold"/>
                <a:cs typeface="Montaser Arabic Bold"/>
                <a:sym typeface="Montaser Arabic Bold"/>
              </a:rPr>
              <a:t>Stella Chantava</a:t>
            </a:r>
          </a:p>
        </p:txBody>
      </p:sp>
      <p:sp>
        <p:nvSpPr>
          <p:cNvPr id="40" name="TextBox 40"/>
          <p:cNvSpPr txBox="1"/>
          <p:nvPr/>
        </p:nvSpPr>
        <p:spPr>
          <a:xfrm>
            <a:off x="1302355" y="1911278"/>
            <a:ext cx="8260971" cy="2626233"/>
          </a:xfrm>
          <a:prstGeom prst="rect">
            <a:avLst/>
          </a:prstGeom>
        </p:spPr>
        <p:txBody>
          <a:bodyPr lIns="0" tIns="0" rIns="0" bIns="0" rtlCol="0" anchor="t">
            <a:spAutoFit/>
          </a:bodyPr>
          <a:lstStyle/>
          <a:p>
            <a:pPr marL="0" lvl="0" indent="0" algn="l">
              <a:lnSpc>
                <a:spcPts val="5145"/>
              </a:lnSpc>
            </a:pPr>
            <a:r>
              <a:rPr lang="en-US" sz="5145" b="1">
                <a:solidFill>
                  <a:srgbClr val="0C0E0B"/>
                </a:solidFill>
                <a:latin typeface="Montaser Arabic Semi-Bold"/>
                <a:ea typeface="Montaser Arabic Semi-Bold"/>
                <a:cs typeface="Montaser Arabic Semi-Bold"/>
                <a:sym typeface="Montaser Arabic Semi-Bold"/>
              </a:rPr>
              <a:t>AI-Based Classification of Somatic and Germline DNA Mutations Using Local Sequence Context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53877" y="3074617"/>
            <a:ext cx="7480295" cy="6022003"/>
            <a:chOff x="0" y="0"/>
            <a:chExt cx="1970119" cy="1586042"/>
          </a:xfrm>
        </p:grpSpPr>
        <p:sp>
          <p:nvSpPr>
            <p:cNvPr id="3" name="Freeform 3"/>
            <p:cNvSpPr/>
            <p:nvPr/>
          </p:nvSpPr>
          <p:spPr>
            <a:xfrm>
              <a:off x="0" y="0"/>
              <a:ext cx="1970119" cy="1586042"/>
            </a:xfrm>
            <a:custGeom>
              <a:avLst/>
              <a:gdLst/>
              <a:ahLst/>
              <a:cxnLst/>
              <a:rect l="l" t="t" r="r" b="b"/>
              <a:pathLst>
                <a:path w="1970119" h="1586042">
                  <a:moveTo>
                    <a:pt x="62099" y="0"/>
                  </a:moveTo>
                  <a:lnTo>
                    <a:pt x="1908020" y="0"/>
                  </a:lnTo>
                  <a:cubicBezTo>
                    <a:pt x="1924490" y="0"/>
                    <a:pt x="1940285" y="6543"/>
                    <a:pt x="1951931" y="18188"/>
                  </a:cubicBezTo>
                  <a:cubicBezTo>
                    <a:pt x="1963576" y="29834"/>
                    <a:pt x="1970119" y="45629"/>
                    <a:pt x="1970119" y="62099"/>
                  </a:cubicBezTo>
                  <a:lnTo>
                    <a:pt x="1970119" y="1523943"/>
                  </a:lnTo>
                  <a:cubicBezTo>
                    <a:pt x="1970119" y="1540413"/>
                    <a:pt x="1963576" y="1556208"/>
                    <a:pt x="1951931" y="1567854"/>
                  </a:cubicBezTo>
                  <a:cubicBezTo>
                    <a:pt x="1940285" y="1579499"/>
                    <a:pt x="1924490" y="1586042"/>
                    <a:pt x="1908020" y="1586042"/>
                  </a:cubicBezTo>
                  <a:lnTo>
                    <a:pt x="62099" y="1586042"/>
                  </a:lnTo>
                  <a:cubicBezTo>
                    <a:pt x="45629" y="1586042"/>
                    <a:pt x="29834" y="1579499"/>
                    <a:pt x="18188" y="1567854"/>
                  </a:cubicBezTo>
                  <a:cubicBezTo>
                    <a:pt x="6543" y="1556208"/>
                    <a:pt x="0" y="1540413"/>
                    <a:pt x="0" y="1523943"/>
                  </a:cubicBezTo>
                  <a:lnTo>
                    <a:pt x="0" y="62099"/>
                  </a:lnTo>
                  <a:cubicBezTo>
                    <a:pt x="0" y="45629"/>
                    <a:pt x="6543" y="29834"/>
                    <a:pt x="18188" y="18188"/>
                  </a:cubicBezTo>
                  <a:cubicBezTo>
                    <a:pt x="29834" y="6543"/>
                    <a:pt x="45629" y="0"/>
                    <a:pt x="62099" y="0"/>
                  </a:cubicBezTo>
                  <a:close/>
                </a:path>
              </a:pathLst>
            </a:custGeom>
            <a:ln w="38100" cap="rnd">
              <a:solidFill>
                <a:srgbClr val="1D5A7C"/>
              </a:solidFill>
              <a:prstDash val="solid"/>
              <a:round/>
            </a:ln>
          </p:spPr>
          <p:txBody>
            <a:bodyPr/>
            <a:lstStyle/>
            <a:p>
              <a:endParaRPr lang="en-GB"/>
            </a:p>
          </p:txBody>
        </p:sp>
        <p:sp>
          <p:nvSpPr>
            <p:cNvPr id="4" name="TextBox 4"/>
            <p:cNvSpPr txBox="1"/>
            <p:nvPr/>
          </p:nvSpPr>
          <p:spPr>
            <a:xfrm>
              <a:off x="0" y="28575"/>
              <a:ext cx="1970119" cy="1557467"/>
            </a:xfrm>
            <a:prstGeom prst="rect">
              <a:avLst/>
            </a:prstGeom>
          </p:spPr>
          <p:txBody>
            <a:bodyPr lIns="50800" tIns="50800" rIns="50800" bIns="50800" rtlCol="0" anchor="ctr"/>
            <a:lstStyle/>
            <a:p>
              <a:pPr marL="0" lvl="0" indent="0" algn="ctr">
                <a:lnSpc>
                  <a:spcPts val="2640"/>
                </a:lnSpc>
              </a:pPr>
              <a:endParaRPr/>
            </a:p>
          </p:txBody>
        </p:sp>
      </p:grpSp>
      <p:grpSp>
        <p:nvGrpSpPr>
          <p:cNvPr id="5" name="Group 5"/>
          <p:cNvGrpSpPr/>
          <p:nvPr/>
        </p:nvGrpSpPr>
        <p:grpSpPr>
          <a:xfrm>
            <a:off x="9253828" y="3074617"/>
            <a:ext cx="7480295" cy="6022003"/>
            <a:chOff x="0" y="0"/>
            <a:chExt cx="1970119" cy="1586042"/>
          </a:xfrm>
        </p:grpSpPr>
        <p:sp>
          <p:nvSpPr>
            <p:cNvPr id="6" name="Freeform 6"/>
            <p:cNvSpPr/>
            <p:nvPr/>
          </p:nvSpPr>
          <p:spPr>
            <a:xfrm>
              <a:off x="0" y="0"/>
              <a:ext cx="1970119" cy="1586042"/>
            </a:xfrm>
            <a:custGeom>
              <a:avLst/>
              <a:gdLst/>
              <a:ahLst/>
              <a:cxnLst/>
              <a:rect l="l" t="t" r="r" b="b"/>
              <a:pathLst>
                <a:path w="1970119" h="1586042">
                  <a:moveTo>
                    <a:pt x="62099" y="0"/>
                  </a:moveTo>
                  <a:lnTo>
                    <a:pt x="1908020" y="0"/>
                  </a:lnTo>
                  <a:cubicBezTo>
                    <a:pt x="1924490" y="0"/>
                    <a:pt x="1940285" y="6543"/>
                    <a:pt x="1951931" y="18188"/>
                  </a:cubicBezTo>
                  <a:cubicBezTo>
                    <a:pt x="1963576" y="29834"/>
                    <a:pt x="1970119" y="45629"/>
                    <a:pt x="1970119" y="62099"/>
                  </a:cubicBezTo>
                  <a:lnTo>
                    <a:pt x="1970119" y="1523943"/>
                  </a:lnTo>
                  <a:cubicBezTo>
                    <a:pt x="1970119" y="1540413"/>
                    <a:pt x="1963576" y="1556208"/>
                    <a:pt x="1951931" y="1567854"/>
                  </a:cubicBezTo>
                  <a:cubicBezTo>
                    <a:pt x="1940285" y="1579499"/>
                    <a:pt x="1924490" y="1586042"/>
                    <a:pt x="1908020" y="1586042"/>
                  </a:cubicBezTo>
                  <a:lnTo>
                    <a:pt x="62099" y="1586042"/>
                  </a:lnTo>
                  <a:cubicBezTo>
                    <a:pt x="45629" y="1586042"/>
                    <a:pt x="29834" y="1579499"/>
                    <a:pt x="18188" y="1567854"/>
                  </a:cubicBezTo>
                  <a:cubicBezTo>
                    <a:pt x="6543" y="1556208"/>
                    <a:pt x="0" y="1540413"/>
                    <a:pt x="0" y="1523943"/>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85D3C7"/>
              </a:solidFill>
              <a:prstDash val="solid"/>
              <a:round/>
            </a:ln>
          </p:spPr>
          <p:txBody>
            <a:bodyPr/>
            <a:lstStyle/>
            <a:p>
              <a:endParaRPr lang="en-GB"/>
            </a:p>
          </p:txBody>
        </p:sp>
        <p:sp>
          <p:nvSpPr>
            <p:cNvPr id="7" name="TextBox 7"/>
            <p:cNvSpPr txBox="1"/>
            <p:nvPr/>
          </p:nvSpPr>
          <p:spPr>
            <a:xfrm>
              <a:off x="0" y="28575"/>
              <a:ext cx="1970119" cy="1557467"/>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8" name="Freeform 8"/>
          <p:cNvSpPr/>
          <p:nvPr/>
        </p:nvSpPr>
        <p:spPr>
          <a:xfrm>
            <a:off x="2362217" y="3406520"/>
            <a:ext cx="556805" cy="1376786"/>
          </a:xfrm>
          <a:custGeom>
            <a:avLst/>
            <a:gdLst/>
            <a:ahLst/>
            <a:cxnLst/>
            <a:rect l="l" t="t" r="r" b="b"/>
            <a:pathLst>
              <a:path w="556805" h="1376786">
                <a:moveTo>
                  <a:pt x="0" y="0"/>
                </a:moveTo>
                <a:lnTo>
                  <a:pt x="556805" y="0"/>
                </a:lnTo>
                <a:lnTo>
                  <a:pt x="556805" y="1376785"/>
                </a:lnTo>
                <a:lnTo>
                  <a:pt x="0" y="1376785"/>
                </a:lnTo>
                <a:lnTo>
                  <a:pt x="0" y="0"/>
                </a:lnTo>
                <a:close/>
              </a:path>
            </a:pathLst>
          </a:custGeom>
          <a:blipFill>
            <a:blip r:embed="rId2"/>
            <a:stretch>
              <a:fillRect l="-4089" r="-4089"/>
            </a:stretch>
          </a:blipFill>
        </p:spPr>
        <p:txBody>
          <a:bodyPr/>
          <a:lstStyle/>
          <a:p>
            <a:endParaRPr lang="en-GB"/>
          </a:p>
        </p:txBody>
      </p:sp>
      <p:sp>
        <p:nvSpPr>
          <p:cNvPr id="9" name="Freeform 9"/>
          <p:cNvSpPr/>
          <p:nvPr/>
        </p:nvSpPr>
        <p:spPr>
          <a:xfrm>
            <a:off x="9876859" y="3406520"/>
            <a:ext cx="1318215" cy="1299110"/>
          </a:xfrm>
          <a:custGeom>
            <a:avLst/>
            <a:gdLst/>
            <a:ahLst/>
            <a:cxnLst/>
            <a:rect l="l" t="t" r="r" b="b"/>
            <a:pathLst>
              <a:path w="1318215" h="1299110">
                <a:moveTo>
                  <a:pt x="0" y="0"/>
                </a:moveTo>
                <a:lnTo>
                  <a:pt x="1318215" y="0"/>
                </a:lnTo>
                <a:lnTo>
                  <a:pt x="1318215" y="1299110"/>
                </a:lnTo>
                <a:lnTo>
                  <a:pt x="0" y="1299110"/>
                </a:lnTo>
                <a:lnTo>
                  <a:pt x="0" y="0"/>
                </a:lnTo>
                <a:close/>
              </a:path>
            </a:pathLst>
          </a:custGeom>
          <a:blipFill>
            <a:blip r:embed="rId3"/>
            <a:stretch>
              <a:fillRect/>
            </a:stretch>
          </a:blipFill>
        </p:spPr>
        <p:txBody>
          <a:bodyPr/>
          <a:lstStyle/>
          <a:p>
            <a:endParaRPr lang="en-GB"/>
          </a:p>
        </p:txBody>
      </p:sp>
      <p:sp>
        <p:nvSpPr>
          <p:cNvPr id="10" name="TextBox 10"/>
          <p:cNvSpPr txBox="1"/>
          <p:nvPr/>
        </p:nvSpPr>
        <p:spPr>
          <a:xfrm>
            <a:off x="1487491" y="1494527"/>
            <a:ext cx="10128823" cy="848246"/>
          </a:xfrm>
          <a:prstGeom prst="rect">
            <a:avLst/>
          </a:prstGeom>
        </p:spPr>
        <p:txBody>
          <a:bodyPr lIns="0" tIns="0" rIns="0" bIns="0" rtlCol="0" anchor="t">
            <a:spAutoFit/>
          </a:bodyPr>
          <a:lstStyle/>
          <a:p>
            <a:pPr marL="0" lvl="0" indent="0" algn="l">
              <a:lnSpc>
                <a:spcPts val="6395"/>
              </a:lnSpc>
              <a:spcBef>
                <a:spcPct val="0"/>
              </a:spcBef>
            </a:pPr>
            <a:r>
              <a:rPr lang="en-US" sz="6395" b="1">
                <a:solidFill>
                  <a:srgbClr val="0C0E0B"/>
                </a:solidFill>
                <a:latin typeface="Montaser Arabic Bold"/>
                <a:ea typeface="Montaser Arabic Bold"/>
                <a:cs typeface="Montaser Arabic Bold"/>
                <a:sym typeface="Montaser Arabic Bold"/>
              </a:rPr>
              <a:t>Why Does This Matter?</a:t>
            </a:r>
          </a:p>
        </p:txBody>
      </p:sp>
      <p:sp>
        <p:nvSpPr>
          <p:cNvPr id="11" name="TextBox 11"/>
          <p:cNvSpPr txBox="1"/>
          <p:nvPr/>
        </p:nvSpPr>
        <p:spPr>
          <a:xfrm>
            <a:off x="2180420" y="6682912"/>
            <a:ext cx="6251880" cy="1249680"/>
          </a:xfrm>
          <a:prstGeom prst="rect">
            <a:avLst/>
          </a:prstGeom>
        </p:spPr>
        <p:txBody>
          <a:bodyPr lIns="0" tIns="0" rIns="0" bIns="0" rtlCol="0" anchor="t">
            <a:spAutoFit/>
          </a:bodyPr>
          <a:lstStyle/>
          <a:p>
            <a:pPr marL="0" lvl="0" indent="0" algn="l">
              <a:lnSpc>
                <a:spcPts val="2520"/>
              </a:lnSpc>
              <a:spcBef>
                <a:spcPct val="0"/>
              </a:spcBef>
            </a:pPr>
            <a:r>
              <a:rPr lang="en-US" sz="1800" u="none" strike="noStrike" spc="-36">
                <a:solidFill>
                  <a:srgbClr val="2A2E30"/>
                </a:solidFill>
                <a:latin typeface="Montaser Arabic"/>
                <a:ea typeface="Montaser Arabic"/>
                <a:cs typeface="Montaser Arabic"/>
                <a:sym typeface="Montaser Arabic"/>
              </a:rPr>
              <a:t>Germline mutations are inherited and present in every cell of the body from birth. They are passed from parent to child and play a key role in hereditary disease risk and population genetics.</a:t>
            </a:r>
          </a:p>
        </p:txBody>
      </p:sp>
      <p:sp>
        <p:nvSpPr>
          <p:cNvPr id="12" name="TextBox 12"/>
          <p:cNvSpPr txBox="1"/>
          <p:nvPr/>
        </p:nvSpPr>
        <p:spPr>
          <a:xfrm>
            <a:off x="9842253" y="6682912"/>
            <a:ext cx="6251880" cy="1249680"/>
          </a:xfrm>
          <a:prstGeom prst="rect">
            <a:avLst/>
          </a:prstGeom>
        </p:spPr>
        <p:txBody>
          <a:bodyPr lIns="0" tIns="0" rIns="0" bIns="0" rtlCol="0" anchor="t">
            <a:spAutoFit/>
          </a:bodyPr>
          <a:lstStyle/>
          <a:p>
            <a:pPr marL="0" lvl="0" indent="0" algn="l">
              <a:lnSpc>
                <a:spcPts val="2520"/>
              </a:lnSpc>
              <a:spcBef>
                <a:spcPct val="0"/>
              </a:spcBef>
            </a:pPr>
            <a:r>
              <a:rPr lang="en-US" sz="1800" u="none" strike="noStrike" spc="-36" dirty="0">
                <a:solidFill>
                  <a:srgbClr val="2A2E30"/>
                </a:solidFill>
                <a:latin typeface="Montaser Arabic"/>
                <a:ea typeface="Montaser Arabic"/>
                <a:cs typeface="Montaser Arabic"/>
                <a:sym typeface="Montaser Arabic"/>
              </a:rPr>
              <a:t>Somatic mutations arise during a person's lifetime and are strongly linked to cancer development. Distinguishing mutation origin is critical for precision medicine, diagnosis, and targeted therapy.</a:t>
            </a:r>
          </a:p>
        </p:txBody>
      </p:sp>
      <p:sp>
        <p:nvSpPr>
          <p:cNvPr id="13" name="TextBox 13"/>
          <p:cNvSpPr txBox="1"/>
          <p:nvPr/>
        </p:nvSpPr>
        <p:spPr>
          <a:xfrm>
            <a:off x="2155748" y="5527852"/>
            <a:ext cx="6276552" cy="387985"/>
          </a:xfrm>
          <a:prstGeom prst="rect">
            <a:avLst/>
          </a:prstGeom>
        </p:spPr>
        <p:txBody>
          <a:bodyPr lIns="0" tIns="0" rIns="0" bIns="0" rtlCol="0" anchor="t">
            <a:spAutoFit/>
          </a:bodyPr>
          <a:lstStyle/>
          <a:p>
            <a:pPr marL="0" lvl="0" indent="0" algn="l">
              <a:lnSpc>
                <a:spcPts val="3079"/>
              </a:lnSpc>
            </a:pPr>
            <a:r>
              <a:rPr lang="en-US" sz="2799" b="1">
                <a:solidFill>
                  <a:srgbClr val="0C0E0B"/>
                </a:solidFill>
                <a:latin typeface="Montaser Arabic Bold"/>
                <a:ea typeface="Montaser Arabic Bold"/>
                <a:cs typeface="Montaser Arabic Bold"/>
                <a:sym typeface="Montaser Arabic Bold"/>
              </a:rPr>
              <a:t>Germline Mutations</a:t>
            </a:r>
          </a:p>
        </p:txBody>
      </p:sp>
      <p:sp>
        <p:nvSpPr>
          <p:cNvPr id="14" name="TextBox 14"/>
          <p:cNvSpPr txBox="1"/>
          <p:nvPr/>
        </p:nvSpPr>
        <p:spPr>
          <a:xfrm>
            <a:off x="9855700" y="5527852"/>
            <a:ext cx="6276552" cy="387985"/>
          </a:xfrm>
          <a:prstGeom prst="rect">
            <a:avLst/>
          </a:prstGeom>
        </p:spPr>
        <p:txBody>
          <a:bodyPr lIns="0" tIns="0" rIns="0" bIns="0" rtlCol="0" anchor="t">
            <a:spAutoFit/>
          </a:bodyPr>
          <a:lstStyle/>
          <a:p>
            <a:pPr marL="0" lvl="0" indent="0" algn="l">
              <a:lnSpc>
                <a:spcPts val="3079"/>
              </a:lnSpc>
            </a:pPr>
            <a:r>
              <a:rPr lang="en-US" sz="2799" b="1">
                <a:solidFill>
                  <a:srgbClr val="0C0E0B"/>
                </a:solidFill>
                <a:latin typeface="Montaser Arabic Bold"/>
                <a:ea typeface="Montaser Arabic Bold"/>
                <a:cs typeface="Montaser Arabic Bold"/>
                <a:sym typeface="Montaser Arabic Bold"/>
              </a:rPr>
              <a:t>Somatic Mutations</a:t>
            </a:r>
          </a:p>
        </p:txBody>
      </p:sp>
      <p:grpSp>
        <p:nvGrpSpPr>
          <p:cNvPr id="15" name="Group 15"/>
          <p:cNvGrpSpPr/>
          <p:nvPr/>
        </p:nvGrpSpPr>
        <p:grpSpPr>
          <a:xfrm>
            <a:off x="14094764" y="-2669198"/>
            <a:ext cx="1186330" cy="4320194"/>
            <a:chOff x="0" y="0"/>
            <a:chExt cx="312449" cy="1137829"/>
          </a:xfrm>
        </p:grpSpPr>
        <p:sp>
          <p:nvSpPr>
            <p:cNvPr id="16" name="Freeform 16"/>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17" name="TextBox 17"/>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8" name="Group 18"/>
          <p:cNvGrpSpPr/>
          <p:nvPr/>
        </p:nvGrpSpPr>
        <p:grpSpPr>
          <a:xfrm>
            <a:off x="15543379" y="-3637608"/>
            <a:ext cx="1186330" cy="4320194"/>
            <a:chOff x="0" y="0"/>
            <a:chExt cx="312449" cy="1137829"/>
          </a:xfrm>
        </p:grpSpPr>
        <p:sp>
          <p:nvSpPr>
            <p:cNvPr id="19" name="Freeform 19"/>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0" name="TextBox 20"/>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1" name="Group 21"/>
          <p:cNvGrpSpPr/>
          <p:nvPr/>
        </p:nvGrpSpPr>
        <p:grpSpPr>
          <a:xfrm>
            <a:off x="12641734" y="-3094661"/>
            <a:ext cx="1186330" cy="4320194"/>
            <a:chOff x="0" y="0"/>
            <a:chExt cx="312449" cy="1137829"/>
          </a:xfrm>
        </p:grpSpPr>
        <p:sp>
          <p:nvSpPr>
            <p:cNvPr id="22" name="Freeform 22"/>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3" name="TextBox 23"/>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4" name="Group 24"/>
          <p:cNvGrpSpPr/>
          <p:nvPr/>
        </p:nvGrpSpPr>
        <p:grpSpPr>
          <a:xfrm>
            <a:off x="15547793" y="863668"/>
            <a:ext cx="1186330" cy="1197956"/>
            <a:chOff x="0" y="0"/>
            <a:chExt cx="312449" cy="315511"/>
          </a:xfrm>
        </p:grpSpPr>
        <p:sp>
          <p:nvSpPr>
            <p:cNvPr id="25" name="Freeform 25"/>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26" name="TextBox 26"/>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02355" y="1989709"/>
            <a:ext cx="10998529" cy="6221857"/>
          </a:xfrm>
          <a:prstGeom prst="rect">
            <a:avLst/>
          </a:prstGeom>
        </p:spPr>
        <p:txBody>
          <a:bodyPr lIns="0" tIns="0" rIns="0" bIns="0" rtlCol="0" anchor="t">
            <a:spAutoFit/>
          </a:bodyPr>
          <a:lstStyle/>
          <a:p>
            <a:pPr marL="0" lvl="0" indent="0" algn="l">
              <a:lnSpc>
                <a:spcPts val="6888"/>
              </a:lnSpc>
            </a:pPr>
            <a:r>
              <a:rPr lang="en-US" sz="4920" b="1">
                <a:solidFill>
                  <a:srgbClr val="0C0E0B"/>
                </a:solidFill>
                <a:latin typeface="Montaser Arabic Bold"/>
                <a:ea typeface="Montaser Arabic Bold"/>
                <a:cs typeface="Montaser Arabic Bold"/>
                <a:sym typeface="Montaser Arabic Bold"/>
              </a:rPr>
              <a:t>Can AI classify DNA mutations as Somatic or Germline using only local sequence context?</a:t>
            </a:r>
          </a:p>
          <a:p>
            <a:pPr marL="0" lvl="0" indent="0" algn="l">
              <a:lnSpc>
                <a:spcPts val="6888"/>
              </a:lnSpc>
            </a:pPr>
            <a:endParaRPr lang="en-US" sz="4920" b="1">
              <a:solidFill>
                <a:srgbClr val="0C0E0B"/>
              </a:solidFill>
              <a:latin typeface="Montaser Arabic Bold"/>
              <a:ea typeface="Montaser Arabic Bold"/>
              <a:cs typeface="Montaser Arabic Bold"/>
              <a:sym typeface="Montaser Arabic Bold"/>
            </a:endParaRPr>
          </a:p>
          <a:p>
            <a:pPr marL="0" lvl="0" indent="0" algn="l">
              <a:lnSpc>
                <a:spcPts val="5488"/>
              </a:lnSpc>
            </a:pPr>
            <a:r>
              <a:rPr lang="en-US" sz="3920">
                <a:solidFill>
                  <a:srgbClr val="0C0E0B"/>
                </a:solidFill>
                <a:latin typeface="Montaser Arabic"/>
                <a:ea typeface="Montaser Arabic"/>
                <a:cs typeface="Montaser Arabic"/>
                <a:sym typeface="Montaser Arabic"/>
              </a:rPr>
              <a:t>• 201 bp mutated DNA sequence</a:t>
            </a:r>
          </a:p>
          <a:p>
            <a:pPr marL="0" lvl="0" indent="0" algn="l">
              <a:lnSpc>
                <a:spcPts val="5488"/>
              </a:lnSpc>
            </a:pPr>
            <a:r>
              <a:rPr lang="en-US" sz="3920">
                <a:solidFill>
                  <a:srgbClr val="0C0E0B"/>
                </a:solidFill>
                <a:latin typeface="Montaser Arabic"/>
                <a:ea typeface="Montaser Arabic"/>
                <a:cs typeface="Montaser Arabic"/>
                <a:sym typeface="Montaser Arabic"/>
              </a:rPr>
              <a:t>• No clinical information</a:t>
            </a:r>
          </a:p>
          <a:p>
            <a:pPr marL="0" lvl="0" indent="0" algn="l">
              <a:lnSpc>
                <a:spcPts val="5488"/>
              </a:lnSpc>
            </a:pPr>
            <a:r>
              <a:rPr lang="en-US" sz="3920">
                <a:solidFill>
                  <a:srgbClr val="0C0E0B"/>
                </a:solidFill>
                <a:latin typeface="Montaser Arabic"/>
                <a:ea typeface="Montaser Arabic"/>
                <a:cs typeface="Montaser Arabic"/>
                <a:sym typeface="Montaser Arabic"/>
              </a:rPr>
              <a:t>• No population statistics</a:t>
            </a:r>
          </a:p>
          <a:p>
            <a:pPr marL="0" lvl="0" indent="0" algn="l">
              <a:lnSpc>
                <a:spcPts val="5488"/>
              </a:lnSpc>
            </a:pPr>
            <a:r>
              <a:rPr lang="en-US" sz="3920">
                <a:solidFill>
                  <a:srgbClr val="0C0E0B"/>
                </a:solidFill>
                <a:latin typeface="Montaser Arabic"/>
                <a:ea typeface="Montaser Arabic"/>
                <a:cs typeface="Montaser Arabic"/>
                <a:sym typeface="Montaser Arabic"/>
              </a:rPr>
              <a:t>• No gene annotations</a:t>
            </a:r>
          </a:p>
        </p:txBody>
      </p:sp>
      <p:grpSp>
        <p:nvGrpSpPr>
          <p:cNvPr id="3" name="Group 3"/>
          <p:cNvGrpSpPr/>
          <p:nvPr/>
        </p:nvGrpSpPr>
        <p:grpSpPr>
          <a:xfrm>
            <a:off x="2755385" y="8654656"/>
            <a:ext cx="1186330" cy="4320194"/>
            <a:chOff x="0" y="0"/>
            <a:chExt cx="312449" cy="1137829"/>
          </a:xfrm>
        </p:grpSpPr>
        <p:sp>
          <p:nvSpPr>
            <p:cNvPr id="4" name="Freeform 4"/>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5" name="TextBox 5"/>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6" name="Group 6"/>
          <p:cNvGrpSpPr/>
          <p:nvPr/>
        </p:nvGrpSpPr>
        <p:grpSpPr>
          <a:xfrm>
            <a:off x="4204000" y="9025295"/>
            <a:ext cx="1186330" cy="4320194"/>
            <a:chOff x="0" y="0"/>
            <a:chExt cx="312449" cy="1137829"/>
          </a:xfrm>
        </p:grpSpPr>
        <p:sp>
          <p:nvSpPr>
            <p:cNvPr id="7" name="Freeform 7"/>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8" name="TextBox 8"/>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9" name="Group 9"/>
          <p:cNvGrpSpPr/>
          <p:nvPr/>
        </p:nvGrpSpPr>
        <p:grpSpPr>
          <a:xfrm>
            <a:off x="1302355" y="9568242"/>
            <a:ext cx="1186330" cy="4320194"/>
            <a:chOff x="0" y="0"/>
            <a:chExt cx="312449" cy="1137829"/>
          </a:xfrm>
        </p:grpSpPr>
        <p:sp>
          <p:nvSpPr>
            <p:cNvPr id="10" name="Freeform 10"/>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1" name="TextBox 11"/>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2" name="Group 12"/>
          <p:cNvGrpSpPr/>
          <p:nvPr/>
        </p:nvGrpSpPr>
        <p:grpSpPr>
          <a:xfrm>
            <a:off x="14445028" y="-2504166"/>
            <a:ext cx="1186330" cy="4320194"/>
            <a:chOff x="0" y="0"/>
            <a:chExt cx="312449" cy="1137829"/>
          </a:xfrm>
        </p:grpSpPr>
        <p:sp>
          <p:nvSpPr>
            <p:cNvPr id="13" name="Freeform 13"/>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14" name="TextBox 14"/>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5" name="Group 15"/>
          <p:cNvGrpSpPr/>
          <p:nvPr/>
        </p:nvGrpSpPr>
        <p:grpSpPr>
          <a:xfrm>
            <a:off x="15893643" y="-3472576"/>
            <a:ext cx="1186330" cy="4320194"/>
            <a:chOff x="0" y="0"/>
            <a:chExt cx="312449" cy="1137829"/>
          </a:xfrm>
        </p:grpSpPr>
        <p:sp>
          <p:nvSpPr>
            <p:cNvPr id="16" name="Freeform 16"/>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7" name="TextBox 17"/>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8" name="Group 18"/>
          <p:cNvGrpSpPr/>
          <p:nvPr/>
        </p:nvGrpSpPr>
        <p:grpSpPr>
          <a:xfrm>
            <a:off x="17346673" y="6865198"/>
            <a:ext cx="1186330" cy="4320194"/>
            <a:chOff x="0" y="0"/>
            <a:chExt cx="312449" cy="1137829"/>
          </a:xfrm>
        </p:grpSpPr>
        <p:sp>
          <p:nvSpPr>
            <p:cNvPr id="19" name="Freeform 19"/>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0" name="TextBox 20"/>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1" name="Group 21"/>
          <p:cNvGrpSpPr/>
          <p:nvPr/>
        </p:nvGrpSpPr>
        <p:grpSpPr>
          <a:xfrm>
            <a:off x="12991998" y="-2929629"/>
            <a:ext cx="1186330" cy="4320194"/>
            <a:chOff x="0" y="0"/>
            <a:chExt cx="312449" cy="1137829"/>
          </a:xfrm>
        </p:grpSpPr>
        <p:sp>
          <p:nvSpPr>
            <p:cNvPr id="22" name="Freeform 22"/>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3" name="TextBox 23"/>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4" name="Group 24"/>
          <p:cNvGrpSpPr/>
          <p:nvPr/>
        </p:nvGrpSpPr>
        <p:grpSpPr>
          <a:xfrm>
            <a:off x="12987583" y="6578640"/>
            <a:ext cx="1186330" cy="5507734"/>
            <a:chOff x="0" y="0"/>
            <a:chExt cx="312449" cy="1450597"/>
          </a:xfrm>
        </p:grpSpPr>
        <p:sp>
          <p:nvSpPr>
            <p:cNvPr id="25" name="Freeform 25"/>
            <p:cNvSpPr/>
            <p:nvPr/>
          </p:nvSpPr>
          <p:spPr>
            <a:xfrm>
              <a:off x="0" y="0"/>
              <a:ext cx="312449" cy="1450597"/>
            </a:xfrm>
            <a:custGeom>
              <a:avLst/>
              <a:gdLst/>
              <a:ahLst/>
              <a:cxnLst/>
              <a:rect l="l" t="t" r="r" b="b"/>
              <a:pathLst>
                <a:path w="312449" h="1450597">
                  <a:moveTo>
                    <a:pt x="156225" y="0"/>
                  </a:moveTo>
                  <a:lnTo>
                    <a:pt x="156225" y="0"/>
                  </a:lnTo>
                  <a:cubicBezTo>
                    <a:pt x="197658" y="0"/>
                    <a:pt x="237394" y="16459"/>
                    <a:pt x="266692" y="45757"/>
                  </a:cubicBezTo>
                  <a:cubicBezTo>
                    <a:pt x="295990" y="75055"/>
                    <a:pt x="312449" y="114791"/>
                    <a:pt x="312449" y="156225"/>
                  </a:cubicBezTo>
                  <a:lnTo>
                    <a:pt x="312449" y="1294372"/>
                  </a:lnTo>
                  <a:cubicBezTo>
                    <a:pt x="312449" y="1335806"/>
                    <a:pt x="295990" y="1375542"/>
                    <a:pt x="266692" y="1404840"/>
                  </a:cubicBezTo>
                  <a:cubicBezTo>
                    <a:pt x="237394" y="1434137"/>
                    <a:pt x="197658" y="1450597"/>
                    <a:pt x="156225" y="1450597"/>
                  </a:cubicBezTo>
                  <a:lnTo>
                    <a:pt x="156225" y="1450597"/>
                  </a:lnTo>
                  <a:cubicBezTo>
                    <a:pt x="114791" y="1450597"/>
                    <a:pt x="75055" y="1434137"/>
                    <a:pt x="45757" y="1404840"/>
                  </a:cubicBezTo>
                  <a:cubicBezTo>
                    <a:pt x="16459" y="1375542"/>
                    <a:pt x="0" y="1335806"/>
                    <a:pt x="0" y="1294372"/>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6" name="TextBox 26"/>
            <p:cNvSpPr txBox="1"/>
            <p:nvPr/>
          </p:nvSpPr>
          <p:spPr>
            <a:xfrm>
              <a:off x="0" y="28575"/>
              <a:ext cx="312449" cy="1422022"/>
            </a:xfrm>
            <a:prstGeom prst="rect">
              <a:avLst/>
            </a:prstGeom>
          </p:spPr>
          <p:txBody>
            <a:bodyPr lIns="50800" tIns="50800" rIns="50800" bIns="50800" rtlCol="0" anchor="ctr"/>
            <a:lstStyle/>
            <a:p>
              <a:pPr marL="0" lvl="0" indent="0" algn="ctr">
                <a:lnSpc>
                  <a:spcPts val="2640"/>
                </a:lnSpc>
              </a:pPr>
              <a:endParaRPr/>
            </a:p>
          </p:txBody>
        </p:sp>
      </p:grpSp>
      <p:grpSp>
        <p:nvGrpSpPr>
          <p:cNvPr id="27" name="Group 27"/>
          <p:cNvGrpSpPr/>
          <p:nvPr/>
        </p:nvGrpSpPr>
        <p:grpSpPr>
          <a:xfrm rot="-10800000">
            <a:off x="2624243" y="-4606997"/>
            <a:ext cx="1186330" cy="5507734"/>
            <a:chOff x="0" y="0"/>
            <a:chExt cx="312449" cy="1450597"/>
          </a:xfrm>
        </p:grpSpPr>
        <p:sp>
          <p:nvSpPr>
            <p:cNvPr id="28" name="Freeform 28"/>
            <p:cNvSpPr/>
            <p:nvPr/>
          </p:nvSpPr>
          <p:spPr>
            <a:xfrm>
              <a:off x="0" y="0"/>
              <a:ext cx="312449" cy="1450597"/>
            </a:xfrm>
            <a:custGeom>
              <a:avLst/>
              <a:gdLst/>
              <a:ahLst/>
              <a:cxnLst/>
              <a:rect l="l" t="t" r="r" b="b"/>
              <a:pathLst>
                <a:path w="312449" h="1450597">
                  <a:moveTo>
                    <a:pt x="156225" y="0"/>
                  </a:moveTo>
                  <a:lnTo>
                    <a:pt x="156225" y="0"/>
                  </a:lnTo>
                  <a:cubicBezTo>
                    <a:pt x="197658" y="0"/>
                    <a:pt x="237394" y="16459"/>
                    <a:pt x="266692" y="45757"/>
                  </a:cubicBezTo>
                  <a:cubicBezTo>
                    <a:pt x="295990" y="75055"/>
                    <a:pt x="312449" y="114791"/>
                    <a:pt x="312449" y="156225"/>
                  </a:cubicBezTo>
                  <a:lnTo>
                    <a:pt x="312449" y="1294372"/>
                  </a:lnTo>
                  <a:cubicBezTo>
                    <a:pt x="312449" y="1335806"/>
                    <a:pt x="295990" y="1375542"/>
                    <a:pt x="266692" y="1404840"/>
                  </a:cubicBezTo>
                  <a:cubicBezTo>
                    <a:pt x="237394" y="1434137"/>
                    <a:pt x="197658" y="1450597"/>
                    <a:pt x="156225" y="1450597"/>
                  </a:cubicBezTo>
                  <a:lnTo>
                    <a:pt x="156225" y="1450597"/>
                  </a:lnTo>
                  <a:cubicBezTo>
                    <a:pt x="114791" y="1450597"/>
                    <a:pt x="75055" y="1434137"/>
                    <a:pt x="45757" y="1404840"/>
                  </a:cubicBezTo>
                  <a:cubicBezTo>
                    <a:pt x="16459" y="1375542"/>
                    <a:pt x="0" y="1335806"/>
                    <a:pt x="0" y="1294372"/>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9" name="TextBox 29"/>
            <p:cNvSpPr txBox="1"/>
            <p:nvPr/>
          </p:nvSpPr>
          <p:spPr>
            <a:xfrm>
              <a:off x="0" y="28575"/>
              <a:ext cx="312449" cy="1422022"/>
            </a:xfrm>
            <a:prstGeom prst="rect">
              <a:avLst/>
            </a:prstGeom>
          </p:spPr>
          <p:txBody>
            <a:bodyPr lIns="50800" tIns="50800" rIns="50800" bIns="50800" rtlCol="0" anchor="ctr"/>
            <a:lstStyle/>
            <a:p>
              <a:pPr marL="0" lvl="0" indent="0" algn="ctr">
                <a:lnSpc>
                  <a:spcPts val="2640"/>
                </a:lnSpc>
              </a:pPr>
              <a:endParaRPr/>
            </a:p>
          </p:txBody>
        </p:sp>
      </p:grpSp>
      <p:grpSp>
        <p:nvGrpSpPr>
          <p:cNvPr id="30" name="Group 30"/>
          <p:cNvGrpSpPr/>
          <p:nvPr/>
        </p:nvGrpSpPr>
        <p:grpSpPr>
          <a:xfrm>
            <a:off x="15893643" y="1023288"/>
            <a:ext cx="1186330" cy="3208957"/>
            <a:chOff x="0" y="0"/>
            <a:chExt cx="312449" cy="845157"/>
          </a:xfrm>
        </p:grpSpPr>
        <p:sp>
          <p:nvSpPr>
            <p:cNvPr id="31" name="Freeform 31"/>
            <p:cNvSpPr/>
            <p:nvPr/>
          </p:nvSpPr>
          <p:spPr>
            <a:xfrm>
              <a:off x="0" y="0"/>
              <a:ext cx="312449" cy="845157"/>
            </a:xfrm>
            <a:custGeom>
              <a:avLst/>
              <a:gdLst/>
              <a:ahLst/>
              <a:cxnLst/>
              <a:rect l="l" t="t" r="r" b="b"/>
              <a:pathLst>
                <a:path w="312449" h="845157">
                  <a:moveTo>
                    <a:pt x="156225" y="0"/>
                  </a:moveTo>
                  <a:lnTo>
                    <a:pt x="156225" y="0"/>
                  </a:lnTo>
                  <a:cubicBezTo>
                    <a:pt x="197658" y="0"/>
                    <a:pt x="237394" y="16459"/>
                    <a:pt x="266692" y="45757"/>
                  </a:cubicBezTo>
                  <a:cubicBezTo>
                    <a:pt x="295990" y="75055"/>
                    <a:pt x="312449" y="114791"/>
                    <a:pt x="312449" y="156225"/>
                  </a:cubicBezTo>
                  <a:lnTo>
                    <a:pt x="312449" y="688933"/>
                  </a:lnTo>
                  <a:cubicBezTo>
                    <a:pt x="312449" y="730366"/>
                    <a:pt x="295990" y="770103"/>
                    <a:pt x="266692" y="799400"/>
                  </a:cubicBezTo>
                  <a:cubicBezTo>
                    <a:pt x="237394" y="828698"/>
                    <a:pt x="197658" y="845157"/>
                    <a:pt x="156225" y="845157"/>
                  </a:cubicBezTo>
                  <a:lnTo>
                    <a:pt x="156225" y="845157"/>
                  </a:lnTo>
                  <a:cubicBezTo>
                    <a:pt x="114791" y="845157"/>
                    <a:pt x="75055" y="828698"/>
                    <a:pt x="45757" y="799400"/>
                  </a:cubicBezTo>
                  <a:cubicBezTo>
                    <a:pt x="16459" y="770103"/>
                    <a:pt x="0" y="730366"/>
                    <a:pt x="0" y="688933"/>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32" name="TextBox 32"/>
            <p:cNvSpPr txBox="1"/>
            <p:nvPr/>
          </p:nvSpPr>
          <p:spPr>
            <a:xfrm>
              <a:off x="0" y="28575"/>
              <a:ext cx="312449" cy="816582"/>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33" name="Group 33"/>
          <p:cNvGrpSpPr/>
          <p:nvPr/>
        </p:nvGrpSpPr>
        <p:grpSpPr>
          <a:xfrm>
            <a:off x="14445028" y="7976435"/>
            <a:ext cx="1186330" cy="3208957"/>
            <a:chOff x="0" y="0"/>
            <a:chExt cx="312449" cy="845157"/>
          </a:xfrm>
        </p:grpSpPr>
        <p:sp>
          <p:nvSpPr>
            <p:cNvPr id="34" name="Freeform 34"/>
            <p:cNvSpPr/>
            <p:nvPr/>
          </p:nvSpPr>
          <p:spPr>
            <a:xfrm>
              <a:off x="0" y="0"/>
              <a:ext cx="312449" cy="845157"/>
            </a:xfrm>
            <a:custGeom>
              <a:avLst/>
              <a:gdLst/>
              <a:ahLst/>
              <a:cxnLst/>
              <a:rect l="l" t="t" r="r" b="b"/>
              <a:pathLst>
                <a:path w="312449" h="845157">
                  <a:moveTo>
                    <a:pt x="156225" y="0"/>
                  </a:moveTo>
                  <a:lnTo>
                    <a:pt x="156225" y="0"/>
                  </a:lnTo>
                  <a:cubicBezTo>
                    <a:pt x="197658" y="0"/>
                    <a:pt x="237394" y="16459"/>
                    <a:pt x="266692" y="45757"/>
                  </a:cubicBezTo>
                  <a:cubicBezTo>
                    <a:pt x="295990" y="75055"/>
                    <a:pt x="312449" y="114791"/>
                    <a:pt x="312449" y="156225"/>
                  </a:cubicBezTo>
                  <a:lnTo>
                    <a:pt x="312449" y="688933"/>
                  </a:lnTo>
                  <a:cubicBezTo>
                    <a:pt x="312449" y="730366"/>
                    <a:pt x="295990" y="770103"/>
                    <a:pt x="266692" y="799400"/>
                  </a:cubicBezTo>
                  <a:cubicBezTo>
                    <a:pt x="237394" y="828698"/>
                    <a:pt x="197658" y="845157"/>
                    <a:pt x="156225" y="845157"/>
                  </a:cubicBezTo>
                  <a:lnTo>
                    <a:pt x="156225" y="845157"/>
                  </a:lnTo>
                  <a:cubicBezTo>
                    <a:pt x="114791" y="845157"/>
                    <a:pt x="75055" y="828698"/>
                    <a:pt x="45757" y="799400"/>
                  </a:cubicBezTo>
                  <a:cubicBezTo>
                    <a:pt x="16459" y="770103"/>
                    <a:pt x="0" y="730366"/>
                    <a:pt x="0" y="688933"/>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35" name="TextBox 35"/>
            <p:cNvSpPr txBox="1"/>
            <p:nvPr/>
          </p:nvSpPr>
          <p:spPr>
            <a:xfrm>
              <a:off x="0" y="28575"/>
              <a:ext cx="312449" cy="816582"/>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36" name="Group 36"/>
          <p:cNvGrpSpPr/>
          <p:nvPr/>
        </p:nvGrpSpPr>
        <p:grpSpPr>
          <a:xfrm rot="-10800000">
            <a:off x="1166798" y="-1853130"/>
            <a:ext cx="1186330" cy="3208957"/>
            <a:chOff x="0" y="0"/>
            <a:chExt cx="312449" cy="845157"/>
          </a:xfrm>
        </p:grpSpPr>
        <p:sp>
          <p:nvSpPr>
            <p:cNvPr id="37" name="Freeform 37"/>
            <p:cNvSpPr/>
            <p:nvPr/>
          </p:nvSpPr>
          <p:spPr>
            <a:xfrm>
              <a:off x="0" y="0"/>
              <a:ext cx="312449" cy="845157"/>
            </a:xfrm>
            <a:custGeom>
              <a:avLst/>
              <a:gdLst/>
              <a:ahLst/>
              <a:cxnLst/>
              <a:rect l="l" t="t" r="r" b="b"/>
              <a:pathLst>
                <a:path w="312449" h="845157">
                  <a:moveTo>
                    <a:pt x="156225" y="0"/>
                  </a:moveTo>
                  <a:lnTo>
                    <a:pt x="156225" y="0"/>
                  </a:lnTo>
                  <a:cubicBezTo>
                    <a:pt x="197658" y="0"/>
                    <a:pt x="237394" y="16459"/>
                    <a:pt x="266692" y="45757"/>
                  </a:cubicBezTo>
                  <a:cubicBezTo>
                    <a:pt x="295990" y="75055"/>
                    <a:pt x="312449" y="114791"/>
                    <a:pt x="312449" y="156225"/>
                  </a:cubicBezTo>
                  <a:lnTo>
                    <a:pt x="312449" y="688933"/>
                  </a:lnTo>
                  <a:cubicBezTo>
                    <a:pt x="312449" y="730366"/>
                    <a:pt x="295990" y="770103"/>
                    <a:pt x="266692" y="799400"/>
                  </a:cubicBezTo>
                  <a:cubicBezTo>
                    <a:pt x="237394" y="828698"/>
                    <a:pt x="197658" y="845157"/>
                    <a:pt x="156225" y="845157"/>
                  </a:cubicBezTo>
                  <a:lnTo>
                    <a:pt x="156225" y="845157"/>
                  </a:lnTo>
                  <a:cubicBezTo>
                    <a:pt x="114791" y="845157"/>
                    <a:pt x="75055" y="828698"/>
                    <a:pt x="45757" y="799400"/>
                  </a:cubicBezTo>
                  <a:cubicBezTo>
                    <a:pt x="16459" y="770103"/>
                    <a:pt x="0" y="730366"/>
                    <a:pt x="0" y="688933"/>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38" name="TextBox 38"/>
            <p:cNvSpPr txBox="1"/>
            <p:nvPr/>
          </p:nvSpPr>
          <p:spPr>
            <a:xfrm>
              <a:off x="0" y="28575"/>
              <a:ext cx="312449" cy="816582"/>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39" name="Group 39"/>
          <p:cNvGrpSpPr/>
          <p:nvPr/>
        </p:nvGrpSpPr>
        <p:grpSpPr>
          <a:xfrm>
            <a:off x="15893643" y="4477500"/>
            <a:ext cx="1186330" cy="6337253"/>
            <a:chOff x="0" y="0"/>
            <a:chExt cx="312449" cy="1669071"/>
          </a:xfrm>
        </p:grpSpPr>
        <p:sp>
          <p:nvSpPr>
            <p:cNvPr id="40" name="Freeform 40"/>
            <p:cNvSpPr/>
            <p:nvPr/>
          </p:nvSpPr>
          <p:spPr>
            <a:xfrm>
              <a:off x="0" y="0"/>
              <a:ext cx="312449" cy="1669071"/>
            </a:xfrm>
            <a:custGeom>
              <a:avLst/>
              <a:gdLst/>
              <a:ahLst/>
              <a:cxnLst/>
              <a:rect l="l" t="t" r="r" b="b"/>
              <a:pathLst>
                <a:path w="312449" h="1669071">
                  <a:moveTo>
                    <a:pt x="156225" y="0"/>
                  </a:moveTo>
                  <a:lnTo>
                    <a:pt x="156225" y="0"/>
                  </a:lnTo>
                  <a:cubicBezTo>
                    <a:pt x="197658" y="0"/>
                    <a:pt x="237394" y="16459"/>
                    <a:pt x="266692" y="45757"/>
                  </a:cubicBezTo>
                  <a:cubicBezTo>
                    <a:pt x="295990" y="75055"/>
                    <a:pt x="312449" y="114791"/>
                    <a:pt x="312449" y="156225"/>
                  </a:cubicBezTo>
                  <a:lnTo>
                    <a:pt x="312449" y="1512846"/>
                  </a:lnTo>
                  <a:cubicBezTo>
                    <a:pt x="312449" y="1554279"/>
                    <a:pt x="295990" y="1594016"/>
                    <a:pt x="266692" y="1623314"/>
                  </a:cubicBezTo>
                  <a:cubicBezTo>
                    <a:pt x="237394" y="1652611"/>
                    <a:pt x="197658" y="1669071"/>
                    <a:pt x="156225" y="1669071"/>
                  </a:cubicBezTo>
                  <a:lnTo>
                    <a:pt x="156225" y="1669071"/>
                  </a:lnTo>
                  <a:cubicBezTo>
                    <a:pt x="114791" y="1669071"/>
                    <a:pt x="75055" y="1652611"/>
                    <a:pt x="45757" y="1623314"/>
                  </a:cubicBezTo>
                  <a:cubicBezTo>
                    <a:pt x="16459" y="1594016"/>
                    <a:pt x="0" y="1554279"/>
                    <a:pt x="0" y="1512846"/>
                  </a:cubicBezTo>
                  <a:lnTo>
                    <a:pt x="0" y="156225"/>
                  </a:lnTo>
                  <a:cubicBezTo>
                    <a:pt x="0" y="114791"/>
                    <a:pt x="16459" y="75055"/>
                    <a:pt x="45757" y="45757"/>
                  </a:cubicBezTo>
                  <a:cubicBezTo>
                    <a:pt x="75055" y="16459"/>
                    <a:pt x="114791" y="0"/>
                    <a:pt x="156225" y="0"/>
                  </a:cubicBezTo>
                  <a:close/>
                </a:path>
              </a:pathLst>
            </a:custGeom>
            <a:solidFill>
              <a:srgbClr val="1D5A7C"/>
            </a:solidFill>
            <a:ln cap="rnd">
              <a:noFill/>
              <a:prstDash val="solid"/>
              <a:round/>
            </a:ln>
          </p:spPr>
          <p:txBody>
            <a:bodyPr/>
            <a:lstStyle/>
            <a:p>
              <a:endParaRPr lang="en-GB"/>
            </a:p>
          </p:txBody>
        </p:sp>
        <p:sp>
          <p:nvSpPr>
            <p:cNvPr id="41" name="TextBox 41"/>
            <p:cNvSpPr txBox="1"/>
            <p:nvPr/>
          </p:nvSpPr>
          <p:spPr>
            <a:xfrm>
              <a:off x="0" y="28575"/>
              <a:ext cx="312449" cy="1640496"/>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42" name="Group 42"/>
          <p:cNvGrpSpPr/>
          <p:nvPr/>
        </p:nvGrpSpPr>
        <p:grpSpPr>
          <a:xfrm>
            <a:off x="14440613" y="2072148"/>
            <a:ext cx="1186330" cy="4320194"/>
            <a:chOff x="0" y="0"/>
            <a:chExt cx="312449" cy="1137829"/>
          </a:xfrm>
        </p:grpSpPr>
        <p:sp>
          <p:nvSpPr>
            <p:cNvPr id="43" name="Freeform 43"/>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84D4C7"/>
            </a:solidFill>
          </p:spPr>
          <p:txBody>
            <a:bodyPr/>
            <a:lstStyle/>
            <a:p>
              <a:endParaRPr lang="en-GB"/>
            </a:p>
          </p:txBody>
        </p:sp>
        <p:sp>
          <p:nvSpPr>
            <p:cNvPr id="44" name="TextBox 44"/>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45" name="Group 45"/>
          <p:cNvGrpSpPr/>
          <p:nvPr/>
        </p:nvGrpSpPr>
        <p:grpSpPr>
          <a:xfrm>
            <a:off x="14440613" y="6578640"/>
            <a:ext cx="1186330" cy="1197956"/>
            <a:chOff x="0" y="0"/>
            <a:chExt cx="312449" cy="315511"/>
          </a:xfrm>
        </p:grpSpPr>
        <p:sp>
          <p:nvSpPr>
            <p:cNvPr id="46" name="Freeform 46"/>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47" name="TextBox 47"/>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53877" y="3169867"/>
            <a:ext cx="7480295" cy="3010791"/>
            <a:chOff x="0" y="0"/>
            <a:chExt cx="1970119" cy="792966"/>
          </a:xfrm>
        </p:grpSpPr>
        <p:sp>
          <p:nvSpPr>
            <p:cNvPr id="3" name="Freeform 3"/>
            <p:cNvSpPr/>
            <p:nvPr/>
          </p:nvSpPr>
          <p:spPr>
            <a:xfrm>
              <a:off x="0" y="0"/>
              <a:ext cx="1970119" cy="792966"/>
            </a:xfrm>
            <a:custGeom>
              <a:avLst/>
              <a:gdLst/>
              <a:ahLst/>
              <a:cxnLst/>
              <a:rect l="l" t="t" r="r" b="b"/>
              <a:pathLst>
                <a:path w="1970119" h="792966">
                  <a:moveTo>
                    <a:pt x="62099" y="0"/>
                  </a:moveTo>
                  <a:lnTo>
                    <a:pt x="1908020" y="0"/>
                  </a:lnTo>
                  <a:cubicBezTo>
                    <a:pt x="1924490" y="0"/>
                    <a:pt x="1940285" y="6543"/>
                    <a:pt x="1951931" y="18188"/>
                  </a:cubicBezTo>
                  <a:cubicBezTo>
                    <a:pt x="1963576" y="29834"/>
                    <a:pt x="1970119" y="45629"/>
                    <a:pt x="1970119" y="62099"/>
                  </a:cubicBezTo>
                  <a:lnTo>
                    <a:pt x="1970119" y="730867"/>
                  </a:lnTo>
                  <a:cubicBezTo>
                    <a:pt x="1970119" y="747337"/>
                    <a:pt x="1963576" y="763132"/>
                    <a:pt x="1951931" y="774777"/>
                  </a:cubicBezTo>
                  <a:cubicBezTo>
                    <a:pt x="1940285" y="786423"/>
                    <a:pt x="1924490" y="792966"/>
                    <a:pt x="1908020" y="792966"/>
                  </a:cubicBezTo>
                  <a:lnTo>
                    <a:pt x="62099" y="792966"/>
                  </a:lnTo>
                  <a:cubicBezTo>
                    <a:pt x="45629" y="792966"/>
                    <a:pt x="29834" y="786423"/>
                    <a:pt x="18188" y="774777"/>
                  </a:cubicBezTo>
                  <a:cubicBezTo>
                    <a:pt x="6543" y="763132"/>
                    <a:pt x="0" y="747337"/>
                    <a:pt x="0" y="730867"/>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1D5A7C"/>
              </a:solidFill>
              <a:prstDash val="solid"/>
              <a:round/>
            </a:ln>
          </p:spPr>
          <p:txBody>
            <a:bodyPr/>
            <a:lstStyle/>
            <a:p>
              <a:endParaRPr lang="en-GB"/>
            </a:p>
          </p:txBody>
        </p:sp>
        <p:sp>
          <p:nvSpPr>
            <p:cNvPr id="4" name="TextBox 4"/>
            <p:cNvSpPr txBox="1"/>
            <p:nvPr/>
          </p:nvSpPr>
          <p:spPr>
            <a:xfrm>
              <a:off x="0" y="28575"/>
              <a:ext cx="1970119" cy="764391"/>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5" name="Group 5"/>
          <p:cNvGrpSpPr/>
          <p:nvPr/>
        </p:nvGrpSpPr>
        <p:grpSpPr>
          <a:xfrm>
            <a:off x="1553877" y="6460273"/>
            <a:ext cx="7480295" cy="2893277"/>
            <a:chOff x="0" y="0"/>
            <a:chExt cx="1970119" cy="762015"/>
          </a:xfrm>
        </p:grpSpPr>
        <p:sp>
          <p:nvSpPr>
            <p:cNvPr id="6" name="Freeform 6"/>
            <p:cNvSpPr/>
            <p:nvPr/>
          </p:nvSpPr>
          <p:spPr>
            <a:xfrm>
              <a:off x="0" y="0"/>
              <a:ext cx="1970119" cy="762015"/>
            </a:xfrm>
            <a:custGeom>
              <a:avLst/>
              <a:gdLst/>
              <a:ahLst/>
              <a:cxnLst/>
              <a:rect l="l" t="t" r="r" b="b"/>
              <a:pathLst>
                <a:path w="1970119" h="762015">
                  <a:moveTo>
                    <a:pt x="62099" y="0"/>
                  </a:moveTo>
                  <a:lnTo>
                    <a:pt x="1908020" y="0"/>
                  </a:lnTo>
                  <a:cubicBezTo>
                    <a:pt x="1924490" y="0"/>
                    <a:pt x="1940285" y="6543"/>
                    <a:pt x="1951931" y="18188"/>
                  </a:cubicBezTo>
                  <a:cubicBezTo>
                    <a:pt x="1963576" y="29834"/>
                    <a:pt x="1970119" y="45629"/>
                    <a:pt x="1970119" y="62099"/>
                  </a:cubicBezTo>
                  <a:lnTo>
                    <a:pt x="1970119" y="699917"/>
                  </a:lnTo>
                  <a:cubicBezTo>
                    <a:pt x="1970119" y="716386"/>
                    <a:pt x="1963576" y="732181"/>
                    <a:pt x="1951931" y="743827"/>
                  </a:cubicBezTo>
                  <a:cubicBezTo>
                    <a:pt x="1940285" y="755473"/>
                    <a:pt x="1924490" y="762015"/>
                    <a:pt x="1908020" y="762015"/>
                  </a:cubicBezTo>
                  <a:lnTo>
                    <a:pt x="62099" y="762015"/>
                  </a:lnTo>
                  <a:cubicBezTo>
                    <a:pt x="45629" y="762015"/>
                    <a:pt x="29834" y="755473"/>
                    <a:pt x="18188" y="743827"/>
                  </a:cubicBezTo>
                  <a:cubicBezTo>
                    <a:pt x="6543" y="732181"/>
                    <a:pt x="0" y="716386"/>
                    <a:pt x="0" y="699917"/>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85D3C7"/>
              </a:solidFill>
              <a:prstDash val="solid"/>
              <a:round/>
            </a:ln>
          </p:spPr>
          <p:txBody>
            <a:bodyPr/>
            <a:lstStyle/>
            <a:p>
              <a:endParaRPr lang="en-GB"/>
            </a:p>
          </p:txBody>
        </p:sp>
        <p:sp>
          <p:nvSpPr>
            <p:cNvPr id="7" name="TextBox 7"/>
            <p:cNvSpPr txBox="1"/>
            <p:nvPr/>
          </p:nvSpPr>
          <p:spPr>
            <a:xfrm>
              <a:off x="0" y="28575"/>
              <a:ext cx="1970119" cy="733440"/>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8" name="Group 8"/>
          <p:cNvGrpSpPr/>
          <p:nvPr/>
        </p:nvGrpSpPr>
        <p:grpSpPr>
          <a:xfrm>
            <a:off x="9253828" y="3169867"/>
            <a:ext cx="7480295" cy="3010791"/>
            <a:chOff x="0" y="0"/>
            <a:chExt cx="1970119" cy="792966"/>
          </a:xfrm>
        </p:grpSpPr>
        <p:sp>
          <p:nvSpPr>
            <p:cNvPr id="9" name="Freeform 9"/>
            <p:cNvSpPr/>
            <p:nvPr/>
          </p:nvSpPr>
          <p:spPr>
            <a:xfrm>
              <a:off x="0" y="0"/>
              <a:ext cx="1970119" cy="792966"/>
            </a:xfrm>
            <a:custGeom>
              <a:avLst/>
              <a:gdLst/>
              <a:ahLst/>
              <a:cxnLst/>
              <a:rect l="l" t="t" r="r" b="b"/>
              <a:pathLst>
                <a:path w="1970119" h="792966">
                  <a:moveTo>
                    <a:pt x="62099" y="0"/>
                  </a:moveTo>
                  <a:lnTo>
                    <a:pt x="1908020" y="0"/>
                  </a:lnTo>
                  <a:cubicBezTo>
                    <a:pt x="1924490" y="0"/>
                    <a:pt x="1940285" y="6543"/>
                    <a:pt x="1951931" y="18188"/>
                  </a:cubicBezTo>
                  <a:cubicBezTo>
                    <a:pt x="1963576" y="29834"/>
                    <a:pt x="1970119" y="45629"/>
                    <a:pt x="1970119" y="62099"/>
                  </a:cubicBezTo>
                  <a:lnTo>
                    <a:pt x="1970119" y="730867"/>
                  </a:lnTo>
                  <a:cubicBezTo>
                    <a:pt x="1970119" y="747337"/>
                    <a:pt x="1963576" y="763132"/>
                    <a:pt x="1951931" y="774777"/>
                  </a:cubicBezTo>
                  <a:cubicBezTo>
                    <a:pt x="1940285" y="786423"/>
                    <a:pt x="1924490" y="792966"/>
                    <a:pt x="1908020" y="792966"/>
                  </a:cubicBezTo>
                  <a:lnTo>
                    <a:pt x="62099" y="792966"/>
                  </a:lnTo>
                  <a:cubicBezTo>
                    <a:pt x="45629" y="792966"/>
                    <a:pt x="29834" y="786423"/>
                    <a:pt x="18188" y="774777"/>
                  </a:cubicBezTo>
                  <a:cubicBezTo>
                    <a:pt x="6543" y="763132"/>
                    <a:pt x="0" y="747337"/>
                    <a:pt x="0" y="730867"/>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85D3C7"/>
              </a:solidFill>
              <a:prstDash val="solid"/>
              <a:round/>
            </a:ln>
          </p:spPr>
          <p:txBody>
            <a:bodyPr/>
            <a:lstStyle/>
            <a:p>
              <a:endParaRPr lang="en-GB"/>
            </a:p>
          </p:txBody>
        </p:sp>
        <p:sp>
          <p:nvSpPr>
            <p:cNvPr id="10" name="TextBox 10"/>
            <p:cNvSpPr txBox="1"/>
            <p:nvPr/>
          </p:nvSpPr>
          <p:spPr>
            <a:xfrm>
              <a:off x="0" y="28575"/>
              <a:ext cx="1970119" cy="764391"/>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1" name="Group 11"/>
          <p:cNvGrpSpPr/>
          <p:nvPr/>
        </p:nvGrpSpPr>
        <p:grpSpPr>
          <a:xfrm>
            <a:off x="9253828" y="6460273"/>
            <a:ext cx="7480295" cy="2893277"/>
            <a:chOff x="0" y="0"/>
            <a:chExt cx="1970119" cy="762015"/>
          </a:xfrm>
        </p:grpSpPr>
        <p:sp>
          <p:nvSpPr>
            <p:cNvPr id="12" name="Freeform 12"/>
            <p:cNvSpPr/>
            <p:nvPr/>
          </p:nvSpPr>
          <p:spPr>
            <a:xfrm>
              <a:off x="0" y="0"/>
              <a:ext cx="1970119" cy="762015"/>
            </a:xfrm>
            <a:custGeom>
              <a:avLst/>
              <a:gdLst/>
              <a:ahLst/>
              <a:cxnLst/>
              <a:rect l="l" t="t" r="r" b="b"/>
              <a:pathLst>
                <a:path w="1970119" h="762015">
                  <a:moveTo>
                    <a:pt x="62099" y="0"/>
                  </a:moveTo>
                  <a:lnTo>
                    <a:pt x="1908020" y="0"/>
                  </a:lnTo>
                  <a:cubicBezTo>
                    <a:pt x="1924490" y="0"/>
                    <a:pt x="1940285" y="6543"/>
                    <a:pt x="1951931" y="18188"/>
                  </a:cubicBezTo>
                  <a:cubicBezTo>
                    <a:pt x="1963576" y="29834"/>
                    <a:pt x="1970119" y="45629"/>
                    <a:pt x="1970119" y="62099"/>
                  </a:cubicBezTo>
                  <a:lnTo>
                    <a:pt x="1970119" y="699917"/>
                  </a:lnTo>
                  <a:cubicBezTo>
                    <a:pt x="1970119" y="716386"/>
                    <a:pt x="1963576" y="732181"/>
                    <a:pt x="1951931" y="743827"/>
                  </a:cubicBezTo>
                  <a:cubicBezTo>
                    <a:pt x="1940285" y="755473"/>
                    <a:pt x="1924490" y="762015"/>
                    <a:pt x="1908020" y="762015"/>
                  </a:cubicBezTo>
                  <a:lnTo>
                    <a:pt x="62099" y="762015"/>
                  </a:lnTo>
                  <a:cubicBezTo>
                    <a:pt x="45629" y="762015"/>
                    <a:pt x="29834" y="755473"/>
                    <a:pt x="18188" y="743827"/>
                  </a:cubicBezTo>
                  <a:cubicBezTo>
                    <a:pt x="6543" y="732181"/>
                    <a:pt x="0" y="716386"/>
                    <a:pt x="0" y="699917"/>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1D5A7C"/>
              </a:solidFill>
              <a:prstDash val="solid"/>
              <a:round/>
            </a:ln>
          </p:spPr>
          <p:txBody>
            <a:bodyPr/>
            <a:lstStyle/>
            <a:p>
              <a:endParaRPr lang="en-GB"/>
            </a:p>
          </p:txBody>
        </p:sp>
        <p:sp>
          <p:nvSpPr>
            <p:cNvPr id="13" name="TextBox 13"/>
            <p:cNvSpPr txBox="1"/>
            <p:nvPr/>
          </p:nvSpPr>
          <p:spPr>
            <a:xfrm>
              <a:off x="0" y="28575"/>
              <a:ext cx="1970119" cy="733440"/>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14" name="TextBox 14"/>
          <p:cNvSpPr txBox="1"/>
          <p:nvPr/>
        </p:nvSpPr>
        <p:spPr>
          <a:xfrm>
            <a:off x="1487491" y="1494527"/>
            <a:ext cx="10128823" cy="848246"/>
          </a:xfrm>
          <a:prstGeom prst="rect">
            <a:avLst/>
          </a:prstGeom>
        </p:spPr>
        <p:txBody>
          <a:bodyPr lIns="0" tIns="0" rIns="0" bIns="0" rtlCol="0" anchor="t">
            <a:spAutoFit/>
          </a:bodyPr>
          <a:lstStyle/>
          <a:p>
            <a:pPr marL="0" lvl="0" indent="0" algn="l">
              <a:lnSpc>
                <a:spcPts val="6395"/>
              </a:lnSpc>
              <a:spcBef>
                <a:spcPct val="0"/>
              </a:spcBef>
            </a:pPr>
            <a:r>
              <a:rPr lang="en-US" sz="6395" b="1">
                <a:solidFill>
                  <a:srgbClr val="0C0E0B"/>
                </a:solidFill>
                <a:latin typeface="Montaser Arabic Bold"/>
                <a:ea typeface="Montaser Arabic Bold"/>
                <a:cs typeface="Montaser Arabic Bold"/>
                <a:sym typeface="Montaser Arabic Bold"/>
              </a:rPr>
              <a:t>Dataset Construction</a:t>
            </a:r>
          </a:p>
        </p:txBody>
      </p:sp>
      <p:sp>
        <p:nvSpPr>
          <p:cNvPr id="15" name="TextBox 15"/>
          <p:cNvSpPr txBox="1"/>
          <p:nvPr/>
        </p:nvSpPr>
        <p:spPr>
          <a:xfrm>
            <a:off x="2179049" y="4312118"/>
            <a:ext cx="5832746" cy="1286724"/>
          </a:xfrm>
          <a:prstGeom prst="rect">
            <a:avLst/>
          </a:prstGeom>
        </p:spPr>
        <p:txBody>
          <a:bodyPr lIns="0" tIns="0" rIns="0" bIns="0" rtlCol="0" anchor="t">
            <a:spAutoFit/>
          </a:bodyPr>
          <a:lstStyle/>
          <a:p>
            <a:pPr marL="0" lvl="0" indent="0" algn="l">
              <a:lnSpc>
                <a:spcPts val="2578"/>
              </a:lnSpc>
              <a:spcBef>
                <a:spcPct val="0"/>
              </a:spcBef>
            </a:pPr>
            <a:r>
              <a:rPr lang="en-US" sz="1841" u="none" strike="noStrike" spc="-36">
                <a:solidFill>
                  <a:srgbClr val="2A2E30"/>
                </a:solidFill>
                <a:latin typeface="Montaser Arabic"/>
                <a:ea typeface="Montaser Arabic"/>
                <a:cs typeface="Montaser Arabic"/>
                <a:sym typeface="Montaser Arabic"/>
              </a:rPr>
              <a:t>10,000 somatic single nucleotide variants (SNVs) sourced from the COSMIC database, representing cancer-associated somatic mutations across diverse tissue types.</a:t>
            </a:r>
          </a:p>
        </p:txBody>
      </p:sp>
      <p:sp>
        <p:nvSpPr>
          <p:cNvPr id="16" name="TextBox 16"/>
          <p:cNvSpPr txBox="1"/>
          <p:nvPr/>
        </p:nvSpPr>
        <p:spPr>
          <a:xfrm>
            <a:off x="2179049" y="7636138"/>
            <a:ext cx="5832746" cy="962874"/>
          </a:xfrm>
          <a:prstGeom prst="rect">
            <a:avLst/>
          </a:prstGeom>
        </p:spPr>
        <p:txBody>
          <a:bodyPr lIns="0" tIns="0" rIns="0" bIns="0" rtlCol="0" anchor="t">
            <a:spAutoFit/>
          </a:bodyPr>
          <a:lstStyle/>
          <a:p>
            <a:pPr marL="0" lvl="0" indent="0" algn="l">
              <a:lnSpc>
                <a:spcPts val="2578"/>
              </a:lnSpc>
              <a:spcBef>
                <a:spcPct val="0"/>
              </a:spcBef>
            </a:pPr>
            <a:r>
              <a:rPr lang="en-US" sz="1841" u="none" strike="noStrike" spc="-36">
                <a:solidFill>
                  <a:srgbClr val="2A2E30"/>
                </a:solidFill>
                <a:latin typeface="Montaser Arabic"/>
                <a:ea typeface="Montaser Arabic"/>
                <a:cs typeface="Montaser Arabic"/>
                <a:sym typeface="Montaser Arabic"/>
              </a:rPr>
              <a:t>Human reference genome GRCh38 used to extract a 201 bp local sequence context window centered on each mutation site.</a:t>
            </a:r>
          </a:p>
        </p:txBody>
      </p:sp>
      <p:sp>
        <p:nvSpPr>
          <p:cNvPr id="17" name="TextBox 17"/>
          <p:cNvSpPr txBox="1"/>
          <p:nvPr/>
        </p:nvSpPr>
        <p:spPr>
          <a:xfrm>
            <a:off x="2179049" y="3839331"/>
            <a:ext cx="4839724" cy="324295"/>
          </a:xfrm>
          <a:prstGeom prst="rect">
            <a:avLst/>
          </a:prstGeom>
        </p:spPr>
        <p:txBody>
          <a:bodyPr lIns="0" tIns="0" rIns="0" bIns="0" rtlCol="0" anchor="t">
            <a:spAutoFit/>
          </a:bodyPr>
          <a:lstStyle/>
          <a:p>
            <a:pPr marL="0" lvl="0" indent="0" algn="l">
              <a:lnSpc>
                <a:spcPts val="2513"/>
              </a:lnSpc>
            </a:pPr>
            <a:r>
              <a:rPr lang="en-US" sz="2285" b="1">
                <a:solidFill>
                  <a:srgbClr val="0C0E0B"/>
                </a:solidFill>
                <a:latin typeface="Montaser Arabic Bold"/>
                <a:ea typeface="Montaser Arabic Bold"/>
                <a:cs typeface="Montaser Arabic Bold"/>
                <a:sym typeface="Montaser Arabic Bold"/>
              </a:rPr>
              <a:t>COSMIC – Somatic Mutations</a:t>
            </a:r>
          </a:p>
        </p:txBody>
      </p:sp>
      <p:sp>
        <p:nvSpPr>
          <p:cNvPr id="18" name="TextBox 18"/>
          <p:cNvSpPr txBox="1"/>
          <p:nvPr/>
        </p:nvSpPr>
        <p:spPr>
          <a:xfrm>
            <a:off x="2179049" y="7028383"/>
            <a:ext cx="4839724" cy="324295"/>
          </a:xfrm>
          <a:prstGeom prst="rect">
            <a:avLst/>
          </a:prstGeom>
        </p:spPr>
        <p:txBody>
          <a:bodyPr lIns="0" tIns="0" rIns="0" bIns="0" rtlCol="0" anchor="t">
            <a:spAutoFit/>
          </a:bodyPr>
          <a:lstStyle/>
          <a:p>
            <a:pPr marL="0" lvl="0" indent="0" algn="l">
              <a:lnSpc>
                <a:spcPts val="2513"/>
              </a:lnSpc>
            </a:pPr>
            <a:r>
              <a:rPr lang="en-US" sz="2285" b="1">
                <a:solidFill>
                  <a:srgbClr val="0C0E0B"/>
                </a:solidFill>
                <a:latin typeface="Montaser Arabic Bold"/>
                <a:ea typeface="Montaser Arabic Bold"/>
                <a:cs typeface="Montaser Arabic Bold"/>
                <a:sym typeface="Montaser Arabic Bold"/>
              </a:rPr>
              <a:t>Reference Genome &amp; Sequences</a:t>
            </a:r>
          </a:p>
        </p:txBody>
      </p:sp>
      <p:sp>
        <p:nvSpPr>
          <p:cNvPr id="19" name="TextBox 19"/>
          <p:cNvSpPr txBox="1"/>
          <p:nvPr/>
        </p:nvSpPr>
        <p:spPr>
          <a:xfrm>
            <a:off x="9852620" y="4312118"/>
            <a:ext cx="5695174" cy="962874"/>
          </a:xfrm>
          <a:prstGeom prst="rect">
            <a:avLst/>
          </a:prstGeom>
        </p:spPr>
        <p:txBody>
          <a:bodyPr lIns="0" tIns="0" rIns="0" bIns="0" rtlCol="0" anchor="t">
            <a:spAutoFit/>
          </a:bodyPr>
          <a:lstStyle/>
          <a:p>
            <a:pPr marL="0" lvl="0" indent="0" algn="l">
              <a:lnSpc>
                <a:spcPts val="2578"/>
              </a:lnSpc>
              <a:spcBef>
                <a:spcPct val="0"/>
              </a:spcBef>
            </a:pPr>
            <a:r>
              <a:rPr lang="en-US" sz="1841" u="none" strike="noStrike" spc="-36">
                <a:solidFill>
                  <a:srgbClr val="2A2E30"/>
                </a:solidFill>
                <a:latin typeface="Montaser Arabic"/>
                <a:ea typeface="Montaser Arabic"/>
                <a:cs typeface="Montaser Arabic"/>
                <a:sym typeface="Montaser Arabic"/>
              </a:rPr>
              <a:t>10,000 germline SNVs sourced from the ClinVar database, representing inherited pathogenic and likely pathogenic germline variants.</a:t>
            </a:r>
          </a:p>
        </p:txBody>
      </p:sp>
      <p:sp>
        <p:nvSpPr>
          <p:cNvPr id="20" name="TextBox 20"/>
          <p:cNvSpPr txBox="1"/>
          <p:nvPr/>
        </p:nvSpPr>
        <p:spPr>
          <a:xfrm>
            <a:off x="9852620" y="7495553"/>
            <a:ext cx="5854985" cy="962874"/>
          </a:xfrm>
          <a:prstGeom prst="rect">
            <a:avLst/>
          </a:prstGeom>
        </p:spPr>
        <p:txBody>
          <a:bodyPr lIns="0" tIns="0" rIns="0" bIns="0" rtlCol="0" anchor="t">
            <a:spAutoFit/>
          </a:bodyPr>
          <a:lstStyle/>
          <a:p>
            <a:pPr marL="0" lvl="0" indent="0" algn="l">
              <a:lnSpc>
                <a:spcPts val="2578"/>
              </a:lnSpc>
              <a:spcBef>
                <a:spcPct val="0"/>
              </a:spcBef>
            </a:pPr>
            <a:r>
              <a:rPr lang="en-US" sz="1841" u="none" strike="noStrike" spc="-36">
                <a:solidFill>
                  <a:srgbClr val="2A2E30"/>
                </a:solidFill>
                <a:latin typeface="Montaser Arabic"/>
                <a:ea typeface="Montaser Arabic"/>
                <a:cs typeface="Montaser Arabic"/>
                <a:sym typeface="Montaser Arabic"/>
              </a:rPr>
              <a:t>Total: 20,000 SNVs (balanced). Split into Training (12,000), Validation (4,000), and Test (4,000) sets for model development and evaluation.</a:t>
            </a:r>
          </a:p>
        </p:txBody>
      </p:sp>
      <p:sp>
        <p:nvSpPr>
          <p:cNvPr id="21" name="TextBox 21"/>
          <p:cNvSpPr txBox="1"/>
          <p:nvPr/>
        </p:nvSpPr>
        <p:spPr>
          <a:xfrm>
            <a:off x="9852620" y="3840793"/>
            <a:ext cx="4839724" cy="324295"/>
          </a:xfrm>
          <a:prstGeom prst="rect">
            <a:avLst/>
          </a:prstGeom>
        </p:spPr>
        <p:txBody>
          <a:bodyPr lIns="0" tIns="0" rIns="0" bIns="0" rtlCol="0" anchor="t">
            <a:spAutoFit/>
          </a:bodyPr>
          <a:lstStyle/>
          <a:p>
            <a:pPr marL="0" lvl="0" indent="0" algn="l">
              <a:lnSpc>
                <a:spcPts val="2513"/>
              </a:lnSpc>
            </a:pPr>
            <a:r>
              <a:rPr lang="en-US" sz="2285" b="1">
                <a:solidFill>
                  <a:srgbClr val="0C0E0B"/>
                </a:solidFill>
                <a:latin typeface="Montaser Arabic Bold"/>
                <a:ea typeface="Montaser Arabic Bold"/>
                <a:cs typeface="Montaser Arabic Bold"/>
                <a:sym typeface="Montaser Arabic Bold"/>
              </a:rPr>
              <a:t>ClinVar – Germline Mutations</a:t>
            </a:r>
          </a:p>
        </p:txBody>
      </p:sp>
      <p:sp>
        <p:nvSpPr>
          <p:cNvPr id="22" name="TextBox 22"/>
          <p:cNvSpPr txBox="1"/>
          <p:nvPr/>
        </p:nvSpPr>
        <p:spPr>
          <a:xfrm>
            <a:off x="9852620" y="7028383"/>
            <a:ext cx="4839724" cy="324295"/>
          </a:xfrm>
          <a:prstGeom prst="rect">
            <a:avLst/>
          </a:prstGeom>
        </p:spPr>
        <p:txBody>
          <a:bodyPr lIns="0" tIns="0" rIns="0" bIns="0" rtlCol="0" anchor="t">
            <a:spAutoFit/>
          </a:bodyPr>
          <a:lstStyle/>
          <a:p>
            <a:pPr marL="0" lvl="0" indent="0" algn="l">
              <a:lnSpc>
                <a:spcPts val="2513"/>
              </a:lnSpc>
            </a:pPr>
            <a:r>
              <a:rPr lang="en-US" sz="2285" b="1">
                <a:solidFill>
                  <a:srgbClr val="0C0E0B"/>
                </a:solidFill>
                <a:latin typeface="Montaser Arabic Bold"/>
                <a:ea typeface="Montaser Arabic Bold"/>
                <a:cs typeface="Montaser Arabic Bold"/>
                <a:sym typeface="Montaser Arabic Bold"/>
              </a:rPr>
              <a:t>Data Split</a:t>
            </a:r>
          </a:p>
        </p:txBody>
      </p:sp>
      <p:grpSp>
        <p:nvGrpSpPr>
          <p:cNvPr id="23" name="Group 23"/>
          <p:cNvGrpSpPr/>
          <p:nvPr/>
        </p:nvGrpSpPr>
        <p:grpSpPr>
          <a:xfrm>
            <a:off x="14099179" y="-2504166"/>
            <a:ext cx="1186330" cy="4320194"/>
            <a:chOff x="0" y="0"/>
            <a:chExt cx="312449" cy="1137829"/>
          </a:xfrm>
        </p:grpSpPr>
        <p:sp>
          <p:nvSpPr>
            <p:cNvPr id="24" name="Freeform 24"/>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25" name="TextBox 25"/>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6" name="Group 26"/>
          <p:cNvGrpSpPr/>
          <p:nvPr/>
        </p:nvGrpSpPr>
        <p:grpSpPr>
          <a:xfrm>
            <a:off x="15547793" y="-3472576"/>
            <a:ext cx="1186330" cy="4320194"/>
            <a:chOff x="0" y="0"/>
            <a:chExt cx="312449" cy="1137829"/>
          </a:xfrm>
        </p:grpSpPr>
        <p:sp>
          <p:nvSpPr>
            <p:cNvPr id="27" name="Freeform 27"/>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8" name="TextBox 28"/>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9" name="Group 29"/>
          <p:cNvGrpSpPr/>
          <p:nvPr/>
        </p:nvGrpSpPr>
        <p:grpSpPr>
          <a:xfrm>
            <a:off x="12646149" y="-2929629"/>
            <a:ext cx="1186330" cy="4320194"/>
            <a:chOff x="0" y="0"/>
            <a:chExt cx="312449" cy="1137829"/>
          </a:xfrm>
        </p:grpSpPr>
        <p:sp>
          <p:nvSpPr>
            <p:cNvPr id="30" name="Freeform 30"/>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31" name="TextBox 31"/>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32" name="Group 32"/>
          <p:cNvGrpSpPr/>
          <p:nvPr/>
        </p:nvGrpSpPr>
        <p:grpSpPr>
          <a:xfrm>
            <a:off x="15547793" y="952735"/>
            <a:ext cx="1186330" cy="1197956"/>
            <a:chOff x="0" y="0"/>
            <a:chExt cx="312449" cy="315511"/>
          </a:xfrm>
        </p:grpSpPr>
        <p:sp>
          <p:nvSpPr>
            <p:cNvPr id="33" name="Freeform 33"/>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34" name="TextBox 34"/>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75424" y="2849313"/>
            <a:ext cx="3168576" cy="3844456"/>
            <a:chOff x="0" y="0"/>
            <a:chExt cx="490895" cy="595607"/>
          </a:xfrm>
        </p:grpSpPr>
        <p:sp>
          <p:nvSpPr>
            <p:cNvPr id="3" name="Freeform 3"/>
            <p:cNvSpPr/>
            <p:nvPr/>
          </p:nvSpPr>
          <p:spPr>
            <a:xfrm>
              <a:off x="0" y="0"/>
              <a:ext cx="490895" cy="595607"/>
            </a:xfrm>
            <a:custGeom>
              <a:avLst/>
              <a:gdLst/>
              <a:ahLst/>
              <a:cxnLst/>
              <a:rect l="l" t="t" r="r" b="b"/>
              <a:pathLst>
                <a:path w="490895" h="595607">
                  <a:moveTo>
                    <a:pt x="146601" y="0"/>
                  </a:moveTo>
                  <a:lnTo>
                    <a:pt x="344295" y="0"/>
                  </a:lnTo>
                  <a:cubicBezTo>
                    <a:pt x="425260" y="0"/>
                    <a:pt x="490895" y="65635"/>
                    <a:pt x="490895" y="146601"/>
                  </a:cubicBezTo>
                  <a:lnTo>
                    <a:pt x="490895" y="449006"/>
                  </a:lnTo>
                  <a:cubicBezTo>
                    <a:pt x="490895" y="487887"/>
                    <a:pt x="475450" y="525176"/>
                    <a:pt x="447957" y="552669"/>
                  </a:cubicBezTo>
                  <a:cubicBezTo>
                    <a:pt x="420464" y="580162"/>
                    <a:pt x="383176" y="595607"/>
                    <a:pt x="344295" y="595607"/>
                  </a:cubicBezTo>
                  <a:lnTo>
                    <a:pt x="146601" y="595607"/>
                  </a:lnTo>
                  <a:cubicBezTo>
                    <a:pt x="107720" y="595607"/>
                    <a:pt x="70431" y="580162"/>
                    <a:pt x="42938" y="552669"/>
                  </a:cubicBezTo>
                  <a:cubicBezTo>
                    <a:pt x="15445" y="525176"/>
                    <a:pt x="0" y="487887"/>
                    <a:pt x="0" y="449006"/>
                  </a:cubicBezTo>
                  <a:lnTo>
                    <a:pt x="0" y="146601"/>
                  </a:lnTo>
                  <a:cubicBezTo>
                    <a:pt x="0" y="107720"/>
                    <a:pt x="15445" y="70431"/>
                    <a:pt x="42938" y="42938"/>
                  </a:cubicBezTo>
                  <a:cubicBezTo>
                    <a:pt x="70431" y="15445"/>
                    <a:pt x="107720" y="0"/>
                    <a:pt x="146601" y="0"/>
                  </a:cubicBezTo>
                  <a:close/>
                </a:path>
              </a:pathLst>
            </a:custGeom>
            <a:blipFill>
              <a:blip r:embed="rId2"/>
              <a:stretch>
                <a:fillRect t="-954" b="-954"/>
              </a:stretch>
            </a:blipFill>
          </p:spPr>
          <p:txBody>
            <a:bodyPr/>
            <a:lstStyle/>
            <a:p>
              <a:endParaRPr lang="en-GB"/>
            </a:p>
          </p:txBody>
        </p:sp>
      </p:grpSp>
      <p:grpSp>
        <p:nvGrpSpPr>
          <p:cNvPr id="4" name="Group 4"/>
          <p:cNvGrpSpPr/>
          <p:nvPr/>
        </p:nvGrpSpPr>
        <p:grpSpPr>
          <a:xfrm>
            <a:off x="1468944" y="2849313"/>
            <a:ext cx="3168576" cy="3844456"/>
            <a:chOff x="0" y="0"/>
            <a:chExt cx="490895" cy="595607"/>
          </a:xfrm>
        </p:grpSpPr>
        <p:sp>
          <p:nvSpPr>
            <p:cNvPr id="5" name="Freeform 5"/>
            <p:cNvSpPr/>
            <p:nvPr/>
          </p:nvSpPr>
          <p:spPr>
            <a:xfrm>
              <a:off x="0" y="0"/>
              <a:ext cx="490895" cy="595607"/>
            </a:xfrm>
            <a:custGeom>
              <a:avLst/>
              <a:gdLst/>
              <a:ahLst/>
              <a:cxnLst/>
              <a:rect l="l" t="t" r="r" b="b"/>
              <a:pathLst>
                <a:path w="490895" h="595607">
                  <a:moveTo>
                    <a:pt x="146601" y="0"/>
                  </a:moveTo>
                  <a:lnTo>
                    <a:pt x="344295" y="0"/>
                  </a:lnTo>
                  <a:cubicBezTo>
                    <a:pt x="425260" y="0"/>
                    <a:pt x="490895" y="65635"/>
                    <a:pt x="490895" y="146601"/>
                  </a:cubicBezTo>
                  <a:lnTo>
                    <a:pt x="490895" y="449006"/>
                  </a:lnTo>
                  <a:cubicBezTo>
                    <a:pt x="490895" y="487887"/>
                    <a:pt x="475450" y="525176"/>
                    <a:pt x="447957" y="552669"/>
                  </a:cubicBezTo>
                  <a:cubicBezTo>
                    <a:pt x="420464" y="580162"/>
                    <a:pt x="383176" y="595607"/>
                    <a:pt x="344295" y="595607"/>
                  </a:cubicBezTo>
                  <a:lnTo>
                    <a:pt x="146601" y="595607"/>
                  </a:lnTo>
                  <a:cubicBezTo>
                    <a:pt x="107720" y="595607"/>
                    <a:pt x="70431" y="580162"/>
                    <a:pt x="42938" y="552669"/>
                  </a:cubicBezTo>
                  <a:cubicBezTo>
                    <a:pt x="15445" y="525176"/>
                    <a:pt x="0" y="487887"/>
                    <a:pt x="0" y="449006"/>
                  </a:cubicBezTo>
                  <a:lnTo>
                    <a:pt x="0" y="146601"/>
                  </a:lnTo>
                  <a:cubicBezTo>
                    <a:pt x="0" y="107720"/>
                    <a:pt x="15445" y="70431"/>
                    <a:pt x="42938" y="42938"/>
                  </a:cubicBezTo>
                  <a:cubicBezTo>
                    <a:pt x="70431" y="15445"/>
                    <a:pt x="107720" y="0"/>
                    <a:pt x="146601" y="0"/>
                  </a:cubicBezTo>
                  <a:close/>
                </a:path>
              </a:pathLst>
            </a:custGeom>
            <a:blipFill>
              <a:blip r:embed="rId3"/>
              <a:stretch>
                <a:fillRect t="-954" b="-954"/>
              </a:stretch>
            </a:blipFill>
          </p:spPr>
          <p:txBody>
            <a:bodyPr/>
            <a:lstStyle/>
            <a:p>
              <a:endParaRPr lang="en-GB"/>
            </a:p>
          </p:txBody>
        </p:sp>
      </p:grpSp>
      <p:grpSp>
        <p:nvGrpSpPr>
          <p:cNvPr id="6" name="Group 6"/>
          <p:cNvGrpSpPr/>
          <p:nvPr/>
        </p:nvGrpSpPr>
        <p:grpSpPr>
          <a:xfrm>
            <a:off x="5437921" y="2849313"/>
            <a:ext cx="3168576" cy="3844456"/>
            <a:chOff x="0" y="0"/>
            <a:chExt cx="490895" cy="595607"/>
          </a:xfrm>
        </p:grpSpPr>
        <p:sp>
          <p:nvSpPr>
            <p:cNvPr id="7" name="Freeform 7"/>
            <p:cNvSpPr/>
            <p:nvPr/>
          </p:nvSpPr>
          <p:spPr>
            <a:xfrm>
              <a:off x="0" y="0"/>
              <a:ext cx="490895" cy="595607"/>
            </a:xfrm>
            <a:custGeom>
              <a:avLst/>
              <a:gdLst/>
              <a:ahLst/>
              <a:cxnLst/>
              <a:rect l="l" t="t" r="r" b="b"/>
              <a:pathLst>
                <a:path w="490895" h="595607">
                  <a:moveTo>
                    <a:pt x="146601" y="0"/>
                  </a:moveTo>
                  <a:lnTo>
                    <a:pt x="344295" y="0"/>
                  </a:lnTo>
                  <a:cubicBezTo>
                    <a:pt x="425260" y="0"/>
                    <a:pt x="490895" y="65635"/>
                    <a:pt x="490895" y="146601"/>
                  </a:cubicBezTo>
                  <a:lnTo>
                    <a:pt x="490895" y="449006"/>
                  </a:lnTo>
                  <a:cubicBezTo>
                    <a:pt x="490895" y="487887"/>
                    <a:pt x="475450" y="525176"/>
                    <a:pt x="447957" y="552669"/>
                  </a:cubicBezTo>
                  <a:cubicBezTo>
                    <a:pt x="420464" y="580162"/>
                    <a:pt x="383176" y="595607"/>
                    <a:pt x="344295" y="595607"/>
                  </a:cubicBezTo>
                  <a:lnTo>
                    <a:pt x="146601" y="595607"/>
                  </a:lnTo>
                  <a:cubicBezTo>
                    <a:pt x="107720" y="595607"/>
                    <a:pt x="70431" y="580162"/>
                    <a:pt x="42938" y="552669"/>
                  </a:cubicBezTo>
                  <a:cubicBezTo>
                    <a:pt x="15445" y="525176"/>
                    <a:pt x="0" y="487887"/>
                    <a:pt x="0" y="449006"/>
                  </a:cubicBezTo>
                  <a:lnTo>
                    <a:pt x="0" y="146601"/>
                  </a:lnTo>
                  <a:cubicBezTo>
                    <a:pt x="0" y="107720"/>
                    <a:pt x="15445" y="70431"/>
                    <a:pt x="42938" y="42938"/>
                  </a:cubicBezTo>
                  <a:cubicBezTo>
                    <a:pt x="70431" y="15445"/>
                    <a:pt x="107720" y="0"/>
                    <a:pt x="146601" y="0"/>
                  </a:cubicBezTo>
                  <a:close/>
                </a:path>
              </a:pathLst>
            </a:custGeom>
            <a:blipFill>
              <a:blip r:embed="rId4"/>
              <a:stretch>
                <a:fillRect t="-954" b="-954"/>
              </a:stretch>
            </a:blipFill>
          </p:spPr>
          <p:txBody>
            <a:bodyPr/>
            <a:lstStyle/>
            <a:p>
              <a:endParaRPr lang="en-GB"/>
            </a:p>
          </p:txBody>
        </p:sp>
      </p:grpSp>
      <p:grpSp>
        <p:nvGrpSpPr>
          <p:cNvPr id="8" name="Group 8"/>
          <p:cNvGrpSpPr/>
          <p:nvPr/>
        </p:nvGrpSpPr>
        <p:grpSpPr>
          <a:xfrm>
            <a:off x="9406597" y="2849313"/>
            <a:ext cx="3168576" cy="3844456"/>
            <a:chOff x="0" y="0"/>
            <a:chExt cx="490895" cy="595607"/>
          </a:xfrm>
        </p:grpSpPr>
        <p:sp>
          <p:nvSpPr>
            <p:cNvPr id="9" name="Freeform 9"/>
            <p:cNvSpPr/>
            <p:nvPr/>
          </p:nvSpPr>
          <p:spPr>
            <a:xfrm>
              <a:off x="0" y="0"/>
              <a:ext cx="490895" cy="595607"/>
            </a:xfrm>
            <a:custGeom>
              <a:avLst/>
              <a:gdLst/>
              <a:ahLst/>
              <a:cxnLst/>
              <a:rect l="l" t="t" r="r" b="b"/>
              <a:pathLst>
                <a:path w="490895" h="595607">
                  <a:moveTo>
                    <a:pt x="146601" y="0"/>
                  </a:moveTo>
                  <a:lnTo>
                    <a:pt x="344295" y="0"/>
                  </a:lnTo>
                  <a:cubicBezTo>
                    <a:pt x="425260" y="0"/>
                    <a:pt x="490895" y="65635"/>
                    <a:pt x="490895" y="146601"/>
                  </a:cubicBezTo>
                  <a:lnTo>
                    <a:pt x="490895" y="449006"/>
                  </a:lnTo>
                  <a:cubicBezTo>
                    <a:pt x="490895" y="487887"/>
                    <a:pt x="475450" y="525176"/>
                    <a:pt x="447957" y="552669"/>
                  </a:cubicBezTo>
                  <a:cubicBezTo>
                    <a:pt x="420464" y="580162"/>
                    <a:pt x="383176" y="595607"/>
                    <a:pt x="344295" y="595607"/>
                  </a:cubicBezTo>
                  <a:lnTo>
                    <a:pt x="146601" y="595607"/>
                  </a:lnTo>
                  <a:cubicBezTo>
                    <a:pt x="107720" y="595607"/>
                    <a:pt x="70431" y="580162"/>
                    <a:pt x="42938" y="552669"/>
                  </a:cubicBezTo>
                  <a:cubicBezTo>
                    <a:pt x="15445" y="525176"/>
                    <a:pt x="0" y="487887"/>
                    <a:pt x="0" y="449006"/>
                  </a:cubicBezTo>
                  <a:lnTo>
                    <a:pt x="0" y="146601"/>
                  </a:lnTo>
                  <a:cubicBezTo>
                    <a:pt x="0" y="107720"/>
                    <a:pt x="15445" y="70431"/>
                    <a:pt x="42938" y="42938"/>
                  </a:cubicBezTo>
                  <a:cubicBezTo>
                    <a:pt x="70431" y="15445"/>
                    <a:pt x="107720" y="0"/>
                    <a:pt x="146601" y="0"/>
                  </a:cubicBezTo>
                  <a:close/>
                </a:path>
              </a:pathLst>
            </a:custGeom>
            <a:blipFill>
              <a:blip r:embed="rId5"/>
              <a:stretch>
                <a:fillRect t="-954" b="-954"/>
              </a:stretch>
            </a:blipFill>
          </p:spPr>
          <p:txBody>
            <a:bodyPr/>
            <a:lstStyle/>
            <a:p>
              <a:endParaRPr lang="en-GB"/>
            </a:p>
          </p:txBody>
        </p:sp>
      </p:grpSp>
      <p:grpSp>
        <p:nvGrpSpPr>
          <p:cNvPr id="10" name="Group 10"/>
          <p:cNvGrpSpPr/>
          <p:nvPr/>
        </p:nvGrpSpPr>
        <p:grpSpPr>
          <a:xfrm>
            <a:off x="1178539" y="2635347"/>
            <a:ext cx="1151557" cy="115155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5A7C"/>
            </a:solidFill>
          </p:spPr>
          <p:txBody>
            <a:bodyPr/>
            <a:lstStyle/>
            <a:p>
              <a:endParaRPr lang="en-GB"/>
            </a:p>
          </p:txBody>
        </p:sp>
        <p:sp>
          <p:nvSpPr>
            <p:cNvPr id="12" name="TextBox 12"/>
            <p:cNvSpPr txBox="1"/>
            <p:nvPr/>
          </p:nvSpPr>
          <p:spPr>
            <a:xfrm>
              <a:off x="76200" y="104775"/>
              <a:ext cx="660400" cy="631825"/>
            </a:xfrm>
            <a:prstGeom prst="rect">
              <a:avLst/>
            </a:prstGeom>
          </p:spPr>
          <p:txBody>
            <a:bodyPr lIns="50800" tIns="50800" rIns="50800" bIns="50800" rtlCol="0" anchor="ctr"/>
            <a:lstStyle/>
            <a:p>
              <a:pPr marL="0" lvl="0" indent="0" algn="ctr">
                <a:lnSpc>
                  <a:spcPts val="2640"/>
                </a:lnSpc>
              </a:pPr>
              <a:endParaRPr/>
            </a:p>
          </p:txBody>
        </p:sp>
      </p:grpSp>
      <p:grpSp>
        <p:nvGrpSpPr>
          <p:cNvPr id="13" name="Group 13"/>
          <p:cNvGrpSpPr/>
          <p:nvPr/>
        </p:nvGrpSpPr>
        <p:grpSpPr>
          <a:xfrm>
            <a:off x="5087780" y="2635347"/>
            <a:ext cx="1151557" cy="115155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5A7C"/>
            </a:solidFill>
          </p:spPr>
          <p:txBody>
            <a:bodyPr/>
            <a:lstStyle/>
            <a:p>
              <a:endParaRPr lang="en-GB"/>
            </a:p>
          </p:txBody>
        </p:sp>
        <p:sp>
          <p:nvSpPr>
            <p:cNvPr id="15" name="TextBox 15"/>
            <p:cNvSpPr txBox="1"/>
            <p:nvPr/>
          </p:nvSpPr>
          <p:spPr>
            <a:xfrm>
              <a:off x="76200" y="104775"/>
              <a:ext cx="660400" cy="631825"/>
            </a:xfrm>
            <a:prstGeom prst="rect">
              <a:avLst/>
            </a:prstGeom>
          </p:spPr>
          <p:txBody>
            <a:bodyPr lIns="50800" tIns="50800" rIns="50800" bIns="50800" rtlCol="0" anchor="ctr"/>
            <a:lstStyle/>
            <a:p>
              <a:pPr marL="0" lvl="0" indent="0" algn="ctr">
                <a:lnSpc>
                  <a:spcPts val="2640"/>
                </a:lnSpc>
              </a:pPr>
              <a:endParaRPr/>
            </a:p>
          </p:txBody>
        </p:sp>
      </p:grpSp>
      <p:grpSp>
        <p:nvGrpSpPr>
          <p:cNvPr id="16" name="Group 16"/>
          <p:cNvGrpSpPr/>
          <p:nvPr/>
        </p:nvGrpSpPr>
        <p:grpSpPr>
          <a:xfrm>
            <a:off x="9125371" y="2635347"/>
            <a:ext cx="1151557" cy="115155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5A7C"/>
            </a:solidFill>
          </p:spPr>
          <p:txBody>
            <a:bodyPr/>
            <a:lstStyle/>
            <a:p>
              <a:endParaRPr lang="en-GB"/>
            </a:p>
          </p:txBody>
        </p:sp>
        <p:sp>
          <p:nvSpPr>
            <p:cNvPr id="18" name="TextBox 18"/>
            <p:cNvSpPr txBox="1"/>
            <p:nvPr/>
          </p:nvSpPr>
          <p:spPr>
            <a:xfrm>
              <a:off x="76200" y="104775"/>
              <a:ext cx="660400" cy="631825"/>
            </a:xfrm>
            <a:prstGeom prst="rect">
              <a:avLst/>
            </a:prstGeom>
          </p:spPr>
          <p:txBody>
            <a:bodyPr lIns="50800" tIns="50800" rIns="50800" bIns="50800" rtlCol="0" anchor="ctr"/>
            <a:lstStyle/>
            <a:p>
              <a:pPr marL="0" lvl="0" indent="0" algn="ctr">
                <a:lnSpc>
                  <a:spcPts val="2640"/>
                </a:lnSpc>
              </a:pPr>
              <a:endParaRPr/>
            </a:p>
          </p:txBody>
        </p:sp>
      </p:grpSp>
      <p:grpSp>
        <p:nvGrpSpPr>
          <p:cNvPr id="19" name="Group 19"/>
          <p:cNvGrpSpPr/>
          <p:nvPr/>
        </p:nvGrpSpPr>
        <p:grpSpPr>
          <a:xfrm>
            <a:off x="13172529" y="2635347"/>
            <a:ext cx="1151557" cy="115155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5A7C"/>
            </a:solidFill>
          </p:spPr>
          <p:txBody>
            <a:bodyPr/>
            <a:lstStyle/>
            <a:p>
              <a:endParaRPr lang="en-GB"/>
            </a:p>
          </p:txBody>
        </p:sp>
        <p:sp>
          <p:nvSpPr>
            <p:cNvPr id="21" name="TextBox 21"/>
            <p:cNvSpPr txBox="1"/>
            <p:nvPr/>
          </p:nvSpPr>
          <p:spPr>
            <a:xfrm>
              <a:off x="76200" y="104775"/>
              <a:ext cx="660400" cy="631825"/>
            </a:xfrm>
            <a:prstGeom prst="rect">
              <a:avLst/>
            </a:prstGeom>
          </p:spPr>
          <p:txBody>
            <a:bodyPr lIns="50800" tIns="50800" rIns="50800" bIns="50800" rtlCol="0" anchor="ctr"/>
            <a:lstStyle/>
            <a:p>
              <a:pPr marL="0" lvl="0" indent="0" algn="ctr">
                <a:lnSpc>
                  <a:spcPts val="2640"/>
                </a:lnSpc>
              </a:pPr>
              <a:endParaRPr/>
            </a:p>
          </p:txBody>
        </p:sp>
      </p:grpSp>
      <p:sp>
        <p:nvSpPr>
          <p:cNvPr id="22" name="TextBox 22"/>
          <p:cNvSpPr txBox="1"/>
          <p:nvPr/>
        </p:nvSpPr>
        <p:spPr>
          <a:xfrm>
            <a:off x="1178539" y="485395"/>
            <a:ext cx="9208615" cy="848246"/>
          </a:xfrm>
          <a:prstGeom prst="rect">
            <a:avLst/>
          </a:prstGeom>
        </p:spPr>
        <p:txBody>
          <a:bodyPr lIns="0" tIns="0" rIns="0" bIns="0" rtlCol="0" anchor="t">
            <a:spAutoFit/>
          </a:bodyPr>
          <a:lstStyle/>
          <a:p>
            <a:pPr marL="0" lvl="0" indent="0" algn="ctr">
              <a:lnSpc>
                <a:spcPts val="6395"/>
              </a:lnSpc>
              <a:spcBef>
                <a:spcPct val="0"/>
              </a:spcBef>
            </a:pPr>
            <a:r>
              <a:rPr lang="en-US" sz="6395" b="1">
                <a:solidFill>
                  <a:srgbClr val="0C0E0B"/>
                </a:solidFill>
                <a:latin typeface="Montaser Arabic Bold"/>
                <a:ea typeface="Montaser Arabic Bold"/>
                <a:cs typeface="Montaser Arabic Bold"/>
                <a:sym typeface="Montaser Arabic Bold"/>
              </a:rPr>
              <a:t>Methodology Pipeline</a:t>
            </a:r>
          </a:p>
        </p:txBody>
      </p:sp>
      <p:sp>
        <p:nvSpPr>
          <p:cNvPr id="23" name="TextBox 23"/>
          <p:cNvSpPr txBox="1"/>
          <p:nvPr/>
        </p:nvSpPr>
        <p:spPr>
          <a:xfrm>
            <a:off x="1468944" y="7170994"/>
            <a:ext cx="3168727" cy="282473"/>
          </a:xfrm>
          <a:prstGeom prst="rect">
            <a:avLst/>
          </a:prstGeom>
        </p:spPr>
        <p:txBody>
          <a:bodyPr lIns="0" tIns="0" rIns="0" bIns="0" rtlCol="0" anchor="t">
            <a:spAutoFit/>
          </a:bodyPr>
          <a:lstStyle/>
          <a:p>
            <a:pPr marL="0" lvl="0" indent="0" algn="ctr">
              <a:lnSpc>
                <a:spcPts val="2191"/>
              </a:lnSpc>
            </a:pPr>
            <a:r>
              <a:rPr lang="en-US" sz="1991" b="1">
                <a:solidFill>
                  <a:srgbClr val="1D5A7C"/>
                </a:solidFill>
                <a:latin typeface="Montaser Arabic Bold"/>
                <a:ea typeface="Montaser Arabic Bold"/>
                <a:cs typeface="Montaser Arabic Bold"/>
                <a:sym typeface="Montaser Arabic Bold"/>
              </a:rPr>
              <a:t>Data Integration</a:t>
            </a:r>
          </a:p>
        </p:txBody>
      </p:sp>
      <p:sp>
        <p:nvSpPr>
          <p:cNvPr id="24" name="TextBox 24"/>
          <p:cNvSpPr txBox="1"/>
          <p:nvPr/>
        </p:nvSpPr>
        <p:spPr>
          <a:xfrm>
            <a:off x="1178539" y="3037700"/>
            <a:ext cx="1151557" cy="365900"/>
          </a:xfrm>
          <a:prstGeom prst="rect">
            <a:avLst/>
          </a:prstGeom>
        </p:spPr>
        <p:txBody>
          <a:bodyPr lIns="0" tIns="0" rIns="0" bIns="0" rtlCol="0" anchor="t">
            <a:spAutoFit/>
          </a:bodyPr>
          <a:lstStyle/>
          <a:p>
            <a:pPr marL="0" lvl="0" indent="0" algn="ctr">
              <a:lnSpc>
                <a:spcPts val="2817"/>
              </a:lnSpc>
              <a:spcBef>
                <a:spcPct val="0"/>
              </a:spcBef>
            </a:pPr>
            <a:r>
              <a:rPr lang="en-US" sz="2561" b="1">
                <a:solidFill>
                  <a:srgbClr val="FFFFFF"/>
                </a:solidFill>
                <a:latin typeface="Montaser Arabic Bold"/>
                <a:ea typeface="Montaser Arabic Bold"/>
                <a:cs typeface="Montaser Arabic Bold"/>
                <a:sym typeface="Montaser Arabic Bold"/>
              </a:rPr>
              <a:t>1</a:t>
            </a:r>
          </a:p>
        </p:txBody>
      </p:sp>
      <p:sp>
        <p:nvSpPr>
          <p:cNvPr id="25" name="TextBox 25"/>
          <p:cNvSpPr txBox="1"/>
          <p:nvPr/>
        </p:nvSpPr>
        <p:spPr>
          <a:xfrm>
            <a:off x="5087780" y="3037700"/>
            <a:ext cx="1151557" cy="365900"/>
          </a:xfrm>
          <a:prstGeom prst="rect">
            <a:avLst/>
          </a:prstGeom>
        </p:spPr>
        <p:txBody>
          <a:bodyPr lIns="0" tIns="0" rIns="0" bIns="0" rtlCol="0" anchor="t">
            <a:spAutoFit/>
          </a:bodyPr>
          <a:lstStyle/>
          <a:p>
            <a:pPr marL="0" lvl="0" indent="0" algn="ctr">
              <a:lnSpc>
                <a:spcPts val="2817"/>
              </a:lnSpc>
              <a:spcBef>
                <a:spcPct val="0"/>
              </a:spcBef>
            </a:pPr>
            <a:r>
              <a:rPr lang="en-US" sz="2561" b="1">
                <a:solidFill>
                  <a:srgbClr val="FFFFFF"/>
                </a:solidFill>
                <a:latin typeface="Montaser Arabic Bold"/>
                <a:ea typeface="Montaser Arabic Bold"/>
                <a:cs typeface="Montaser Arabic Bold"/>
                <a:sym typeface="Montaser Arabic Bold"/>
              </a:rPr>
              <a:t>2</a:t>
            </a:r>
          </a:p>
        </p:txBody>
      </p:sp>
      <p:sp>
        <p:nvSpPr>
          <p:cNvPr id="26" name="TextBox 26"/>
          <p:cNvSpPr txBox="1"/>
          <p:nvPr/>
        </p:nvSpPr>
        <p:spPr>
          <a:xfrm>
            <a:off x="9125371" y="3037700"/>
            <a:ext cx="1151557" cy="365900"/>
          </a:xfrm>
          <a:prstGeom prst="rect">
            <a:avLst/>
          </a:prstGeom>
        </p:spPr>
        <p:txBody>
          <a:bodyPr lIns="0" tIns="0" rIns="0" bIns="0" rtlCol="0" anchor="t">
            <a:spAutoFit/>
          </a:bodyPr>
          <a:lstStyle/>
          <a:p>
            <a:pPr marL="0" lvl="0" indent="0" algn="ctr">
              <a:lnSpc>
                <a:spcPts val="2817"/>
              </a:lnSpc>
              <a:spcBef>
                <a:spcPct val="0"/>
              </a:spcBef>
            </a:pPr>
            <a:r>
              <a:rPr lang="en-US" sz="2561" b="1">
                <a:solidFill>
                  <a:srgbClr val="FFFFFF"/>
                </a:solidFill>
                <a:latin typeface="Montaser Arabic Bold"/>
                <a:ea typeface="Montaser Arabic Bold"/>
                <a:cs typeface="Montaser Arabic Bold"/>
                <a:sym typeface="Montaser Arabic Bold"/>
              </a:rPr>
              <a:t>3</a:t>
            </a:r>
          </a:p>
        </p:txBody>
      </p:sp>
      <p:sp>
        <p:nvSpPr>
          <p:cNvPr id="27" name="TextBox 27"/>
          <p:cNvSpPr txBox="1"/>
          <p:nvPr/>
        </p:nvSpPr>
        <p:spPr>
          <a:xfrm>
            <a:off x="13172529" y="3037700"/>
            <a:ext cx="1151557" cy="365900"/>
          </a:xfrm>
          <a:prstGeom prst="rect">
            <a:avLst/>
          </a:prstGeom>
        </p:spPr>
        <p:txBody>
          <a:bodyPr lIns="0" tIns="0" rIns="0" bIns="0" rtlCol="0" anchor="t">
            <a:spAutoFit/>
          </a:bodyPr>
          <a:lstStyle/>
          <a:p>
            <a:pPr marL="0" lvl="0" indent="0" algn="ctr">
              <a:lnSpc>
                <a:spcPts val="2817"/>
              </a:lnSpc>
              <a:spcBef>
                <a:spcPct val="0"/>
              </a:spcBef>
            </a:pPr>
            <a:r>
              <a:rPr lang="en-US" sz="2561" b="1">
                <a:solidFill>
                  <a:srgbClr val="FFFFFF"/>
                </a:solidFill>
                <a:latin typeface="Montaser Arabic Bold"/>
                <a:ea typeface="Montaser Arabic Bold"/>
                <a:cs typeface="Montaser Arabic Bold"/>
                <a:sym typeface="Montaser Arabic Bold"/>
              </a:rPr>
              <a:t>4</a:t>
            </a:r>
          </a:p>
        </p:txBody>
      </p:sp>
      <p:sp>
        <p:nvSpPr>
          <p:cNvPr id="28" name="TextBox 28"/>
          <p:cNvSpPr txBox="1"/>
          <p:nvPr/>
        </p:nvSpPr>
        <p:spPr>
          <a:xfrm>
            <a:off x="5663559" y="7214809"/>
            <a:ext cx="2716848" cy="558698"/>
          </a:xfrm>
          <a:prstGeom prst="rect">
            <a:avLst/>
          </a:prstGeom>
        </p:spPr>
        <p:txBody>
          <a:bodyPr lIns="0" tIns="0" rIns="0" bIns="0" rtlCol="0" anchor="t">
            <a:spAutoFit/>
          </a:bodyPr>
          <a:lstStyle/>
          <a:p>
            <a:pPr marL="0" lvl="0" indent="0" algn="ctr">
              <a:lnSpc>
                <a:spcPts val="2191"/>
              </a:lnSpc>
            </a:pPr>
            <a:r>
              <a:rPr lang="en-US" sz="1991" b="1">
                <a:solidFill>
                  <a:srgbClr val="1D5A7C"/>
                </a:solidFill>
                <a:latin typeface="Montaser Arabic Bold"/>
                <a:ea typeface="Montaser Arabic Bold"/>
                <a:cs typeface="Montaser Arabic Bold"/>
                <a:sym typeface="Montaser Arabic Bold"/>
              </a:rPr>
              <a:t>SNV Filtering &amp; Sequence Extraction</a:t>
            </a:r>
          </a:p>
        </p:txBody>
      </p:sp>
      <p:sp>
        <p:nvSpPr>
          <p:cNvPr id="29" name="TextBox 29"/>
          <p:cNvSpPr txBox="1"/>
          <p:nvPr/>
        </p:nvSpPr>
        <p:spPr>
          <a:xfrm>
            <a:off x="9701150" y="7352922"/>
            <a:ext cx="2579319" cy="282473"/>
          </a:xfrm>
          <a:prstGeom prst="rect">
            <a:avLst/>
          </a:prstGeom>
        </p:spPr>
        <p:txBody>
          <a:bodyPr lIns="0" tIns="0" rIns="0" bIns="0" rtlCol="0" anchor="t">
            <a:spAutoFit/>
          </a:bodyPr>
          <a:lstStyle/>
          <a:p>
            <a:pPr marL="0" lvl="0" indent="0" algn="ctr">
              <a:lnSpc>
                <a:spcPts val="2191"/>
              </a:lnSpc>
            </a:pPr>
            <a:r>
              <a:rPr lang="en-US" sz="1991" b="1">
                <a:solidFill>
                  <a:srgbClr val="1D5A7C"/>
                </a:solidFill>
                <a:latin typeface="Montaser Arabic Bold"/>
                <a:ea typeface="Montaser Arabic Bold"/>
                <a:cs typeface="Montaser Arabic Bold"/>
                <a:sym typeface="Montaser Arabic Bold"/>
              </a:rPr>
              <a:t>Feature Extraction</a:t>
            </a:r>
          </a:p>
        </p:txBody>
      </p:sp>
      <p:sp>
        <p:nvSpPr>
          <p:cNvPr id="30" name="TextBox 30"/>
          <p:cNvSpPr txBox="1"/>
          <p:nvPr/>
        </p:nvSpPr>
        <p:spPr>
          <a:xfrm>
            <a:off x="13620859" y="7214809"/>
            <a:ext cx="2677554" cy="558698"/>
          </a:xfrm>
          <a:prstGeom prst="rect">
            <a:avLst/>
          </a:prstGeom>
        </p:spPr>
        <p:txBody>
          <a:bodyPr lIns="0" tIns="0" rIns="0" bIns="0" rtlCol="0" anchor="t">
            <a:spAutoFit/>
          </a:bodyPr>
          <a:lstStyle/>
          <a:p>
            <a:pPr marL="0" lvl="0" indent="0" algn="ctr">
              <a:lnSpc>
                <a:spcPts val="2191"/>
              </a:lnSpc>
            </a:pPr>
            <a:r>
              <a:rPr lang="en-US" sz="1991" b="1">
                <a:solidFill>
                  <a:srgbClr val="1D5A7C"/>
                </a:solidFill>
                <a:latin typeface="Montaser Arabic Bold"/>
                <a:ea typeface="Montaser Arabic Bold"/>
                <a:cs typeface="Montaser Arabic Bold"/>
                <a:sym typeface="Montaser Arabic Bold"/>
              </a:rPr>
              <a:t>Model Training &amp; Evaluation</a:t>
            </a:r>
          </a:p>
        </p:txBody>
      </p:sp>
      <p:sp>
        <p:nvSpPr>
          <p:cNvPr id="31" name="TextBox 31"/>
          <p:cNvSpPr txBox="1"/>
          <p:nvPr/>
        </p:nvSpPr>
        <p:spPr>
          <a:xfrm>
            <a:off x="1468944" y="8178688"/>
            <a:ext cx="3168727" cy="923925"/>
          </a:xfrm>
          <a:prstGeom prst="rect">
            <a:avLst/>
          </a:prstGeom>
        </p:spPr>
        <p:txBody>
          <a:bodyPr lIns="0" tIns="0" rIns="0" bIns="0" rtlCol="0" anchor="t">
            <a:spAutoFit/>
          </a:bodyPr>
          <a:lstStyle/>
          <a:p>
            <a:pPr marL="0" lvl="0" indent="0" algn="ctr">
              <a:lnSpc>
                <a:spcPts val="1841"/>
              </a:lnSpc>
            </a:pPr>
            <a:r>
              <a:rPr lang="en-US" sz="1534" u="none" strike="noStrike" spc="-30">
                <a:solidFill>
                  <a:srgbClr val="323232"/>
                </a:solidFill>
                <a:latin typeface="Montaser Arabic"/>
                <a:ea typeface="Montaser Arabic"/>
                <a:cs typeface="Montaser Arabic"/>
                <a:sym typeface="Montaser Arabic"/>
              </a:rPr>
              <a:t>COSMIC (somatic SNVs) and ClinVar (germline SNVs) merged into a balanced 20,000-variant dataset.</a:t>
            </a:r>
          </a:p>
        </p:txBody>
      </p:sp>
      <p:sp>
        <p:nvSpPr>
          <p:cNvPr id="32" name="TextBox 32"/>
          <p:cNvSpPr txBox="1"/>
          <p:nvPr/>
        </p:nvSpPr>
        <p:spPr>
          <a:xfrm>
            <a:off x="5437619" y="8178688"/>
            <a:ext cx="3168727" cy="923925"/>
          </a:xfrm>
          <a:prstGeom prst="rect">
            <a:avLst/>
          </a:prstGeom>
        </p:spPr>
        <p:txBody>
          <a:bodyPr lIns="0" tIns="0" rIns="0" bIns="0" rtlCol="0" anchor="t">
            <a:spAutoFit/>
          </a:bodyPr>
          <a:lstStyle/>
          <a:p>
            <a:pPr marL="0" lvl="0" indent="0" algn="ctr">
              <a:lnSpc>
                <a:spcPts val="1841"/>
              </a:lnSpc>
            </a:pPr>
            <a:r>
              <a:rPr lang="en-US" sz="1534" u="none" strike="noStrike" spc="-30">
                <a:solidFill>
                  <a:srgbClr val="323232"/>
                </a:solidFill>
                <a:latin typeface="Montaser Arabic"/>
                <a:ea typeface="Montaser Arabic"/>
                <a:cs typeface="Montaser Arabic"/>
                <a:sym typeface="Montaser Arabic"/>
              </a:rPr>
              <a:t>Quality filtering applied; 201 bp mutated sequences extracted from GRCh38 reference genome per variant.</a:t>
            </a:r>
          </a:p>
        </p:txBody>
      </p:sp>
      <p:sp>
        <p:nvSpPr>
          <p:cNvPr id="33" name="TextBox 33"/>
          <p:cNvSpPr txBox="1"/>
          <p:nvPr/>
        </p:nvSpPr>
        <p:spPr>
          <a:xfrm>
            <a:off x="9406446" y="8178688"/>
            <a:ext cx="3168727" cy="923925"/>
          </a:xfrm>
          <a:prstGeom prst="rect">
            <a:avLst/>
          </a:prstGeom>
        </p:spPr>
        <p:txBody>
          <a:bodyPr lIns="0" tIns="0" rIns="0" bIns="0" rtlCol="0" anchor="t">
            <a:spAutoFit/>
          </a:bodyPr>
          <a:lstStyle/>
          <a:p>
            <a:pPr marL="0" lvl="0" indent="0" algn="ctr">
              <a:lnSpc>
                <a:spcPts val="1841"/>
              </a:lnSpc>
            </a:pPr>
            <a:r>
              <a:rPr lang="en-US" sz="1534" u="none" strike="noStrike" spc="-30">
                <a:solidFill>
                  <a:srgbClr val="323232"/>
                </a:solidFill>
                <a:latin typeface="Montaser Arabic"/>
                <a:ea typeface="Montaser Arabic"/>
                <a:cs typeface="Montaser Arabic"/>
                <a:sym typeface="Montaser Arabic"/>
              </a:rPr>
              <a:t>Biological features computed: k-mer frequencies, GC content, CpG counts, transition/transversion, homopolymer runs.</a:t>
            </a:r>
          </a:p>
        </p:txBody>
      </p:sp>
      <p:sp>
        <p:nvSpPr>
          <p:cNvPr id="34" name="TextBox 34"/>
          <p:cNvSpPr txBox="1"/>
          <p:nvPr/>
        </p:nvSpPr>
        <p:spPr>
          <a:xfrm>
            <a:off x="13375273" y="8178688"/>
            <a:ext cx="3168727" cy="923925"/>
          </a:xfrm>
          <a:prstGeom prst="rect">
            <a:avLst/>
          </a:prstGeom>
        </p:spPr>
        <p:txBody>
          <a:bodyPr lIns="0" tIns="0" rIns="0" bIns="0" rtlCol="0" anchor="t">
            <a:spAutoFit/>
          </a:bodyPr>
          <a:lstStyle/>
          <a:p>
            <a:pPr marL="0" lvl="0" indent="0" algn="ctr">
              <a:lnSpc>
                <a:spcPts val="1841"/>
              </a:lnSpc>
            </a:pPr>
            <a:r>
              <a:rPr lang="en-US" sz="1534" u="none" strike="noStrike" spc="-30">
                <a:solidFill>
                  <a:srgbClr val="323232"/>
                </a:solidFill>
                <a:latin typeface="Montaser Arabic"/>
                <a:ea typeface="Montaser Arabic"/>
                <a:cs typeface="Montaser Arabic"/>
                <a:sym typeface="Montaser Arabic"/>
              </a:rPr>
              <a:t>Five model architectures trained and evaluated using MCC and ROC-AUC on held-out test set (4,000 variants).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73123" y="4982480"/>
            <a:ext cx="2246327" cy="2142880"/>
            <a:chOff x="0" y="0"/>
            <a:chExt cx="3953066" cy="3771022"/>
          </a:xfrm>
        </p:grpSpPr>
        <p:sp>
          <p:nvSpPr>
            <p:cNvPr id="3" name="Freeform 3"/>
            <p:cNvSpPr/>
            <p:nvPr/>
          </p:nvSpPr>
          <p:spPr>
            <a:xfrm>
              <a:off x="0" y="0"/>
              <a:ext cx="3953066" cy="3771022"/>
            </a:xfrm>
            <a:custGeom>
              <a:avLst/>
              <a:gdLst/>
              <a:ahLst/>
              <a:cxnLst/>
              <a:rect l="l" t="t" r="r" b="b"/>
              <a:pathLst>
                <a:path w="3953066" h="3771022">
                  <a:moveTo>
                    <a:pt x="1976533" y="0"/>
                  </a:moveTo>
                  <a:cubicBezTo>
                    <a:pt x="884924" y="0"/>
                    <a:pt x="0" y="844172"/>
                    <a:pt x="0" y="1885511"/>
                  </a:cubicBezTo>
                  <a:cubicBezTo>
                    <a:pt x="0" y="2926850"/>
                    <a:pt x="884924" y="3771022"/>
                    <a:pt x="1976533" y="3771022"/>
                  </a:cubicBezTo>
                  <a:cubicBezTo>
                    <a:pt x="3068142" y="3771022"/>
                    <a:pt x="3953066" y="2926850"/>
                    <a:pt x="3953066" y="1885511"/>
                  </a:cubicBezTo>
                  <a:cubicBezTo>
                    <a:pt x="3953066" y="844172"/>
                    <a:pt x="3068142" y="0"/>
                    <a:pt x="1976533" y="0"/>
                  </a:cubicBezTo>
                  <a:close/>
                </a:path>
              </a:pathLst>
            </a:custGeom>
            <a:solidFill>
              <a:srgbClr val="1D5A7C"/>
            </a:solidFill>
          </p:spPr>
          <p:txBody>
            <a:bodyPr/>
            <a:lstStyle/>
            <a:p>
              <a:endParaRPr lang="en-GB"/>
            </a:p>
          </p:txBody>
        </p:sp>
        <p:sp>
          <p:nvSpPr>
            <p:cNvPr id="4" name="TextBox 4"/>
            <p:cNvSpPr txBox="1"/>
            <p:nvPr/>
          </p:nvSpPr>
          <p:spPr>
            <a:xfrm>
              <a:off x="370600" y="382108"/>
              <a:ext cx="3211866" cy="3035380"/>
            </a:xfrm>
            <a:prstGeom prst="rect">
              <a:avLst/>
            </a:prstGeom>
          </p:spPr>
          <p:txBody>
            <a:bodyPr lIns="50800" tIns="50800" rIns="50800" bIns="50800" rtlCol="0" anchor="ctr"/>
            <a:lstStyle/>
            <a:p>
              <a:pPr marL="0" lvl="0" indent="0" algn="ctr">
                <a:lnSpc>
                  <a:spcPts val="2640"/>
                </a:lnSpc>
              </a:pPr>
              <a:endParaRPr/>
            </a:p>
          </p:txBody>
        </p:sp>
      </p:grpSp>
      <p:grpSp>
        <p:nvGrpSpPr>
          <p:cNvPr id="5" name="Group 5"/>
          <p:cNvGrpSpPr/>
          <p:nvPr/>
        </p:nvGrpSpPr>
        <p:grpSpPr>
          <a:xfrm>
            <a:off x="8020836" y="4982480"/>
            <a:ext cx="2246327" cy="2142880"/>
            <a:chOff x="0" y="0"/>
            <a:chExt cx="3953066" cy="3771022"/>
          </a:xfrm>
        </p:grpSpPr>
        <p:sp>
          <p:nvSpPr>
            <p:cNvPr id="6" name="Freeform 6"/>
            <p:cNvSpPr/>
            <p:nvPr/>
          </p:nvSpPr>
          <p:spPr>
            <a:xfrm>
              <a:off x="0" y="0"/>
              <a:ext cx="3953066" cy="3771022"/>
            </a:xfrm>
            <a:custGeom>
              <a:avLst/>
              <a:gdLst/>
              <a:ahLst/>
              <a:cxnLst/>
              <a:rect l="l" t="t" r="r" b="b"/>
              <a:pathLst>
                <a:path w="3953066" h="3771022">
                  <a:moveTo>
                    <a:pt x="1976533" y="0"/>
                  </a:moveTo>
                  <a:cubicBezTo>
                    <a:pt x="884924" y="0"/>
                    <a:pt x="0" y="844172"/>
                    <a:pt x="0" y="1885511"/>
                  </a:cubicBezTo>
                  <a:cubicBezTo>
                    <a:pt x="0" y="2926850"/>
                    <a:pt x="884924" y="3771022"/>
                    <a:pt x="1976533" y="3771022"/>
                  </a:cubicBezTo>
                  <a:cubicBezTo>
                    <a:pt x="3068142" y="3771022"/>
                    <a:pt x="3953066" y="2926850"/>
                    <a:pt x="3953066" y="1885511"/>
                  </a:cubicBezTo>
                  <a:cubicBezTo>
                    <a:pt x="3953066" y="844172"/>
                    <a:pt x="3068142" y="0"/>
                    <a:pt x="1976533" y="0"/>
                  </a:cubicBezTo>
                  <a:close/>
                </a:path>
              </a:pathLst>
            </a:custGeom>
            <a:solidFill>
              <a:srgbClr val="1D5A7C"/>
            </a:solidFill>
          </p:spPr>
          <p:txBody>
            <a:bodyPr/>
            <a:lstStyle/>
            <a:p>
              <a:endParaRPr lang="en-GB"/>
            </a:p>
          </p:txBody>
        </p:sp>
        <p:sp>
          <p:nvSpPr>
            <p:cNvPr id="7" name="TextBox 7"/>
            <p:cNvSpPr txBox="1"/>
            <p:nvPr/>
          </p:nvSpPr>
          <p:spPr>
            <a:xfrm>
              <a:off x="370600" y="382108"/>
              <a:ext cx="3211866" cy="3035380"/>
            </a:xfrm>
            <a:prstGeom prst="rect">
              <a:avLst/>
            </a:prstGeom>
          </p:spPr>
          <p:txBody>
            <a:bodyPr lIns="50800" tIns="50800" rIns="50800" bIns="50800" rtlCol="0" anchor="ctr"/>
            <a:lstStyle/>
            <a:p>
              <a:pPr marL="0" lvl="0" indent="0" algn="ctr">
                <a:lnSpc>
                  <a:spcPts val="2640"/>
                </a:lnSpc>
              </a:pPr>
              <a:endParaRPr/>
            </a:p>
          </p:txBody>
        </p:sp>
      </p:grpSp>
      <p:grpSp>
        <p:nvGrpSpPr>
          <p:cNvPr id="8" name="Group 8"/>
          <p:cNvGrpSpPr/>
          <p:nvPr/>
        </p:nvGrpSpPr>
        <p:grpSpPr>
          <a:xfrm>
            <a:off x="14473099" y="4982480"/>
            <a:ext cx="2246327" cy="2142880"/>
            <a:chOff x="0" y="0"/>
            <a:chExt cx="3953066" cy="3771022"/>
          </a:xfrm>
        </p:grpSpPr>
        <p:sp>
          <p:nvSpPr>
            <p:cNvPr id="9" name="Freeform 9"/>
            <p:cNvSpPr/>
            <p:nvPr/>
          </p:nvSpPr>
          <p:spPr>
            <a:xfrm>
              <a:off x="0" y="0"/>
              <a:ext cx="3953066" cy="3771022"/>
            </a:xfrm>
            <a:custGeom>
              <a:avLst/>
              <a:gdLst/>
              <a:ahLst/>
              <a:cxnLst/>
              <a:rect l="l" t="t" r="r" b="b"/>
              <a:pathLst>
                <a:path w="3953066" h="3771022">
                  <a:moveTo>
                    <a:pt x="1976533" y="0"/>
                  </a:moveTo>
                  <a:cubicBezTo>
                    <a:pt x="884924" y="0"/>
                    <a:pt x="0" y="844172"/>
                    <a:pt x="0" y="1885511"/>
                  </a:cubicBezTo>
                  <a:cubicBezTo>
                    <a:pt x="0" y="2926850"/>
                    <a:pt x="884924" y="3771022"/>
                    <a:pt x="1976533" y="3771022"/>
                  </a:cubicBezTo>
                  <a:cubicBezTo>
                    <a:pt x="3068142" y="3771022"/>
                    <a:pt x="3953066" y="2926850"/>
                    <a:pt x="3953066" y="1885511"/>
                  </a:cubicBezTo>
                  <a:cubicBezTo>
                    <a:pt x="3953066" y="844172"/>
                    <a:pt x="3068142" y="0"/>
                    <a:pt x="1976533" y="0"/>
                  </a:cubicBezTo>
                  <a:close/>
                </a:path>
              </a:pathLst>
            </a:custGeom>
            <a:solidFill>
              <a:srgbClr val="1D5A7C"/>
            </a:solidFill>
          </p:spPr>
          <p:txBody>
            <a:bodyPr/>
            <a:lstStyle/>
            <a:p>
              <a:endParaRPr lang="en-GB"/>
            </a:p>
          </p:txBody>
        </p:sp>
        <p:sp>
          <p:nvSpPr>
            <p:cNvPr id="10" name="TextBox 10"/>
            <p:cNvSpPr txBox="1"/>
            <p:nvPr/>
          </p:nvSpPr>
          <p:spPr>
            <a:xfrm>
              <a:off x="370600" y="382108"/>
              <a:ext cx="3211866" cy="3035380"/>
            </a:xfrm>
            <a:prstGeom prst="rect">
              <a:avLst/>
            </a:prstGeom>
          </p:spPr>
          <p:txBody>
            <a:bodyPr lIns="50800" tIns="50800" rIns="50800" bIns="50800" rtlCol="0" anchor="ctr"/>
            <a:lstStyle/>
            <a:p>
              <a:pPr marL="0" lvl="0" indent="0" algn="ctr">
                <a:lnSpc>
                  <a:spcPts val="2640"/>
                </a:lnSpc>
              </a:pPr>
              <a:endParaRPr/>
            </a:p>
          </p:txBody>
        </p:sp>
      </p:grpSp>
      <p:grpSp>
        <p:nvGrpSpPr>
          <p:cNvPr id="11" name="Group 11"/>
          <p:cNvGrpSpPr/>
          <p:nvPr/>
        </p:nvGrpSpPr>
        <p:grpSpPr>
          <a:xfrm>
            <a:off x="4985617" y="2767038"/>
            <a:ext cx="2246327" cy="2142880"/>
            <a:chOff x="0" y="0"/>
            <a:chExt cx="3953066" cy="3771022"/>
          </a:xfrm>
        </p:grpSpPr>
        <p:sp>
          <p:nvSpPr>
            <p:cNvPr id="12" name="Freeform 12"/>
            <p:cNvSpPr/>
            <p:nvPr/>
          </p:nvSpPr>
          <p:spPr>
            <a:xfrm>
              <a:off x="0" y="0"/>
              <a:ext cx="3953066" cy="3771022"/>
            </a:xfrm>
            <a:custGeom>
              <a:avLst/>
              <a:gdLst/>
              <a:ahLst/>
              <a:cxnLst/>
              <a:rect l="l" t="t" r="r" b="b"/>
              <a:pathLst>
                <a:path w="3953066" h="3771022">
                  <a:moveTo>
                    <a:pt x="1976533" y="0"/>
                  </a:moveTo>
                  <a:cubicBezTo>
                    <a:pt x="884924" y="0"/>
                    <a:pt x="0" y="844172"/>
                    <a:pt x="0" y="1885511"/>
                  </a:cubicBezTo>
                  <a:cubicBezTo>
                    <a:pt x="0" y="2926850"/>
                    <a:pt x="884924" y="3771022"/>
                    <a:pt x="1976533" y="3771022"/>
                  </a:cubicBezTo>
                  <a:cubicBezTo>
                    <a:pt x="3068142" y="3771022"/>
                    <a:pt x="3953066" y="2926850"/>
                    <a:pt x="3953066" y="1885511"/>
                  </a:cubicBezTo>
                  <a:cubicBezTo>
                    <a:pt x="3953066" y="844172"/>
                    <a:pt x="3068142" y="0"/>
                    <a:pt x="1976533" y="0"/>
                  </a:cubicBezTo>
                  <a:close/>
                </a:path>
              </a:pathLst>
            </a:custGeom>
            <a:solidFill>
              <a:srgbClr val="85D3C7"/>
            </a:solidFill>
          </p:spPr>
          <p:txBody>
            <a:bodyPr/>
            <a:lstStyle/>
            <a:p>
              <a:endParaRPr lang="en-GB"/>
            </a:p>
          </p:txBody>
        </p:sp>
        <p:sp>
          <p:nvSpPr>
            <p:cNvPr id="13" name="TextBox 13"/>
            <p:cNvSpPr txBox="1"/>
            <p:nvPr/>
          </p:nvSpPr>
          <p:spPr>
            <a:xfrm>
              <a:off x="370600" y="382108"/>
              <a:ext cx="3211866" cy="3035380"/>
            </a:xfrm>
            <a:prstGeom prst="rect">
              <a:avLst/>
            </a:prstGeom>
          </p:spPr>
          <p:txBody>
            <a:bodyPr lIns="50800" tIns="50800" rIns="50800" bIns="50800" rtlCol="0" anchor="ctr"/>
            <a:lstStyle/>
            <a:p>
              <a:pPr marL="0" lvl="0" indent="0" algn="ctr">
                <a:lnSpc>
                  <a:spcPts val="2640"/>
                </a:lnSpc>
              </a:pPr>
              <a:endParaRPr/>
            </a:p>
          </p:txBody>
        </p:sp>
      </p:grpSp>
      <p:sp>
        <p:nvSpPr>
          <p:cNvPr id="14" name="TextBox 14"/>
          <p:cNvSpPr txBox="1"/>
          <p:nvPr/>
        </p:nvSpPr>
        <p:spPr>
          <a:xfrm>
            <a:off x="4803770" y="5856691"/>
            <a:ext cx="2610021" cy="621062"/>
          </a:xfrm>
          <a:prstGeom prst="rect">
            <a:avLst/>
          </a:prstGeom>
        </p:spPr>
        <p:txBody>
          <a:bodyPr lIns="0" tIns="0" rIns="0" bIns="0" rtlCol="0" anchor="t">
            <a:spAutoFit/>
          </a:bodyPr>
          <a:lstStyle/>
          <a:p>
            <a:pPr marL="0" lvl="0" indent="0" algn="ctr">
              <a:lnSpc>
                <a:spcPts val="2518"/>
              </a:lnSpc>
              <a:spcBef>
                <a:spcPct val="0"/>
              </a:spcBef>
            </a:pPr>
            <a:r>
              <a:rPr lang="en-US" sz="1798" spc="-35">
                <a:solidFill>
                  <a:srgbClr val="2A2E30"/>
                </a:solidFill>
                <a:latin typeface="Montaser Arabic"/>
                <a:ea typeface="Montaser Arabic"/>
                <a:cs typeface="Montaser Arabic"/>
                <a:sym typeface="Montaser Arabic"/>
              </a:rPr>
              <a:t>Traditional ML using k-mer frequency features</a:t>
            </a:r>
          </a:p>
        </p:txBody>
      </p:sp>
      <p:sp>
        <p:nvSpPr>
          <p:cNvPr id="15" name="TextBox 15"/>
          <p:cNvSpPr txBox="1"/>
          <p:nvPr/>
        </p:nvSpPr>
        <p:spPr>
          <a:xfrm>
            <a:off x="4644775" y="5390610"/>
            <a:ext cx="2928012" cy="262042"/>
          </a:xfrm>
          <a:prstGeom prst="rect">
            <a:avLst/>
          </a:prstGeom>
        </p:spPr>
        <p:txBody>
          <a:bodyPr lIns="0" tIns="0" rIns="0" bIns="0" rtlCol="0" anchor="t">
            <a:spAutoFit/>
          </a:bodyPr>
          <a:lstStyle/>
          <a:p>
            <a:pPr marL="0" lvl="0" indent="0" algn="ctr">
              <a:lnSpc>
                <a:spcPts val="2071"/>
              </a:lnSpc>
            </a:pPr>
            <a:r>
              <a:rPr lang="en-US" sz="1883" b="1">
                <a:solidFill>
                  <a:srgbClr val="0C0E0B"/>
                </a:solidFill>
                <a:latin typeface="Montaser Arabic Bold"/>
                <a:ea typeface="Montaser Arabic Bold"/>
                <a:cs typeface="Montaser Arabic Bold"/>
                <a:sym typeface="Montaser Arabic Bold"/>
              </a:rPr>
              <a:t>Logistic Regression</a:t>
            </a:r>
          </a:p>
        </p:txBody>
      </p:sp>
      <p:grpSp>
        <p:nvGrpSpPr>
          <p:cNvPr id="16" name="Group 16"/>
          <p:cNvGrpSpPr/>
          <p:nvPr/>
        </p:nvGrpSpPr>
        <p:grpSpPr>
          <a:xfrm>
            <a:off x="11398581" y="2767038"/>
            <a:ext cx="2246327" cy="2142880"/>
            <a:chOff x="0" y="0"/>
            <a:chExt cx="3953066" cy="3771022"/>
          </a:xfrm>
        </p:grpSpPr>
        <p:sp>
          <p:nvSpPr>
            <p:cNvPr id="17" name="Freeform 17"/>
            <p:cNvSpPr/>
            <p:nvPr/>
          </p:nvSpPr>
          <p:spPr>
            <a:xfrm>
              <a:off x="0" y="0"/>
              <a:ext cx="3953066" cy="3771022"/>
            </a:xfrm>
            <a:custGeom>
              <a:avLst/>
              <a:gdLst/>
              <a:ahLst/>
              <a:cxnLst/>
              <a:rect l="l" t="t" r="r" b="b"/>
              <a:pathLst>
                <a:path w="3953066" h="3771022">
                  <a:moveTo>
                    <a:pt x="1976533" y="0"/>
                  </a:moveTo>
                  <a:cubicBezTo>
                    <a:pt x="884924" y="0"/>
                    <a:pt x="0" y="844172"/>
                    <a:pt x="0" y="1885511"/>
                  </a:cubicBezTo>
                  <a:cubicBezTo>
                    <a:pt x="0" y="2926850"/>
                    <a:pt x="884924" y="3771022"/>
                    <a:pt x="1976533" y="3771022"/>
                  </a:cubicBezTo>
                  <a:cubicBezTo>
                    <a:pt x="3068142" y="3771022"/>
                    <a:pt x="3953066" y="2926850"/>
                    <a:pt x="3953066" y="1885511"/>
                  </a:cubicBezTo>
                  <a:cubicBezTo>
                    <a:pt x="3953066" y="844172"/>
                    <a:pt x="3068142" y="0"/>
                    <a:pt x="1976533" y="0"/>
                  </a:cubicBezTo>
                  <a:close/>
                </a:path>
              </a:pathLst>
            </a:custGeom>
            <a:solidFill>
              <a:srgbClr val="85D3C7"/>
            </a:solidFill>
          </p:spPr>
          <p:txBody>
            <a:bodyPr/>
            <a:lstStyle/>
            <a:p>
              <a:endParaRPr lang="en-GB"/>
            </a:p>
          </p:txBody>
        </p:sp>
        <p:sp>
          <p:nvSpPr>
            <p:cNvPr id="18" name="TextBox 18"/>
            <p:cNvSpPr txBox="1"/>
            <p:nvPr/>
          </p:nvSpPr>
          <p:spPr>
            <a:xfrm>
              <a:off x="370600" y="382108"/>
              <a:ext cx="3211866" cy="3035380"/>
            </a:xfrm>
            <a:prstGeom prst="rect">
              <a:avLst/>
            </a:prstGeom>
          </p:spPr>
          <p:txBody>
            <a:bodyPr lIns="50800" tIns="50800" rIns="50800" bIns="50800" rtlCol="0" anchor="ctr"/>
            <a:lstStyle/>
            <a:p>
              <a:pPr marL="0" lvl="0" indent="0" algn="ctr">
                <a:lnSpc>
                  <a:spcPts val="2640"/>
                </a:lnSpc>
              </a:pPr>
              <a:endParaRPr/>
            </a:p>
          </p:txBody>
        </p:sp>
      </p:grpSp>
      <p:sp>
        <p:nvSpPr>
          <p:cNvPr id="19" name="TextBox 19"/>
          <p:cNvSpPr txBox="1"/>
          <p:nvPr/>
        </p:nvSpPr>
        <p:spPr>
          <a:xfrm>
            <a:off x="11216734" y="5856691"/>
            <a:ext cx="2610021" cy="621062"/>
          </a:xfrm>
          <a:prstGeom prst="rect">
            <a:avLst/>
          </a:prstGeom>
        </p:spPr>
        <p:txBody>
          <a:bodyPr lIns="0" tIns="0" rIns="0" bIns="0" rtlCol="0" anchor="t">
            <a:spAutoFit/>
          </a:bodyPr>
          <a:lstStyle/>
          <a:p>
            <a:pPr marL="0" lvl="0" indent="0" algn="ctr">
              <a:lnSpc>
                <a:spcPts val="2518"/>
              </a:lnSpc>
              <a:spcBef>
                <a:spcPct val="0"/>
              </a:spcBef>
            </a:pPr>
            <a:r>
              <a:rPr lang="en-US" sz="1798" spc="-35">
                <a:solidFill>
                  <a:srgbClr val="2A2E30"/>
                </a:solidFill>
                <a:latin typeface="Montaser Arabic"/>
                <a:ea typeface="Montaser Arabic"/>
                <a:cs typeface="Montaser Arabic"/>
                <a:sym typeface="Montaser Arabic"/>
              </a:rPr>
              <a:t>Gradient boosting with k-mer features</a:t>
            </a:r>
          </a:p>
        </p:txBody>
      </p:sp>
      <p:sp>
        <p:nvSpPr>
          <p:cNvPr id="20" name="TextBox 20"/>
          <p:cNvSpPr txBox="1"/>
          <p:nvPr/>
        </p:nvSpPr>
        <p:spPr>
          <a:xfrm>
            <a:off x="11057739" y="5390610"/>
            <a:ext cx="2928012" cy="262042"/>
          </a:xfrm>
          <a:prstGeom prst="rect">
            <a:avLst/>
          </a:prstGeom>
        </p:spPr>
        <p:txBody>
          <a:bodyPr lIns="0" tIns="0" rIns="0" bIns="0" rtlCol="0" anchor="t">
            <a:spAutoFit/>
          </a:bodyPr>
          <a:lstStyle/>
          <a:p>
            <a:pPr marL="0" lvl="0" indent="0" algn="ctr">
              <a:lnSpc>
                <a:spcPts val="2071"/>
              </a:lnSpc>
            </a:pPr>
            <a:r>
              <a:rPr lang="en-US" sz="1883" b="1" dirty="0">
                <a:solidFill>
                  <a:srgbClr val="0C0E0B"/>
                </a:solidFill>
                <a:latin typeface="Montaser Arabic Bold"/>
                <a:ea typeface="Montaser Arabic Bold"/>
                <a:cs typeface="Montaser Arabic Bold"/>
                <a:sym typeface="Montaser Arabic Bold"/>
              </a:rPr>
              <a:t>XGBoost</a:t>
            </a:r>
          </a:p>
        </p:txBody>
      </p:sp>
      <p:sp>
        <p:nvSpPr>
          <p:cNvPr id="21" name="TextBox 21"/>
          <p:cNvSpPr txBox="1"/>
          <p:nvPr/>
        </p:nvSpPr>
        <p:spPr>
          <a:xfrm>
            <a:off x="882140" y="666490"/>
            <a:ext cx="10128823" cy="848246"/>
          </a:xfrm>
          <a:prstGeom prst="rect">
            <a:avLst/>
          </a:prstGeom>
        </p:spPr>
        <p:txBody>
          <a:bodyPr lIns="0" tIns="0" rIns="0" bIns="0" rtlCol="0" anchor="t">
            <a:spAutoFit/>
          </a:bodyPr>
          <a:lstStyle/>
          <a:p>
            <a:pPr marL="0" lvl="0" indent="0" algn="l">
              <a:lnSpc>
                <a:spcPts val="6395"/>
              </a:lnSpc>
              <a:spcBef>
                <a:spcPct val="0"/>
              </a:spcBef>
            </a:pPr>
            <a:r>
              <a:rPr lang="en-US" sz="6395" b="1">
                <a:solidFill>
                  <a:srgbClr val="0C0E0B"/>
                </a:solidFill>
                <a:latin typeface="Montaser Arabic Bold"/>
                <a:ea typeface="Montaser Arabic Bold"/>
                <a:cs typeface="Montaser Arabic Bold"/>
                <a:sym typeface="Montaser Arabic Bold"/>
              </a:rPr>
              <a:t>Models Compared</a:t>
            </a:r>
          </a:p>
        </p:txBody>
      </p:sp>
      <p:sp>
        <p:nvSpPr>
          <p:cNvPr id="22" name="TextBox 22"/>
          <p:cNvSpPr txBox="1"/>
          <p:nvPr/>
        </p:nvSpPr>
        <p:spPr>
          <a:xfrm>
            <a:off x="1391276" y="8072132"/>
            <a:ext cx="2610021" cy="621062"/>
          </a:xfrm>
          <a:prstGeom prst="rect">
            <a:avLst/>
          </a:prstGeom>
        </p:spPr>
        <p:txBody>
          <a:bodyPr lIns="0" tIns="0" rIns="0" bIns="0" rtlCol="0" anchor="t">
            <a:spAutoFit/>
          </a:bodyPr>
          <a:lstStyle/>
          <a:p>
            <a:pPr marL="0" lvl="0" indent="0" algn="ctr">
              <a:lnSpc>
                <a:spcPts val="2518"/>
              </a:lnSpc>
              <a:spcBef>
                <a:spcPct val="0"/>
              </a:spcBef>
            </a:pPr>
            <a:r>
              <a:rPr lang="en-US" sz="1798" spc="-35">
                <a:solidFill>
                  <a:srgbClr val="2A2E30"/>
                </a:solidFill>
                <a:latin typeface="Montaser Arabic"/>
                <a:ea typeface="Montaser Arabic"/>
                <a:cs typeface="Montaser Arabic"/>
                <a:sym typeface="Montaser Arabic"/>
              </a:rPr>
              <a:t>Deep learning on raw DNA sequence signals</a:t>
            </a:r>
          </a:p>
        </p:txBody>
      </p:sp>
      <p:sp>
        <p:nvSpPr>
          <p:cNvPr id="23" name="TextBox 23"/>
          <p:cNvSpPr txBox="1"/>
          <p:nvPr/>
        </p:nvSpPr>
        <p:spPr>
          <a:xfrm>
            <a:off x="7838989" y="8072132"/>
            <a:ext cx="2610021" cy="621062"/>
          </a:xfrm>
          <a:prstGeom prst="rect">
            <a:avLst/>
          </a:prstGeom>
        </p:spPr>
        <p:txBody>
          <a:bodyPr lIns="0" tIns="0" rIns="0" bIns="0" rtlCol="0" anchor="t">
            <a:spAutoFit/>
          </a:bodyPr>
          <a:lstStyle/>
          <a:p>
            <a:pPr marL="0" lvl="0" indent="0" algn="ctr">
              <a:lnSpc>
                <a:spcPts val="2518"/>
              </a:lnSpc>
              <a:spcBef>
                <a:spcPct val="0"/>
              </a:spcBef>
            </a:pPr>
            <a:r>
              <a:rPr lang="en-US" sz="1798" spc="-35">
                <a:solidFill>
                  <a:srgbClr val="2A2E30"/>
                </a:solidFill>
                <a:latin typeface="Montaser Arabic"/>
                <a:ea typeface="Montaser Arabic"/>
                <a:cs typeface="Montaser Arabic"/>
                <a:sym typeface="Montaser Arabic"/>
              </a:rPr>
              <a:t>Foundation model with genomic pre-training</a:t>
            </a:r>
          </a:p>
        </p:txBody>
      </p:sp>
      <p:sp>
        <p:nvSpPr>
          <p:cNvPr id="24" name="TextBox 24"/>
          <p:cNvSpPr txBox="1"/>
          <p:nvPr/>
        </p:nvSpPr>
        <p:spPr>
          <a:xfrm>
            <a:off x="14291251" y="8072132"/>
            <a:ext cx="2610021" cy="935387"/>
          </a:xfrm>
          <a:prstGeom prst="rect">
            <a:avLst/>
          </a:prstGeom>
        </p:spPr>
        <p:txBody>
          <a:bodyPr lIns="0" tIns="0" rIns="0" bIns="0" rtlCol="0" anchor="t">
            <a:spAutoFit/>
          </a:bodyPr>
          <a:lstStyle/>
          <a:p>
            <a:pPr marL="0" lvl="0" indent="0" algn="ctr">
              <a:lnSpc>
                <a:spcPts val="2518"/>
              </a:lnSpc>
              <a:spcBef>
                <a:spcPct val="0"/>
              </a:spcBef>
            </a:pPr>
            <a:r>
              <a:rPr lang="en-US" sz="1798" spc="-35" dirty="0">
                <a:solidFill>
                  <a:srgbClr val="2A2E30"/>
                </a:solidFill>
                <a:latin typeface="Montaser Arabic"/>
                <a:ea typeface="Montaser Arabic"/>
                <a:cs typeface="Montaser Arabic"/>
                <a:sym typeface="Montaser Arabic"/>
              </a:rPr>
              <a:t>NT embeddings + biological features + XGBoost</a:t>
            </a:r>
          </a:p>
        </p:txBody>
      </p:sp>
      <p:sp>
        <p:nvSpPr>
          <p:cNvPr id="25" name="TextBox 25"/>
          <p:cNvSpPr txBox="1"/>
          <p:nvPr/>
        </p:nvSpPr>
        <p:spPr>
          <a:xfrm>
            <a:off x="1232280" y="7606052"/>
            <a:ext cx="2928012" cy="262042"/>
          </a:xfrm>
          <a:prstGeom prst="rect">
            <a:avLst/>
          </a:prstGeom>
        </p:spPr>
        <p:txBody>
          <a:bodyPr lIns="0" tIns="0" rIns="0" bIns="0" rtlCol="0" anchor="t">
            <a:spAutoFit/>
          </a:bodyPr>
          <a:lstStyle/>
          <a:p>
            <a:pPr marL="0" lvl="0" indent="0" algn="ctr">
              <a:lnSpc>
                <a:spcPts val="2071"/>
              </a:lnSpc>
            </a:pPr>
            <a:r>
              <a:rPr lang="en-US" sz="1883" b="1">
                <a:solidFill>
                  <a:srgbClr val="0C0E0B"/>
                </a:solidFill>
                <a:latin typeface="Montaser Arabic Bold"/>
                <a:ea typeface="Montaser Arabic Bold"/>
                <a:cs typeface="Montaser Arabic Bold"/>
                <a:sym typeface="Montaser Arabic Bold"/>
              </a:rPr>
              <a:t>1D CNN</a:t>
            </a:r>
          </a:p>
        </p:txBody>
      </p:sp>
      <p:sp>
        <p:nvSpPr>
          <p:cNvPr id="26" name="TextBox 26"/>
          <p:cNvSpPr txBox="1"/>
          <p:nvPr/>
        </p:nvSpPr>
        <p:spPr>
          <a:xfrm>
            <a:off x="7679994" y="7606052"/>
            <a:ext cx="2928012" cy="262042"/>
          </a:xfrm>
          <a:prstGeom prst="rect">
            <a:avLst/>
          </a:prstGeom>
        </p:spPr>
        <p:txBody>
          <a:bodyPr lIns="0" tIns="0" rIns="0" bIns="0" rtlCol="0" anchor="t">
            <a:spAutoFit/>
          </a:bodyPr>
          <a:lstStyle/>
          <a:p>
            <a:pPr marL="0" lvl="0" indent="0" algn="ctr">
              <a:lnSpc>
                <a:spcPts val="2071"/>
              </a:lnSpc>
            </a:pPr>
            <a:r>
              <a:rPr lang="en-US" sz="1883" b="1">
                <a:solidFill>
                  <a:srgbClr val="0C0E0B"/>
                </a:solidFill>
                <a:latin typeface="Montaser Arabic Bold"/>
                <a:ea typeface="Montaser Arabic Bold"/>
                <a:cs typeface="Montaser Arabic Bold"/>
                <a:sym typeface="Montaser Arabic Bold"/>
              </a:rPr>
              <a:t>Nucleotide Transformer</a:t>
            </a:r>
          </a:p>
        </p:txBody>
      </p:sp>
      <p:sp>
        <p:nvSpPr>
          <p:cNvPr id="27" name="TextBox 27"/>
          <p:cNvSpPr txBox="1"/>
          <p:nvPr/>
        </p:nvSpPr>
        <p:spPr>
          <a:xfrm>
            <a:off x="14132256" y="7606052"/>
            <a:ext cx="2928012" cy="262042"/>
          </a:xfrm>
          <a:prstGeom prst="rect">
            <a:avLst/>
          </a:prstGeom>
        </p:spPr>
        <p:txBody>
          <a:bodyPr lIns="0" tIns="0" rIns="0" bIns="0" rtlCol="0" anchor="t">
            <a:spAutoFit/>
          </a:bodyPr>
          <a:lstStyle/>
          <a:p>
            <a:pPr marL="0" lvl="0" indent="0" algn="ctr">
              <a:lnSpc>
                <a:spcPts val="2071"/>
              </a:lnSpc>
            </a:pPr>
            <a:r>
              <a:rPr lang="en-US" sz="1883" b="1">
                <a:solidFill>
                  <a:srgbClr val="0C0E0B"/>
                </a:solidFill>
                <a:latin typeface="Montaser Arabic Bold"/>
                <a:ea typeface="Montaser Arabic Bold"/>
                <a:cs typeface="Montaser Arabic Bold"/>
                <a:sym typeface="Montaser Arabic Bold"/>
              </a:rPr>
              <a:t>Hybrid Model</a:t>
            </a:r>
          </a:p>
        </p:txBody>
      </p:sp>
      <p:sp>
        <p:nvSpPr>
          <p:cNvPr id="28" name="TextBox 28"/>
          <p:cNvSpPr txBox="1"/>
          <p:nvPr/>
        </p:nvSpPr>
        <p:spPr>
          <a:xfrm>
            <a:off x="2458096" y="5644461"/>
            <a:ext cx="476381" cy="876068"/>
          </a:xfrm>
          <a:prstGeom prst="rect">
            <a:avLst/>
          </a:prstGeom>
        </p:spPr>
        <p:txBody>
          <a:bodyPr lIns="0" tIns="0" rIns="0" bIns="0" rtlCol="0" anchor="t">
            <a:spAutoFit/>
          </a:bodyPr>
          <a:lstStyle/>
          <a:p>
            <a:pPr algn="ctr">
              <a:lnSpc>
                <a:spcPts val="6771"/>
              </a:lnSpc>
              <a:spcBef>
                <a:spcPct val="0"/>
              </a:spcBef>
            </a:pPr>
            <a:r>
              <a:rPr lang="en-US" sz="6155" b="1">
                <a:solidFill>
                  <a:srgbClr val="FFFFFF"/>
                </a:solidFill>
                <a:latin typeface="Montaser Arabic Ultra-Bold"/>
                <a:ea typeface="Montaser Arabic Ultra-Bold"/>
                <a:cs typeface="Montaser Arabic Ultra-Bold"/>
                <a:sym typeface="Montaser Arabic Ultra-Bold"/>
              </a:rPr>
              <a:t>3</a:t>
            </a:r>
          </a:p>
        </p:txBody>
      </p:sp>
      <p:sp>
        <p:nvSpPr>
          <p:cNvPr id="29" name="TextBox 29"/>
          <p:cNvSpPr txBox="1"/>
          <p:nvPr/>
        </p:nvSpPr>
        <p:spPr>
          <a:xfrm>
            <a:off x="5946552" y="3429019"/>
            <a:ext cx="324458" cy="876068"/>
          </a:xfrm>
          <a:prstGeom prst="rect">
            <a:avLst/>
          </a:prstGeom>
        </p:spPr>
        <p:txBody>
          <a:bodyPr lIns="0" tIns="0" rIns="0" bIns="0" rtlCol="0" anchor="t">
            <a:spAutoFit/>
          </a:bodyPr>
          <a:lstStyle/>
          <a:p>
            <a:pPr algn="ctr">
              <a:lnSpc>
                <a:spcPts val="6771"/>
              </a:lnSpc>
              <a:spcBef>
                <a:spcPct val="0"/>
              </a:spcBef>
            </a:pPr>
            <a:r>
              <a:rPr lang="en-US" sz="6155" b="1">
                <a:solidFill>
                  <a:srgbClr val="FFFFFF"/>
                </a:solidFill>
                <a:latin typeface="Montaser Arabic Ultra-Bold"/>
                <a:ea typeface="Montaser Arabic Ultra-Bold"/>
                <a:cs typeface="Montaser Arabic Ultra-Bold"/>
                <a:sym typeface="Montaser Arabic Ultra-Bold"/>
              </a:rPr>
              <a:t>1</a:t>
            </a:r>
          </a:p>
        </p:txBody>
      </p:sp>
      <p:sp>
        <p:nvSpPr>
          <p:cNvPr id="30" name="TextBox 30"/>
          <p:cNvSpPr txBox="1"/>
          <p:nvPr/>
        </p:nvSpPr>
        <p:spPr>
          <a:xfrm>
            <a:off x="12282027" y="3429019"/>
            <a:ext cx="479435" cy="876068"/>
          </a:xfrm>
          <a:prstGeom prst="rect">
            <a:avLst/>
          </a:prstGeom>
        </p:spPr>
        <p:txBody>
          <a:bodyPr lIns="0" tIns="0" rIns="0" bIns="0" rtlCol="0" anchor="t">
            <a:spAutoFit/>
          </a:bodyPr>
          <a:lstStyle/>
          <a:p>
            <a:pPr algn="ctr">
              <a:lnSpc>
                <a:spcPts val="6771"/>
              </a:lnSpc>
              <a:spcBef>
                <a:spcPct val="0"/>
              </a:spcBef>
            </a:pPr>
            <a:r>
              <a:rPr lang="en-US" sz="6155" b="1">
                <a:solidFill>
                  <a:srgbClr val="FFFFFF"/>
                </a:solidFill>
                <a:latin typeface="Montaser Arabic Ultra-Bold"/>
                <a:ea typeface="Montaser Arabic Ultra-Bold"/>
                <a:cs typeface="Montaser Arabic Ultra-Bold"/>
                <a:sym typeface="Montaser Arabic Ultra-Bold"/>
              </a:rPr>
              <a:t>2</a:t>
            </a:r>
          </a:p>
        </p:txBody>
      </p:sp>
      <p:sp>
        <p:nvSpPr>
          <p:cNvPr id="31" name="TextBox 31"/>
          <p:cNvSpPr txBox="1"/>
          <p:nvPr/>
        </p:nvSpPr>
        <p:spPr>
          <a:xfrm>
            <a:off x="8905046" y="5644461"/>
            <a:ext cx="477908" cy="876068"/>
          </a:xfrm>
          <a:prstGeom prst="rect">
            <a:avLst/>
          </a:prstGeom>
        </p:spPr>
        <p:txBody>
          <a:bodyPr lIns="0" tIns="0" rIns="0" bIns="0" rtlCol="0" anchor="t">
            <a:spAutoFit/>
          </a:bodyPr>
          <a:lstStyle/>
          <a:p>
            <a:pPr algn="ctr">
              <a:lnSpc>
                <a:spcPts val="6771"/>
              </a:lnSpc>
              <a:spcBef>
                <a:spcPct val="0"/>
              </a:spcBef>
            </a:pPr>
            <a:r>
              <a:rPr lang="en-US" sz="6155" b="1">
                <a:solidFill>
                  <a:srgbClr val="FFFFFF"/>
                </a:solidFill>
                <a:latin typeface="Montaser Arabic Ultra-Bold"/>
                <a:ea typeface="Montaser Arabic Ultra-Bold"/>
                <a:cs typeface="Montaser Arabic Ultra-Bold"/>
                <a:sym typeface="Montaser Arabic Ultra-Bold"/>
              </a:rPr>
              <a:t>4</a:t>
            </a:r>
          </a:p>
        </p:txBody>
      </p:sp>
      <p:sp>
        <p:nvSpPr>
          <p:cNvPr id="32" name="TextBox 32"/>
          <p:cNvSpPr txBox="1"/>
          <p:nvPr/>
        </p:nvSpPr>
        <p:spPr>
          <a:xfrm>
            <a:off x="15350628" y="5644461"/>
            <a:ext cx="491268" cy="876068"/>
          </a:xfrm>
          <a:prstGeom prst="rect">
            <a:avLst/>
          </a:prstGeom>
        </p:spPr>
        <p:txBody>
          <a:bodyPr lIns="0" tIns="0" rIns="0" bIns="0" rtlCol="0" anchor="t">
            <a:spAutoFit/>
          </a:bodyPr>
          <a:lstStyle/>
          <a:p>
            <a:pPr algn="ctr">
              <a:lnSpc>
                <a:spcPts val="6771"/>
              </a:lnSpc>
              <a:spcBef>
                <a:spcPct val="0"/>
              </a:spcBef>
            </a:pPr>
            <a:r>
              <a:rPr lang="en-US" sz="6155" b="1">
                <a:solidFill>
                  <a:srgbClr val="FFFFFF"/>
                </a:solidFill>
                <a:latin typeface="Montaser Arabic Ultra-Bold"/>
                <a:ea typeface="Montaser Arabic Ultra-Bold"/>
                <a:cs typeface="Montaser Arabic Ultra-Bold"/>
                <a:sym typeface="Montaser Arabic Ultra-Bold"/>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18497" y="8654656"/>
            <a:ext cx="1186330" cy="4320194"/>
            <a:chOff x="0" y="0"/>
            <a:chExt cx="312449" cy="1137829"/>
          </a:xfrm>
        </p:grpSpPr>
        <p:sp>
          <p:nvSpPr>
            <p:cNvPr id="3" name="Freeform 3"/>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4" name="TextBox 4"/>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5" name="Group 5"/>
          <p:cNvGrpSpPr/>
          <p:nvPr/>
        </p:nvGrpSpPr>
        <p:grpSpPr>
          <a:xfrm>
            <a:off x="3067112" y="9025295"/>
            <a:ext cx="1186330" cy="4320194"/>
            <a:chOff x="0" y="0"/>
            <a:chExt cx="312449" cy="1137829"/>
          </a:xfrm>
        </p:grpSpPr>
        <p:sp>
          <p:nvSpPr>
            <p:cNvPr id="6" name="Freeform 6"/>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7" name="TextBox 7"/>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8" name="Group 8"/>
          <p:cNvGrpSpPr/>
          <p:nvPr/>
        </p:nvGrpSpPr>
        <p:grpSpPr>
          <a:xfrm>
            <a:off x="165468" y="9568242"/>
            <a:ext cx="1186330" cy="4320194"/>
            <a:chOff x="0" y="0"/>
            <a:chExt cx="312449" cy="1137829"/>
          </a:xfrm>
        </p:grpSpPr>
        <p:sp>
          <p:nvSpPr>
            <p:cNvPr id="9" name="Freeform 9"/>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0" name="TextBox 10"/>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1" name="Group 11"/>
          <p:cNvGrpSpPr/>
          <p:nvPr/>
        </p:nvGrpSpPr>
        <p:grpSpPr>
          <a:xfrm rot="-10800000">
            <a:off x="16761991" y="-4606997"/>
            <a:ext cx="1186330" cy="5507734"/>
            <a:chOff x="0" y="0"/>
            <a:chExt cx="312449" cy="1450597"/>
          </a:xfrm>
        </p:grpSpPr>
        <p:sp>
          <p:nvSpPr>
            <p:cNvPr id="12" name="Freeform 12"/>
            <p:cNvSpPr/>
            <p:nvPr/>
          </p:nvSpPr>
          <p:spPr>
            <a:xfrm>
              <a:off x="0" y="0"/>
              <a:ext cx="312449" cy="1450597"/>
            </a:xfrm>
            <a:custGeom>
              <a:avLst/>
              <a:gdLst/>
              <a:ahLst/>
              <a:cxnLst/>
              <a:rect l="l" t="t" r="r" b="b"/>
              <a:pathLst>
                <a:path w="312449" h="1450597">
                  <a:moveTo>
                    <a:pt x="156225" y="0"/>
                  </a:moveTo>
                  <a:lnTo>
                    <a:pt x="156225" y="0"/>
                  </a:lnTo>
                  <a:cubicBezTo>
                    <a:pt x="197658" y="0"/>
                    <a:pt x="237394" y="16459"/>
                    <a:pt x="266692" y="45757"/>
                  </a:cubicBezTo>
                  <a:cubicBezTo>
                    <a:pt x="295990" y="75055"/>
                    <a:pt x="312449" y="114791"/>
                    <a:pt x="312449" y="156225"/>
                  </a:cubicBezTo>
                  <a:lnTo>
                    <a:pt x="312449" y="1294372"/>
                  </a:lnTo>
                  <a:cubicBezTo>
                    <a:pt x="312449" y="1335806"/>
                    <a:pt x="295990" y="1375542"/>
                    <a:pt x="266692" y="1404840"/>
                  </a:cubicBezTo>
                  <a:cubicBezTo>
                    <a:pt x="237394" y="1434137"/>
                    <a:pt x="197658" y="1450597"/>
                    <a:pt x="156225" y="1450597"/>
                  </a:cubicBezTo>
                  <a:lnTo>
                    <a:pt x="156225" y="1450597"/>
                  </a:lnTo>
                  <a:cubicBezTo>
                    <a:pt x="114791" y="1450597"/>
                    <a:pt x="75055" y="1434137"/>
                    <a:pt x="45757" y="1404840"/>
                  </a:cubicBezTo>
                  <a:cubicBezTo>
                    <a:pt x="16459" y="1375542"/>
                    <a:pt x="0" y="1335806"/>
                    <a:pt x="0" y="1294372"/>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3" name="TextBox 13"/>
            <p:cNvSpPr txBox="1"/>
            <p:nvPr/>
          </p:nvSpPr>
          <p:spPr>
            <a:xfrm>
              <a:off x="0" y="28575"/>
              <a:ext cx="312449" cy="1422022"/>
            </a:xfrm>
            <a:prstGeom prst="rect">
              <a:avLst/>
            </a:prstGeom>
          </p:spPr>
          <p:txBody>
            <a:bodyPr lIns="50800" tIns="50800" rIns="50800" bIns="50800" rtlCol="0" anchor="ctr"/>
            <a:lstStyle/>
            <a:p>
              <a:pPr marL="0" lvl="0" indent="0" algn="ctr">
                <a:lnSpc>
                  <a:spcPts val="2640"/>
                </a:lnSpc>
              </a:pPr>
              <a:endParaRPr/>
            </a:p>
          </p:txBody>
        </p:sp>
      </p:grpSp>
      <p:grpSp>
        <p:nvGrpSpPr>
          <p:cNvPr id="14" name="Group 14"/>
          <p:cNvGrpSpPr/>
          <p:nvPr/>
        </p:nvGrpSpPr>
        <p:grpSpPr>
          <a:xfrm rot="-10800000">
            <a:off x="15304546" y="-1853130"/>
            <a:ext cx="1186330" cy="3208957"/>
            <a:chOff x="0" y="0"/>
            <a:chExt cx="312449" cy="845157"/>
          </a:xfrm>
        </p:grpSpPr>
        <p:sp>
          <p:nvSpPr>
            <p:cNvPr id="15" name="Freeform 15"/>
            <p:cNvSpPr/>
            <p:nvPr/>
          </p:nvSpPr>
          <p:spPr>
            <a:xfrm>
              <a:off x="0" y="0"/>
              <a:ext cx="312449" cy="845157"/>
            </a:xfrm>
            <a:custGeom>
              <a:avLst/>
              <a:gdLst/>
              <a:ahLst/>
              <a:cxnLst/>
              <a:rect l="l" t="t" r="r" b="b"/>
              <a:pathLst>
                <a:path w="312449" h="845157">
                  <a:moveTo>
                    <a:pt x="156225" y="0"/>
                  </a:moveTo>
                  <a:lnTo>
                    <a:pt x="156225" y="0"/>
                  </a:lnTo>
                  <a:cubicBezTo>
                    <a:pt x="197658" y="0"/>
                    <a:pt x="237394" y="16459"/>
                    <a:pt x="266692" y="45757"/>
                  </a:cubicBezTo>
                  <a:cubicBezTo>
                    <a:pt x="295990" y="75055"/>
                    <a:pt x="312449" y="114791"/>
                    <a:pt x="312449" y="156225"/>
                  </a:cubicBezTo>
                  <a:lnTo>
                    <a:pt x="312449" y="688933"/>
                  </a:lnTo>
                  <a:cubicBezTo>
                    <a:pt x="312449" y="730366"/>
                    <a:pt x="295990" y="770103"/>
                    <a:pt x="266692" y="799400"/>
                  </a:cubicBezTo>
                  <a:cubicBezTo>
                    <a:pt x="237394" y="828698"/>
                    <a:pt x="197658" y="845157"/>
                    <a:pt x="156225" y="845157"/>
                  </a:cubicBezTo>
                  <a:lnTo>
                    <a:pt x="156225" y="845157"/>
                  </a:lnTo>
                  <a:cubicBezTo>
                    <a:pt x="114791" y="845157"/>
                    <a:pt x="75055" y="828698"/>
                    <a:pt x="45757" y="799400"/>
                  </a:cubicBezTo>
                  <a:cubicBezTo>
                    <a:pt x="16459" y="770103"/>
                    <a:pt x="0" y="730366"/>
                    <a:pt x="0" y="688933"/>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6" name="TextBox 16"/>
            <p:cNvSpPr txBox="1"/>
            <p:nvPr/>
          </p:nvSpPr>
          <p:spPr>
            <a:xfrm>
              <a:off x="0" y="28575"/>
              <a:ext cx="312449" cy="816582"/>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7" name="Group 17"/>
          <p:cNvGrpSpPr/>
          <p:nvPr/>
        </p:nvGrpSpPr>
        <p:grpSpPr>
          <a:xfrm rot="-10800000">
            <a:off x="16761991" y="1133917"/>
            <a:ext cx="1186330" cy="1197956"/>
            <a:chOff x="0" y="0"/>
            <a:chExt cx="312449" cy="315511"/>
          </a:xfrm>
        </p:grpSpPr>
        <p:sp>
          <p:nvSpPr>
            <p:cNvPr id="18" name="Freeform 18"/>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9" name="TextBox 19"/>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20" name="Freeform 20"/>
          <p:cNvSpPr/>
          <p:nvPr/>
        </p:nvSpPr>
        <p:spPr>
          <a:xfrm>
            <a:off x="1323599" y="2171443"/>
            <a:ext cx="15573754" cy="6360222"/>
          </a:xfrm>
          <a:custGeom>
            <a:avLst/>
            <a:gdLst/>
            <a:ahLst/>
            <a:cxnLst/>
            <a:rect l="l" t="t" r="r" b="b"/>
            <a:pathLst>
              <a:path w="15573754" h="6360222">
                <a:moveTo>
                  <a:pt x="0" y="0"/>
                </a:moveTo>
                <a:lnTo>
                  <a:pt x="15573754" y="0"/>
                </a:lnTo>
                <a:lnTo>
                  <a:pt x="15573754" y="6360223"/>
                </a:lnTo>
                <a:lnTo>
                  <a:pt x="0" y="6360223"/>
                </a:lnTo>
                <a:lnTo>
                  <a:pt x="0" y="0"/>
                </a:lnTo>
                <a:close/>
              </a:path>
            </a:pathLst>
          </a:custGeom>
          <a:blipFill>
            <a:blip r:embed="rId2"/>
            <a:stretch>
              <a:fillRect b="-4372"/>
            </a:stretch>
          </a:blipFill>
        </p:spPr>
        <p:txBody>
          <a:bodyPr/>
          <a:lstStyle/>
          <a:p>
            <a:endParaRPr lang="en-GB"/>
          </a:p>
        </p:txBody>
      </p:sp>
      <p:sp>
        <p:nvSpPr>
          <p:cNvPr id="21" name="TextBox 21"/>
          <p:cNvSpPr txBox="1"/>
          <p:nvPr/>
        </p:nvSpPr>
        <p:spPr>
          <a:xfrm>
            <a:off x="758632" y="993616"/>
            <a:ext cx="9936830" cy="848246"/>
          </a:xfrm>
          <a:prstGeom prst="rect">
            <a:avLst/>
          </a:prstGeom>
        </p:spPr>
        <p:txBody>
          <a:bodyPr lIns="0" tIns="0" rIns="0" bIns="0" rtlCol="0" anchor="t">
            <a:spAutoFit/>
          </a:bodyPr>
          <a:lstStyle/>
          <a:p>
            <a:pPr marL="0" lvl="0" indent="0" algn="l">
              <a:lnSpc>
                <a:spcPts val="6395"/>
              </a:lnSpc>
              <a:spcBef>
                <a:spcPct val="0"/>
              </a:spcBef>
            </a:pPr>
            <a:r>
              <a:rPr lang="en-US" sz="6395" b="1" u="none" strike="noStrike">
                <a:solidFill>
                  <a:srgbClr val="0C0E0B"/>
                </a:solidFill>
                <a:latin typeface="Montaser Arabic Bold"/>
                <a:ea typeface="Montaser Arabic Bold"/>
                <a:cs typeface="Montaser Arabic Bold"/>
                <a:sym typeface="Montaser Arabic Bold"/>
              </a:rPr>
              <a:t>Proposed Hybrid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53877" y="3169867"/>
            <a:ext cx="7480295" cy="3010791"/>
            <a:chOff x="0" y="0"/>
            <a:chExt cx="1970119" cy="792966"/>
          </a:xfrm>
        </p:grpSpPr>
        <p:sp>
          <p:nvSpPr>
            <p:cNvPr id="3" name="Freeform 3"/>
            <p:cNvSpPr/>
            <p:nvPr/>
          </p:nvSpPr>
          <p:spPr>
            <a:xfrm>
              <a:off x="0" y="0"/>
              <a:ext cx="1970119" cy="792966"/>
            </a:xfrm>
            <a:custGeom>
              <a:avLst/>
              <a:gdLst/>
              <a:ahLst/>
              <a:cxnLst/>
              <a:rect l="l" t="t" r="r" b="b"/>
              <a:pathLst>
                <a:path w="1970119" h="792966">
                  <a:moveTo>
                    <a:pt x="62099" y="0"/>
                  </a:moveTo>
                  <a:lnTo>
                    <a:pt x="1908020" y="0"/>
                  </a:lnTo>
                  <a:cubicBezTo>
                    <a:pt x="1924490" y="0"/>
                    <a:pt x="1940285" y="6543"/>
                    <a:pt x="1951931" y="18188"/>
                  </a:cubicBezTo>
                  <a:cubicBezTo>
                    <a:pt x="1963576" y="29834"/>
                    <a:pt x="1970119" y="45629"/>
                    <a:pt x="1970119" y="62099"/>
                  </a:cubicBezTo>
                  <a:lnTo>
                    <a:pt x="1970119" y="730867"/>
                  </a:lnTo>
                  <a:cubicBezTo>
                    <a:pt x="1970119" y="747337"/>
                    <a:pt x="1963576" y="763132"/>
                    <a:pt x="1951931" y="774777"/>
                  </a:cubicBezTo>
                  <a:cubicBezTo>
                    <a:pt x="1940285" y="786423"/>
                    <a:pt x="1924490" y="792966"/>
                    <a:pt x="1908020" y="792966"/>
                  </a:cubicBezTo>
                  <a:lnTo>
                    <a:pt x="62099" y="792966"/>
                  </a:lnTo>
                  <a:cubicBezTo>
                    <a:pt x="45629" y="792966"/>
                    <a:pt x="29834" y="786423"/>
                    <a:pt x="18188" y="774777"/>
                  </a:cubicBezTo>
                  <a:cubicBezTo>
                    <a:pt x="6543" y="763132"/>
                    <a:pt x="0" y="747337"/>
                    <a:pt x="0" y="730867"/>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1D5A7C"/>
              </a:solidFill>
              <a:prstDash val="solid"/>
              <a:round/>
            </a:ln>
          </p:spPr>
          <p:txBody>
            <a:bodyPr/>
            <a:lstStyle/>
            <a:p>
              <a:endParaRPr lang="en-GB"/>
            </a:p>
          </p:txBody>
        </p:sp>
        <p:sp>
          <p:nvSpPr>
            <p:cNvPr id="4" name="TextBox 4"/>
            <p:cNvSpPr txBox="1"/>
            <p:nvPr/>
          </p:nvSpPr>
          <p:spPr>
            <a:xfrm>
              <a:off x="0" y="28575"/>
              <a:ext cx="1970119" cy="764391"/>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5" name="Group 5"/>
          <p:cNvGrpSpPr/>
          <p:nvPr/>
        </p:nvGrpSpPr>
        <p:grpSpPr>
          <a:xfrm>
            <a:off x="1553877" y="6460273"/>
            <a:ext cx="7480295" cy="2893277"/>
            <a:chOff x="0" y="0"/>
            <a:chExt cx="1970119" cy="762015"/>
          </a:xfrm>
        </p:grpSpPr>
        <p:sp>
          <p:nvSpPr>
            <p:cNvPr id="6" name="Freeform 6"/>
            <p:cNvSpPr/>
            <p:nvPr/>
          </p:nvSpPr>
          <p:spPr>
            <a:xfrm>
              <a:off x="0" y="0"/>
              <a:ext cx="1970119" cy="762015"/>
            </a:xfrm>
            <a:custGeom>
              <a:avLst/>
              <a:gdLst/>
              <a:ahLst/>
              <a:cxnLst/>
              <a:rect l="l" t="t" r="r" b="b"/>
              <a:pathLst>
                <a:path w="1970119" h="762015">
                  <a:moveTo>
                    <a:pt x="62099" y="0"/>
                  </a:moveTo>
                  <a:lnTo>
                    <a:pt x="1908020" y="0"/>
                  </a:lnTo>
                  <a:cubicBezTo>
                    <a:pt x="1924490" y="0"/>
                    <a:pt x="1940285" y="6543"/>
                    <a:pt x="1951931" y="18188"/>
                  </a:cubicBezTo>
                  <a:cubicBezTo>
                    <a:pt x="1963576" y="29834"/>
                    <a:pt x="1970119" y="45629"/>
                    <a:pt x="1970119" y="62099"/>
                  </a:cubicBezTo>
                  <a:lnTo>
                    <a:pt x="1970119" y="699917"/>
                  </a:lnTo>
                  <a:cubicBezTo>
                    <a:pt x="1970119" y="716386"/>
                    <a:pt x="1963576" y="732181"/>
                    <a:pt x="1951931" y="743827"/>
                  </a:cubicBezTo>
                  <a:cubicBezTo>
                    <a:pt x="1940285" y="755473"/>
                    <a:pt x="1924490" y="762015"/>
                    <a:pt x="1908020" y="762015"/>
                  </a:cubicBezTo>
                  <a:lnTo>
                    <a:pt x="62099" y="762015"/>
                  </a:lnTo>
                  <a:cubicBezTo>
                    <a:pt x="45629" y="762015"/>
                    <a:pt x="29834" y="755473"/>
                    <a:pt x="18188" y="743827"/>
                  </a:cubicBezTo>
                  <a:cubicBezTo>
                    <a:pt x="6543" y="732181"/>
                    <a:pt x="0" y="716386"/>
                    <a:pt x="0" y="699917"/>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85D3C7"/>
              </a:solidFill>
              <a:prstDash val="solid"/>
              <a:round/>
            </a:ln>
          </p:spPr>
          <p:txBody>
            <a:bodyPr/>
            <a:lstStyle/>
            <a:p>
              <a:endParaRPr lang="en-GB"/>
            </a:p>
          </p:txBody>
        </p:sp>
        <p:sp>
          <p:nvSpPr>
            <p:cNvPr id="7" name="TextBox 7"/>
            <p:cNvSpPr txBox="1"/>
            <p:nvPr/>
          </p:nvSpPr>
          <p:spPr>
            <a:xfrm>
              <a:off x="0" y="28575"/>
              <a:ext cx="1970119" cy="733440"/>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8" name="Group 8"/>
          <p:cNvGrpSpPr/>
          <p:nvPr/>
        </p:nvGrpSpPr>
        <p:grpSpPr>
          <a:xfrm>
            <a:off x="9253828" y="3169867"/>
            <a:ext cx="7480295" cy="3010791"/>
            <a:chOff x="0" y="0"/>
            <a:chExt cx="1970119" cy="792966"/>
          </a:xfrm>
        </p:grpSpPr>
        <p:sp>
          <p:nvSpPr>
            <p:cNvPr id="9" name="Freeform 9"/>
            <p:cNvSpPr/>
            <p:nvPr/>
          </p:nvSpPr>
          <p:spPr>
            <a:xfrm>
              <a:off x="0" y="0"/>
              <a:ext cx="1970119" cy="792966"/>
            </a:xfrm>
            <a:custGeom>
              <a:avLst/>
              <a:gdLst/>
              <a:ahLst/>
              <a:cxnLst/>
              <a:rect l="l" t="t" r="r" b="b"/>
              <a:pathLst>
                <a:path w="1970119" h="792966">
                  <a:moveTo>
                    <a:pt x="62099" y="0"/>
                  </a:moveTo>
                  <a:lnTo>
                    <a:pt x="1908020" y="0"/>
                  </a:lnTo>
                  <a:cubicBezTo>
                    <a:pt x="1924490" y="0"/>
                    <a:pt x="1940285" y="6543"/>
                    <a:pt x="1951931" y="18188"/>
                  </a:cubicBezTo>
                  <a:cubicBezTo>
                    <a:pt x="1963576" y="29834"/>
                    <a:pt x="1970119" y="45629"/>
                    <a:pt x="1970119" y="62099"/>
                  </a:cubicBezTo>
                  <a:lnTo>
                    <a:pt x="1970119" y="730867"/>
                  </a:lnTo>
                  <a:cubicBezTo>
                    <a:pt x="1970119" y="747337"/>
                    <a:pt x="1963576" y="763132"/>
                    <a:pt x="1951931" y="774777"/>
                  </a:cubicBezTo>
                  <a:cubicBezTo>
                    <a:pt x="1940285" y="786423"/>
                    <a:pt x="1924490" y="792966"/>
                    <a:pt x="1908020" y="792966"/>
                  </a:cubicBezTo>
                  <a:lnTo>
                    <a:pt x="62099" y="792966"/>
                  </a:lnTo>
                  <a:cubicBezTo>
                    <a:pt x="45629" y="792966"/>
                    <a:pt x="29834" y="786423"/>
                    <a:pt x="18188" y="774777"/>
                  </a:cubicBezTo>
                  <a:cubicBezTo>
                    <a:pt x="6543" y="763132"/>
                    <a:pt x="0" y="747337"/>
                    <a:pt x="0" y="730867"/>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85D3C7"/>
              </a:solidFill>
              <a:prstDash val="solid"/>
              <a:round/>
            </a:ln>
          </p:spPr>
          <p:txBody>
            <a:bodyPr/>
            <a:lstStyle/>
            <a:p>
              <a:endParaRPr lang="en-GB"/>
            </a:p>
          </p:txBody>
        </p:sp>
        <p:sp>
          <p:nvSpPr>
            <p:cNvPr id="10" name="TextBox 10"/>
            <p:cNvSpPr txBox="1"/>
            <p:nvPr/>
          </p:nvSpPr>
          <p:spPr>
            <a:xfrm>
              <a:off x="0" y="28575"/>
              <a:ext cx="1970119" cy="764391"/>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1" name="Group 11"/>
          <p:cNvGrpSpPr/>
          <p:nvPr/>
        </p:nvGrpSpPr>
        <p:grpSpPr>
          <a:xfrm>
            <a:off x="9253828" y="6460273"/>
            <a:ext cx="7480295" cy="2893277"/>
            <a:chOff x="0" y="0"/>
            <a:chExt cx="1970119" cy="762015"/>
          </a:xfrm>
        </p:grpSpPr>
        <p:sp>
          <p:nvSpPr>
            <p:cNvPr id="12" name="Freeform 12"/>
            <p:cNvSpPr/>
            <p:nvPr/>
          </p:nvSpPr>
          <p:spPr>
            <a:xfrm>
              <a:off x="0" y="0"/>
              <a:ext cx="1970119" cy="762015"/>
            </a:xfrm>
            <a:custGeom>
              <a:avLst/>
              <a:gdLst/>
              <a:ahLst/>
              <a:cxnLst/>
              <a:rect l="l" t="t" r="r" b="b"/>
              <a:pathLst>
                <a:path w="1970119" h="762015">
                  <a:moveTo>
                    <a:pt x="62099" y="0"/>
                  </a:moveTo>
                  <a:lnTo>
                    <a:pt x="1908020" y="0"/>
                  </a:lnTo>
                  <a:cubicBezTo>
                    <a:pt x="1924490" y="0"/>
                    <a:pt x="1940285" y="6543"/>
                    <a:pt x="1951931" y="18188"/>
                  </a:cubicBezTo>
                  <a:cubicBezTo>
                    <a:pt x="1963576" y="29834"/>
                    <a:pt x="1970119" y="45629"/>
                    <a:pt x="1970119" y="62099"/>
                  </a:cubicBezTo>
                  <a:lnTo>
                    <a:pt x="1970119" y="699917"/>
                  </a:lnTo>
                  <a:cubicBezTo>
                    <a:pt x="1970119" y="716386"/>
                    <a:pt x="1963576" y="732181"/>
                    <a:pt x="1951931" y="743827"/>
                  </a:cubicBezTo>
                  <a:cubicBezTo>
                    <a:pt x="1940285" y="755473"/>
                    <a:pt x="1924490" y="762015"/>
                    <a:pt x="1908020" y="762015"/>
                  </a:cubicBezTo>
                  <a:lnTo>
                    <a:pt x="62099" y="762015"/>
                  </a:lnTo>
                  <a:cubicBezTo>
                    <a:pt x="45629" y="762015"/>
                    <a:pt x="29834" y="755473"/>
                    <a:pt x="18188" y="743827"/>
                  </a:cubicBezTo>
                  <a:cubicBezTo>
                    <a:pt x="6543" y="732181"/>
                    <a:pt x="0" y="716386"/>
                    <a:pt x="0" y="699917"/>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1D5A7C"/>
              </a:solidFill>
              <a:prstDash val="solid"/>
              <a:round/>
            </a:ln>
          </p:spPr>
          <p:txBody>
            <a:bodyPr/>
            <a:lstStyle/>
            <a:p>
              <a:endParaRPr lang="en-GB"/>
            </a:p>
          </p:txBody>
        </p:sp>
        <p:sp>
          <p:nvSpPr>
            <p:cNvPr id="13" name="TextBox 13"/>
            <p:cNvSpPr txBox="1"/>
            <p:nvPr/>
          </p:nvSpPr>
          <p:spPr>
            <a:xfrm>
              <a:off x="0" y="28575"/>
              <a:ext cx="1970119" cy="733440"/>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14" name="TextBox 14"/>
          <p:cNvSpPr txBox="1"/>
          <p:nvPr/>
        </p:nvSpPr>
        <p:spPr>
          <a:xfrm>
            <a:off x="1487491" y="1573883"/>
            <a:ext cx="10128823" cy="660959"/>
          </a:xfrm>
          <a:prstGeom prst="rect">
            <a:avLst/>
          </a:prstGeom>
        </p:spPr>
        <p:txBody>
          <a:bodyPr lIns="0" tIns="0" rIns="0" bIns="0" rtlCol="0" anchor="t">
            <a:spAutoFit/>
          </a:bodyPr>
          <a:lstStyle/>
          <a:p>
            <a:pPr marL="0" lvl="0" indent="0" algn="l">
              <a:lnSpc>
                <a:spcPts val="5022"/>
              </a:lnSpc>
              <a:spcBef>
                <a:spcPct val="0"/>
              </a:spcBef>
            </a:pPr>
            <a:r>
              <a:rPr lang="en-US" sz="5022" b="1">
                <a:solidFill>
                  <a:srgbClr val="0C0E0B"/>
                </a:solidFill>
                <a:latin typeface="Montaser Arabic Bold"/>
                <a:ea typeface="Montaser Arabic Bold"/>
                <a:cs typeface="Montaser Arabic Bold"/>
                <a:sym typeface="Montaser Arabic Bold"/>
              </a:rPr>
              <a:t>Biological Feature Engineering</a:t>
            </a:r>
          </a:p>
        </p:txBody>
      </p:sp>
      <p:sp>
        <p:nvSpPr>
          <p:cNvPr id="15" name="TextBox 15"/>
          <p:cNvSpPr txBox="1"/>
          <p:nvPr/>
        </p:nvSpPr>
        <p:spPr>
          <a:xfrm>
            <a:off x="2396272" y="4336538"/>
            <a:ext cx="5289687" cy="1102872"/>
          </a:xfrm>
          <a:prstGeom prst="rect">
            <a:avLst/>
          </a:prstGeom>
        </p:spPr>
        <p:txBody>
          <a:bodyPr lIns="0" tIns="0" rIns="0" bIns="0" rtlCol="0" anchor="t">
            <a:spAutoFit/>
          </a:bodyPr>
          <a:lstStyle/>
          <a:p>
            <a:pPr marL="0" lvl="0" indent="0" algn="l">
              <a:lnSpc>
                <a:spcPts val="2211"/>
              </a:lnSpc>
              <a:spcBef>
                <a:spcPct val="0"/>
              </a:spcBef>
            </a:pPr>
            <a:r>
              <a:rPr lang="en-US" sz="1579" u="none" strike="noStrike" spc="-31">
                <a:solidFill>
                  <a:srgbClr val="2A2E30"/>
                </a:solidFill>
                <a:latin typeface="Montaser Arabic"/>
                <a:ea typeface="Montaser Arabic"/>
                <a:cs typeface="Montaser Arabic"/>
                <a:sym typeface="Montaser Arabic"/>
              </a:rPr>
              <a:t>Encodes the nucleotide substitution type (e.g., C&gt;T) and classifies each SNV as a transition (purine↔purine or pyrimidine↔pyrimidine) or transversion, capturing mutational signature patterns.</a:t>
            </a:r>
          </a:p>
        </p:txBody>
      </p:sp>
      <p:sp>
        <p:nvSpPr>
          <p:cNvPr id="16" name="TextBox 16"/>
          <p:cNvSpPr txBox="1"/>
          <p:nvPr/>
        </p:nvSpPr>
        <p:spPr>
          <a:xfrm>
            <a:off x="2396272" y="7513906"/>
            <a:ext cx="5289687" cy="1102872"/>
          </a:xfrm>
          <a:prstGeom prst="rect">
            <a:avLst/>
          </a:prstGeom>
        </p:spPr>
        <p:txBody>
          <a:bodyPr lIns="0" tIns="0" rIns="0" bIns="0" rtlCol="0" anchor="t">
            <a:spAutoFit/>
          </a:bodyPr>
          <a:lstStyle/>
          <a:p>
            <a:pPr marL="0" lvl="0" indent="0" algn="l">
              <a:lnSpc>
                <a:spcPts val="2211"/>
              </a:lnSpc>
              <a:spcBef>
                <a:spcPct val="0"/>
              </a:spcBef>
            </a:pPr>
            <a:r>
              <a:rPr lang="en-US" sz="1579" u="none" strike="noStrike" spc="-31" dirty="0">
                <a:solidFill>
                  <a:srgbClr val="2A2E30"/>
                </a:solidFill>
                <a:latin typeface="Montaser Arabic"/>
                <a:ea typeface="Montaser Arabic"/>
                <a:cs typeface="Montaser Arabic"/>
                <a:sym typeface="Montaser Arabic"/>
              </a:rPr>
              <a:t>Captures the trinucleotide context (±1 bp) and broader flanking sequence around each mutation site. Somatic and germline mutations exhibit distinct context-dependent mutational preferences.</a:t>
            </a:r>
          </a:p>
        </p:txBody>
      </p:sp>
      <p:sp>
        <p:nvSpPr>
          <p:cNvPr id="17" name="TextBox 17"/>
          <p:cNvSpPr txBox="1"/>
          <p:nvPr/>
        </p:nvSpPr>
        <p:spPr>
          <a:xfrm>
            <a:off x="2396272" y="3874580"/>
            <a:ext cx="4839724" cy="261933"/>
          </a:xfrm>
          <a:prstGeom prst="rect">
            <a:avLst/>
          </a:prstGeom>
        </p:spPr>
        <p:txBody>
          <a:bodyPr lIns="0" tIns="0" rIns="0" bIns="0" rtlCol="0" anchor="t">
            <a:spAutoFit/>
          </a:bodyPr>
          <a:lstStyle/>
          <a:p>
            <a:pPr marL="0" lvl="0" indent="0" algn="l">
              <a:lnSpc>
                <a:spcPts val="2062"/>
              </a:lnSpc>
            </a:pPr>
            <a:r>
              <a:rPr lang="en-US" sz="1874" b="1">
                <a:solidFill>
                  <a:srgbClr val="0C0E0B"/>
                </a:solidFill>
                <a:latin typeface="Montaser Arabic Bold"/>
                <a:ea typeface="Montaser Arabic Bold"/>
                <a:cs typeface="Montaser Arabic Bold"/>
                <a:sym typeface="Montaser Arabic Bold"/>
              </a:rPr>
              <a:t>Mutation Type &amp; Transitions</a:t>
            </a:r>
          </a:p>
        </p:txBody>
      </p:sp>
      <p:sp>
        <p:nvSpPr>
          <p:cNvPr id="18" name="TextBox 18"/>
          <p:cNvSpPr txBox="1"/>
          <p:nvPr/>
        </p:nvSpPr>
        <p:spPr>
          <a:xfrm>
            <a:off x="2396272" y="6961670"/>
            <a:ext cx="4839724" cy="261933"/>
          </a:xfrm>
          <a:prstGeom prst="rect">
            <a:avLst/>
          </a:prstGeom>
        </p:spPr>
        <p:txBody>
          <a:bodyPr lIns="0" tIns="0" rIns="0" bIns="0" rtlCol="0" anchor="t">
            <a:spAutoFit/>
          </a:bodyPr>
          <a:lstStyle/>
          <a:p>
            <a:pPr marL="0" lvl="0" indent="0" algn="l">
              <a:lnSpc>
                <a:spcPts val="2062"/>
              </a:lnSpc>
            </a:pPr>
            <a:r>
              <a:rPr lang="en-US" sz="1874" b="1">
                <a:solidFill>
                  <a:srgbClr val="0C0E0B"/>
                </a:solidFill>
                <a:latin typeface="Montaser Arabic Bold"/>
                <a:ea typeface="Montaser Arabic Bold"/>
                <a:cs typeface="Montaser Arabic Bold"/>
                <a:sym typeface="Montaser Arabic Bold"/>
              </a:rPr>
              <a:t>Local Sequence Context</a:t>
            </a:r>
          </a:p>
        </p:txBody>
      </p:sp>
      <p:sp>
        <p:nvSpPr>
          <p:cNvPr id="19" name="TextBox 19"/>
          <p:cNvSpPr txBox="1"/>
          <p:nvPr/>
        </p:nvSpPr>
        <p:spPr>
          <a:xfrm>
            <a:off x="10049676" y="4336538"/>
            <a:ext cx="5498118" cy="1102872"/>
          </a:xfrm>
          <a:prstGeom prst="rect">
            <a:avLst/>
          </a:prstGeom>
        </p:spPr>
        <p:txBody>
          <a:bodyPr lIns="0" tIns="0" rIns="0" bIns="0" rtlCol="0" anchor="t">
            <a:spAutoFit/>
          </a:bodyPr>
          <a:lstStyle/>
          <a:p>
            <a:pPr marL="0" lvl="0" indent="0" algn="l">
              <a:lnSpc>
                <a:spcPts val="2211"/>
              </a:lnSpc>
              <a:spcBef>
                <a:spcPct val="0"/>
              </a:spcBef>
            </a:pPr>
            <a:r>
              <a:rPr lang="en-US" sz="1579" u="none" strike="noStrike" spc="-31">
                <a:solidFill>
                  <a:srgbClr val="2A2E30"/>
                </a:solidFill>
                <a:latin typeface="Montaser Arabic"/>
                <a:ea typeface="Montaser Arabic"/>
                <a:cs typeface="Montaser Arabic"/>
                <a:sym typeface="Montaser Arabic"/>
              </a:rPr>
              <a:t>Measures GC proportion and counts CpG dinucleotides within the 201 bp window. CpG sites are hotspots for germline methylation-driven mutations, providing strong discriminative signal.</a:t>
            </a:r>
          </a:p>
        </p:txBody>
      </p:sp>
      <p:sp>
        <p:nvSpPr>
          <p:cNvPr id="20" name="TextBox 20"/>
          <p:cNvSpPr txBox="1"/>
          <p:nvPr/>
        </p:nvSpPr>
        <p:spPr>
          <a:xfrm>
            <a:off x="10049676" y="7513906"/>
            <a:ext cx="5498118" cy="1102872"/>
          </a:xfrm>
          <a:prstGeom prst="rect">
            <a:avLst/>
          </a:prstGeom>
        </p:spPr>
        <p:txBody>
          <a:bodyPr lIns="0" tIns="0" rIns="0" bIns="0" rtlCol="0" anchor="t">
            <a:spAutoFit/>
          </a:bodyPr>
          <a:lstStyle/>
          <a:p>
            <a:pPr marL="0" lvl="0" indent="0" algn="l">
              <a:lnSpc>
                <a:spcPts val="2211"/>
              </a:lnSpc>
              <a:spcBef>
                <a:spcPct val="0"/>
              </a:spcBef>
            </a:pPr>
            <a:r>
              <a:rPr lang="en-US" sz="1579" u="none" strike="noStrike" spc="-31">
                <a:solidFill>
                  <a:srgbClr val="2A2E30"/>
                </a:solidFill>
                <a:latin typeface="Montaser Arabic"/>
                <a:ea typeface="Montaser Arabic"/>
                <a:cs typeface="Montaser Arabic"/>
                <a:sym typeface="Montaser Arabic"/>
              </a:rPr>
              <a:t>Detects runs of identical nucleotides and repetitive sequence motifs near the mutation site. These structural features are associated with replication slippage and differ between mutation origins.</a:t>
            </a:r>
          </a:p>
        </p:txBody>
      </p:sp>
      <p:sp>
        <p:nvSpPr>
          <p:cNvPr id="21" name="TextBox 21"/>
          <p:cNvSpPr txBox="1"/>
          <p:nvPr/>
        </p:nvSpPr>
        <p:spPr>
          <a:xfrm>
            <a:off x="10049676" y="3874580"/>
            <a:ext cx="4839724" cy="261933"/>
          </a:xfrm>
          <a:prstGeom prst="rect">
            <a:avLst/>
          </a:prstGeom>
        </p:spPr>
        <p:txBody>
          <a:bodyPr lIns="0" tIns="0" rIns="0" bIns="0" rtlCol="0" anchor="t">
            <a:spAutoFit/>
          </a:bodyPr>
          <a:lstStyle/>
          <a:p>
            <a:pPr marL="0" lvl="0" indent="0" algn="l">
              <a:lnSpc>
                <a:spcPts val="2062"/>
              </a:lnSpc>
            </a:pPr>
            <a:r>
              <a:rPr lang="en-US" sz="1874" b="1">
                <a:solidFill>
                  <a:srgbClr val="0C0E0B"/>
                </a:solidFill>
                <a:latin typeface="Montaser Arabic Bold"/>
                <a:ea typeface="Montaser Arabic Bold"/>
                <a:cs typeface="Montaser Arabic Bold"/>
                <a:sym typeface="Montaser Arabic Bold"/>
              </a:rPr>
              <a:t>GC Content &amp; CpG Counts</a:t>
            </a:r>
          </a:p>
        </p:txBody>
      </p:sp>
      <p:sp>
        <p:nvSpPr>
          <p:cNvPr id="22" name="TextBox 22"/>
          <p:cNvSpPr txBox="1"/>
          <p:nvPr/>
        </p:nvSpPr>
        <p:spPr>
          <a:xfrm>
            <a:off x="10049676" y="6961670"/>
            <a:ext cx="4839724" cy="261933"/>
          </a:xfrm>
          <a:prstGeom prst="rect">
            <a:avLst/>
          </a:prstGeom>
        </p:spPr>
        <p:txBody>
          <a:bodyPr lIns="0" tIns="0" rIns="0" bIns="0" rtlCol="0" anchor="t">
            <a:spAutoFit/>
          </a:bodyPr>
          <a:lstStyle/>
          <a:p>
            <a:pPr marL="0" lvl="0" indent="0" algn="l">
              <a:lnSpc>
                <a:spcPts val="2062"/>
              </a:lnSpc>
            </a:pPr>
            <a:r>
              <a:rPr lang="en-US" sz="1874" b="1">
                <a:solidFill>
                  <a:srgbClr val="0C0E0B"/>
                </a:solidFill>
                <a:latin typeface="Montaser Arabic Bold"/>
                <a:ea typeface="Montaser Arabic Bold"/>
                <a:cs typeface="Montaser Arabic Bold"/>
                <a:sym typeface="Montaser Arabic Bold"/>
              </a:rPr>
              <a:t>Homopolymer Runs &amp; Repetitive Motifs</a:t>
            </a:r>
          </a:p>
        </p:txBody>
      </p:sp>
      <p:grpSp>
        <p:nvGrpSpPr>
          <p:cNvPr id="23" name="Group 23"/>
          <p:cNvGrpSpPr/>
          <p:nvPr/>
        </p:nvGrpSpPr>
        <p:grpSpPr>
          <a:xfrm>
            <a:off x="14099179" y="-2504166"/>
            <a:ext cx="1186330" cy="4320194"/>
            <a:chOff x="0" y="0"/>
            <a:chExt cx="312449" cy="1137829"/>
          </a:xfrm>
        </p:grpSpPr>
        <p:sp>
          <p:nvSpPr>
            <p:cNvPr id="24" name="Freeform 24"/>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25" name="TextBox 25"/>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6" name="Group 26"/>
          <p:cNvGrpSpPr/>
          <p:nvPr/>
        </p:nvGrpSpPr>
        <p:grpSpPr>
          <a:xfrm>
            <a:off x="15547793" y="-3472576"/>
            <a:ext cx="1186330" cy="4320194"/>
            <a:chOff x="0" y="0"/>
            <a:chExt cx="312449" cy="1137829"/>
          </a:xfrm>
        </p:grpSpPr>
        <p:sp>
          <p:nvSpPr>
            <p:cNvPr id="27" name="Freeform 27"/>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8" name="TextBox 28"/>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9" name="Group 29"/>
          <p:cNvGrpSpPr/>
          <p:nvPr/>
        </p:nvGrpSpPr>
        <p:grpSpPr>
          <a:xfrm>
            <a:off x="12646149" y="-2929629"/>
            <a:ext cx="1186330" cy="4320194"/>
            <a:chOff x="0" y="0"/>
            <a:chExt cx="312449" cy="1137829"/>
          </a:xfrm>
        </p:grpSpPr>
        <p:sp>
          <p:nvSpPr>
            <p:cNvPr id="30" name="Freeform 30"/>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31" name="TextBox 31"/>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32" name="Group 32"/>
          <p:cNvGrpSpPr/>
          <p:nvPr/>
        </p:nvGrpSpPr>
        <p:grpSpPr>
          <a:xfrm>
            <a:off x="15547793" y="952735"/>
            <a:ext cx="1186330" cy="1197956"/>
            <a:chOff x="0" y="0"/>
            <a:chExt cx="312449" cy="315511"/>
          </a:xfrm>
        </p:grpSpPr>
        <p:sp>
          <p:nvSpPr>
            <p:cNvPr id="33" name="Freeform 33"/>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34" name="TextBox 34"/>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439489" y="5669617"/>
            <a:ext cx="5457587" cy="1579920"/>
          </a:xfrm>
          <a:prstGeom prst="rect">
            <a:avLst/>
          </a:prstGeom>
        </p:spPr>
        <p:txBody>
          <a:bodyPr lIns="0" tIns="0" rIns="0" bIns="0" rtlCol="0" anchor="t">
            <a:spAutoFit/>
          </a:bodyPr>
          <a:lstStyle/>
          <a:p>
            <a:pPr marL="0" lvl="0" indent="0" algn="l">
              <a:lnSpc>
                <a:spcPts val="2520"/>
              </a:lnSpc>
              <a:spcBef>
                <a:spcPct val="0"/>
              </a:spcBef>
            </a:pPr>
            <a:r>
              <a:rPr lang="en-US" sz="1800" spc="-36" dirty="0">
                <a:solidFill>
                  <a:srgbClr val="2A2E30"/>
                </a:solidFill>
                <a:latin typeface="Montaser Arabic"/>
                <a:ea typeface="Montaser Arabic"/>
                <a:cs typeface="Montaser Arabic"/>
                <a:sym typeface="Montaser Arabic"/>
              </a:rPr>
              <a:t>Hybrid Model achieves best overall performance with MCC </a:t>
            </a:r>
            <a:r>
              <a:rPr lang="en-US" sz="1800" b="1" spc="-36" dirty="0">
                <a:solidFill>
                  <a:srgbClr val="2A2E30"/>
                </a:solidFill>
                <a:latin typeface="Montaser Arabic Bold"/>
                <a:ea typeface="Montaser Arabic Bold"/>
                <a:cs typeface="Montaser Arabic Bold"/>
                <a:sym typeface="Montaser Arabic Bold"/>
              </a:rPr>
              <a:t>0.313</a:t>
            </a:r>
            <a:r>
              <a:rPr lang="en-US" sz="1800" spc="-36" dirty="0">
                <a:solidFill>
                  <a:srgbClr val="2A2E30"/>
                </a:solidFill>
                <a:latin typeface="Montaser Arabic"/>
                <a:ea typeface="Montaser Arabic"/>
                <a:cs typeface="Montaser Arabic"/>
                <a:sym typeface="Montaser Arabic"/>
              </a:rPr>
              <a:t> and ROC-AUC </a:t>
            </a:r>
            <a:r>
              <a:rPr lang="en-US" sz="1800" b="1" spc="-36" dirty="0">
                <a:solidFill>
                  <a:srgbClr val="2A2E30"/>
                </a:solidFill>
                <a:latin typeface="Montaser Arabic Bold"/>
                <a:ea typeface="Montaser Arabic Bold"/>
                <a:cs typeface="Montaser Arabic Bold"/>
                <a:sym typeface="Montaser Arabic Bold"/>
              </a:rPr>
              <a:t>0.722</a:t>
            </a:r>
            <a:r>
              <a:rPr lang="en-US" sz="1800" spc="-36" dirty="0">
                <a:solidFill>
                  <a:srgbClr val="2A2E30"/>
                </a:solidFill>
                <a:latin typeface="Montaser Arabic"/>
                <a:ea typeface="Montaser Arabic"/>
                <a:cs typeface="Montaser Arabic"/>
                <a:sym typeface="Montaser Arabic"/>
              </a:rPr>
              <a:t>, outperforming all baseline approaches including Nucleotide Transformer + XGBoost and traditional ML models.</a:t>
            </a:r>
          </a:p>
        </p:txBody>
      </p:sp>
      <p:sp>
        <p:nvSpPr>
          <p:cNvPr id="4" name="TextBox 4"/>
          <p:cNvSpPr txBox="1"/>
          <p:nvPr/>
        </p:nvSpPr>
        <p:spPr>
          <a:xfrm>
            <a:off x="1439489" y="3422119"/>
            <a:ext cx="6090065" cy="1657985"/>
          </a:xfrm>
          <a:prstGeom prst="rect">
            <a:avLst/>
          </a:prstGeom>
        </p:spPr>
        <p:txBody>
          <a:bodyPr lIns="0" tIns="0" rIns="0" bIns="0" rtlCol="0" anchor="t">
            <a:spAutoFit/>
          </a:bodyPr>
          <a:lstStyle/>
          <a:p>
            <a:pPr marL="0" lvl="0" indent="0" algn="l">
              <a:lnSpc>
                <a:spcPts val="6399"/>
              </a:lnSpc>
              <a:spcBef>
                <a:spcPct val="0"/>
              </a:spcBef>
            </a:pPr>
            <a:r>
              <a:rPr lang="en-US" sz="6399" b="1" u="none" strike="noStrike">
                <a:solidFill>
                  <a:srgbClr val="0C0E0B"/>
                </a:solidFill>
                <a:latin typeface="Montaser Arabic Bold"/>
                <a:ea typeface="Montaser Arabic Bold"/>
                <a:cs typeface="Montaser Arabic Bold"/>
                <a:sym typeface="Montaser Arabic Bold"/>
              </a:rPr>
              <a:t>Model Performance</a:t>
            </a:r>
          </a:p>
        </p:txBody>
      </p:sp>
      <p:grpSp>
        <p:nvGrpSpPr>
          <p:cNvPr id="5" name="Group 5"/>
          <p:cNvGrpSpPr/>
          <p:nvPr/>
        </p:nvGrpSpPr>
        <p:grpSpPr>
          <a:xfrm>
            <a:off x="4331627" y="-2932058"/>
            <a:ext cx="1186330" cy="4320194"/>
            <a:chOff x="0" y="0"/>
            <a:chExt cx="312449" cy="1137829"/>
          </a:xfrm>
        </p:grpSpPr>
        <p:sp>
          <p:nvSpPr>
            <p:cNvPr id="6" name="Freeform 6"/>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7" name="TextBox 7"/>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8" name="Group 8"/>
          <p:cNvGrpSpPr/>
          <p:nvPr/>
        </p:nvGrpSpPr>
        <p:grpSpPr>
          <a:xfrm>
            <a:off x="1439489" y="-3554078"/>
            <a:ext cx="1186330" cy="4320194"/>
            <a:chOff x="0" y="0"/>
            <a:chExt cx="312449" cy="1137829"/>
          </a:xfrm>
        </p:grpSpPr>
        <p:sp>
          <p:nvSpPr>
            <p:cNvPr id="9" name="Freeform 9"/>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0" name="TextBox 10"/>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1" name="Group 11"/>
          <p:cNvGrpSpPr/>
          <p:nvPr/>
        </p:nvGrpSpPr>
        <p:grpSpPr>
          <a:xfrm>
            <a:off x="2878597" y="-2932058"/>
            <a:ext cx="1186330" cy="5090343"/>
            <a:chOff x="0" y="0"/>
            <a:chExt cx="312449" cy="1340667"/>
          </a:xfrm>
        </p:grpSpPr>
        <p:sp>
          <p:nvSpPr>
            <p:cNvPr id="12" name="Freeform 12"/>
            <p:cNvSpPr/>
            <p:nvPr/>
          </p:nvSpPr>
          <p:spPr>
            <a:xfrm>
              <a:off x="0" y="0"/>
              <a:ext cx="312449" cy="1340667"/>
            </a:xfrm>
            <a:custGeom>
              <a:avLst/>
              <a:gdLst/>
              <a:ahLst/>
              <a:cxnLst/>
              <a:rect l="l" t="t" r="r" b="b"/>
              <a:pathLst>
                <a:path w="312449" h="1340667">
                  <a:moveTo>
                    <a:pt x="156225" y="0"/>
                  </a:moveTo>
                  <a:lnTo>
                    <a:pt x="156225" y="0"/>
                  </a:lnTo>
                  <a:cubicBezTo>
                    <a:pt x="197658" y="0"/>
                    <a:pt x="237394" y="16459"/>
                    <a:pt x="266692" y="45757"/>
                  </a:cubicBezTo>
                  <a:cubicBezTo>
                    <a:pt x="295990" y="75055"/>
                    <a:pt x="312449" y="114791"/>
                    <a:pt x="312449" y="156225"/>
                  </a:cubicBezTo>
                  <a:lnTo>
                    <a:pt x="312449" y="1184442"/>
                  </a:lnTo>
                  <a:cubicBezTo>
                    <a:pt x="312449" y="1225875"/>
                    <a:pt x="295990" y="1265612"/>
                    <a:pt x="266692" y="1294910"/>
                  </a:cubicBezTo>
                  <a:cubicBezTo>
                    <a:pt x="237394" y="1324207"/>
                    <a:pt x="197658" y="1340667"/>
                    <a:pt x="156225" y="1340667"/>
                  </a:cubicBezTo>
                  <a:lnTo>
                    <a:pt x="156225" y="1340667"/>
                  </a:lnTo>
                  <a:cubicBezTo>
                    <a:pt x="114791" y="1340667"/>
                    <a:pt x="75055" y="1324207"/>
                    <a:pt x="45757" y="1294910"/>
                  </a:cubicBezTo>
                  <a:cubicBezTo>
                    <a:pt x="16459" y="1265612"/>
                    <a:pt x="0" y="1225875"/>
                    <a:pt x="0" y="1184442"/>
                  </a:cubicBezTo>
                  <a:lnTo>
                    <a:pt x="0" y="156225"/>
                  </a:lnTo>
                  <a:cubicBezTo>
                    <a:pt x="0" y="114791"/>
                    <a:pt x="16459" y="75055"/>
                    <a:pt x="45757" y="45757"/>
                  </a:cubicBezTo>
                  <a:cubicBezTo>
                    <a:pt x="75055" y="16459"/>
                    <a:pt x="114791" y="0"/>
                    <a:pt x="156225" y="0"/>
                  </a:cubicBezTo>
                  <a:close/>
                </a:path>
              </a:pathLst>
            </a:custGeom>
            <a:solidFill>
              <a:srgbClr val="1D5A7C"/>
            </a:solidFill>
            <a:ln cap="rnd">
              <a:noFill/>
              <a:prstDash val="solid"/>
              <a:round/>
            </a:ln>
          </p:spPr>
          <p:txBody>
            <a:bodyPr/>
            <a:lstStyle/>
            <a:p>
              <a:endParaRPr lang="en-GB"/>
            </a:p>
          </p:txBody>
        </p:sp>
        <p:sp>
          <p:nvSpPr>
            <p:cNvPr id="13" name="TextBox 13"/>
            <p:cNvSpPr txBox="1"/>
            <p:nvPr/>
          </p:nvSpPr>
          <p:spPr>
            <a:xfrm>
              <a:off x="0" y="28575"/>
              <a:ext cx="312449" cy="1312092"/>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4" name="Group 14"/>
          <p:cNvGrpSpPr/>
          <p:nvPr/>
        </p:nvGrpSpPr>
        <p:grpSpPr>
          <a:xfrm>
            <a:off x="1439489" y="960329"/>
            <a:ext cx="1186330" cy="1197956"/>
            <a:chOff x="0" y="0"/>
            <a:chExt cx="312449" cy="315511"/>
          </a:xfrm>
        </p:grpSpPr>
        <p:sp>
          <p:nvSpPr>
            <p:cNvPr id="15" name="Freeform 15"/>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6" name="TextBox 16"/>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graphicFrame>
        <p:nvGraphicFramePr>
          <p:cNvPr id="17" name="Table 16">
            <a:extLst>
              <a:ext uri="{FF2B5EF4-FFF2-40B4-BE49-F238E27FC236}">
                <a16:creationId xmlns:a16="http://schemas.microsoft.com/office/drawing/2014/main" id="{3350EC4C-5F13-CF6D-9790-EAB021973B2C}"/>
              </a:ext>
            </a:extLst>
          </p:cNvPr>
          <p:cNvGraphicFramePr>
            <a:graphicFrameLocks noGrp="1"/>
          </p:cNvGraphicFramePr>
          <p:nvPr>
            <p:extLst>
              <p:ext uri="{D42A27DB-BD31-4B8C-83A1-F6EECF244321}">
                <p14:modId xmlns:p14="http://schemas.microsoft.com/office/powerpoint/2010/main" val="3903970699"/>
              </p:ext>
            </p:extLst>
          </p:nvPr>
        </p:nvGraphicFramePr>
        <p:xfrm>
          <a:off x="7620000" y="1680314"/>
          <a:ext cx="9807358" cy="6926371"/>
        </p:xfrm>
        <a:graphic>
          <a:graphicData uri="http://schemas.openxmlformats.org/drawingml/2006/table">
            <a:tbl>
              <a:tblPr firstRow="1" bandRow="1">
                <a:tableStyleId>{2D5ABB26-0587-4C30-8999-92F81FD0307C}</a:tableStyleId>
              </a:tblPr>
              <a:tblGrid>
                <a:gridCol w="3328946">
                  <a:extLst>
                    <a:ext uri="{9D8B030D-6E8A-4147-A177-3AD203B41FA5}">
                      <a16:colId xmlns:a16="http://schemas.microsoft.com/office/drawing/2014/main" val="1209267852"/>
                    </a:ext>
                  </a:extLst>
                </a:gridCol>
                <a:gridCol w="3362163">
                  <a:extLst>
                    <a:ext uri="{9D8B030D-6E8A-4147-A177-3AD203B41FA5}">
                      <a16:colId xmlns:a16="http://schemas.microsoft.com/office/drawing/2014/main" val="1270770699"/>
                    </a:ext>
                  </a:extLst>
                </a:gridCol>
                <a:gridCol w="3116249">
                  <a:extLst>
                    <a:ext uri="{9D8B030D-6E8A-4147-A177-3AD203B41FA5}">
                      <a16:colId xmlns:a16="http://schemas.microsoft.com/office/drawing/2014/main" val="3958043856"/>
                    </a:ext>
                  </a:extLst>
                </a:gridCol>
              </a:tblGrid>
              <a:tr h="774558">
                <a:tc>
                  <a:txBody>
                    <a:bodyPr/>
                    <a:lstStyle/>
                    <a:p>
                      <a:pPr algn="ctr"/>
                      <a:r>
                        <a:rPr lang="en-US" b="1" u="sng" dirty="0">
                          <a:solidFill>
                            <a:schemeClr val="bg1"/>
                          </a:solidFill>
                        </a:rPr>
                        <a:t>Model</a:t>
                      </a:r>
                      <a:endParaRPr lang="en-GB" b="1" u="sng" dirty="0">
                        <a:solidFill>
                          <a:schemeClr val="bg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D5A7C"/>
                    </a:solidFill>
                  </a:tcPr>
                </a:tc>
                <a:tc>
                  <a:txBody>
                    <a:bodyPr/>
                    <a:lstStyle/>
                    <a:p>
                      <a:pPr algn="ctr"/>
                      <a:r>
                        <a:rPr lang="en-US" b="1" u="sng" dirty="0">
                          <a:solidFill>
                            <a:schemeClr val="bg1"/>
                          </a:solidFill>
                        </a:rPr>
                        <a:t>ROC-AUC</a:t>
                      </a:r>
                      <a:endParaRPr lang="en-GB" b="1" u="sng" dirty="0">
                        <a:solidFill>
                          <a:schemeClr val="bg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D5A7C"/>
                    </a:solidFill>
                  </a:tcPr>
                </a:tc>
                <a:tc>
                  <a:txBody>
                    <a:bodyPr/>
                    <a:lstStyle/>
                    <a:p>
                      <a:pPr algn="ctr"/>
                      <a:r>
                        <a:rPr lang="en-US" b="1" u="sng" dirty="0">
                          <a:solidFill>
                            <a:schemeClr val="bg1"/>
                          </a:solidFill>
                        </a:rPr>
                        <a:t>MCC</a:t>
                      </a:r>
                      <a:endParaRPr lang="en-GB" b="1" u="sng" dirty="0">
                        <a:solidFill>
                          <a:schemeClr val="bg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D5A7C"/>
                    </a:solidFill>
                  </a:tcPr>
                </a:tc>
                <a:extLst>
                  <a:ext uri="{0D108BD9-81ED-4DB2-BD59-A6C34878D82A}">
                    <a16:rowId xmlns:a16="http://schemas.microsoft.com/office/drawing/2014/main" val="3592416966"/>
                  </a:ext>
                </a:extLst>
              </a:tr>
              <a:tr h="1143000">
                <a:tc>
                  <a:txBody>
                    <a:bodyPr/>
                    <a:lstStyle/>
                    <a:p>
                      <a:pPr algn="ctr"/>
                      <a:r>
                        <a:rPr lang="en-GB" dirty="0"/>
                        <a:t>LR (k-mer Features)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GB" dirty="0"/>
                        <a:t>0.612</a:t>
                      </a:r>
                    </a:p>
                  </a:txBody>
                  <a:tcPr anchor="ctr">
                    <a:lnT w="12700" cap="flat" cmpd="sng" algn="ctr">
                      <a:solidFill>
                        <a:schemeClr val="tx1"/>
                      </a:solidFill>
                      <a:prstDash val="solid"/>
                      <a:round/>
                      <a:headEnd type="none" w="med" len="med"/>
                      <a:tailEnd type="none" w="med" len="med"/>
                    </a:lnT>
                  </a:tcPr>
                </a:tc>
                <a:tc>
                  <a:txBody>
                    <a:bodyPr/>
                    <a:lstStyle/>
                    <a:p>
                      <a:pPr algn="ctr"/>
                      <a:r>
                        <a:rPr lang="en-GB" dirty="0"/>
                        <a:t>0.173</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64207534"/>
                  </a:ext>
                </a:extLst>
              </a:tr>
              <a:tr h="1066800">
                <a:tc>
                  <a:txBody>
                    <a:bodyPr/>
                    <a:lstStyle/>
                    <a:p>
                      <a:pPr algn="ctr"/>
                      <a:r>
                        <a:rPr lang="en-GB" dirty="0"/>
                        <a:t>1D CNN (201bp Sequence)</a:t>
                      </a:r>
                    </a:p>
                  </a:txBody>
                  <a:tcPr anchor="ctr">
                    <a:lnL w="12700" cap="flat" cmpd="sng" algn="ctr">
                      <a:solidFill>
                        <a:schemeClr val="tx1"/>
                      </a:solidFill>
                      <a:prstDash val="solid"/>
                      <a:round/>
                      <a:headEnd type="none" w="med" len="med"/>
                      <a:tailEnd type="none" w="med" len="med"/>
                    </a:lnL>
                  </a:tcPr>
                </a:tc>
                <a:tc>
                  <a:txBody>
                    <a:bodyPr/>
                    <a:lstStyle/>
                    <a:p>
                      <a:pPr algn="ctr"/>
                      <a:r>
                        <a:rPr lang="en-GB" dirty="0"/>
                        <a:t>0.650</a:t>
                      </a:r>
                    </a:p>
                  </a:txBody>
                  <a:tcPr anchor="ctr"/>
                </a:tc>
                <a:tc>
                  <a:txBody>
                    <a:bodyPr/>
                    <a:lstStyle/>
                    <a:p>
                      <a:pPr algn="ctr"/>
                      <a:r>
                        <a:rPr lang="en-GB" dirty="0"/>
                        <a:t>0.221</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32822894"/>
                  </a:ext>
                </a:extLst>
              </a:tr>
              <a:tr h="1066800">
                <a:tc>
                  <a:txBody>
                    <a:bodyPr/>
                    <a:lstStyle/>
                    <a:p>
                      <a:pPr algn="ctr"/>
                      <a:r>
                        <a:rPr lang="en-GB" dirty="0"/>
                        <a:t>XGBoost focused on MUT </a:t>
                      </a:r>
                    </a:p>
                  </a:txBody>
                  <a:tcPr anchor="ctr">
                    <a:lnL w="12700" cap="flat" cmpd="sng" algn="ctr">
                      <a:solidFill>
                        <a:schemeClr val="tx1"/>
                      </a:solidFill>
                      <a:prstDash val="solid"/>
                      <a:round/>
                      <a:headEnd type="none" w="med" len="med"/>
                      <a:tailEnd type="none" w="med" len="med"/>
                    </a:lnL>
                  </a:tcPr>
                </a:tc>
                <a:tc>
                  <a:txBody>
                    <a:bodyPr/>
                    <a:lstStyle/>
                    <a:p>
                      <a:pPr algn="ctr"/>
                      <a:r>
                        <a:rPr lang="en-GB" dirty="0"/>
                        <a:t>0.685</a:t>
                      </a:r>
                    </a:p>
                  </a:txBody>
                  <a:tcPr anchor="ctr"/>
                </a:tc>
                <a:tc>
                  <a:txBody>
                    <a:bodyPr/>
                    <a:lstStyle/>
                    <a:p>
                      <a:pPr algn="ctr"/>
                      <a:r>
                        <a:rPr lang="en-GB" dirty="0"/>
                        <a:t>0.277 </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23318265"/>
                  </a:ext>
                </a:extLst>
              </a:tr>
              <a:tr h="990600">
                <a:tc>
                  <a:txBody>
                    <a:bodyPr/>
                    <a:lstStyle/>
                    <a:p>
                      <a:pPr algn="ctr"/>
                      <a:r>
                        <a:rPr lang="en-GB" dirty="0"/>
                        <a:t>XGBoost (k-mer Features) </a:t>
                      </a:r>
                    </a:p>
                  </a:txBody>
                  <a:tcPr anchor="ctr">
                    <a:lnL w="12700" cap="flat" cmpd="sng" algn="ctr">
                      <a:solidFill>
                        <a:schemeClr val="tx1"/>
                      </a:solidFill>
                      <a:prstDash val="solid"/>
                      <a:round/>
                      <a:headEnd type="none" w="med" len="med"/>
                      <a:tailEnd type="none" w="med" len="med"/>
                    </a:lnL>
                  </a:tcPr>
                </a:tc>
                <a:tc>
                  <a:txBody>
                    <a:bodyPr/>
                    <a:lstStyle/>
                    <a:p>
                      <a:pPr algn="ctr"/>
                      <a:r>
                        <a:rPr lang="en-GB" dirty="0"/>
                        <a:t>0.681</a:t>
                      </a:r>
                    </a:p>
                  </a:txBody>
                  <a:tcPr anchor="ctr"/>
                </a:tc>
                <a:tc>
                  <a:txBody>
                    <a:bodyPr/>
                    <a:lstStyle/>
                    <a:p>
                      <a:pPr algn="ctr"/>
                      <a:r>
                        <a:rPr lang="en-GB" dirty="0"/>
                        <a:t>0.267</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9672286"/>
                  </a:ext>
                </a:extLst>
              </a:tr>
              <a:tr h="990600">
                <a:tc>
                  <a:txBody>
                    <a:bodyPr/>
                    <a:lstStyle/>
                    <a:p>
                      <a:pPr algn="ctr"/>
                      <a:r>
                        <a:rPr lang="en-GB" dirty="0"/>
                        <a:t>NT+ XGBoost </a:t>
                      </a:r>
                    </a:p>
                  </a:txBody>
                  <a:tcPr anchor="ctr">
                    <a:lnL w="12700" cap="flat" cmpd="sng" algn="ctr">
                      <a:solidFill>
                        <a:schemeClr val="tx1"/>
                      </a:solidFill>
                      <a:prstDash val="solid"/>
                      <a:round/>
                      <a:headEnd type="none" w="med" len="med"/>
                      <a:tailEnd type="none" w="med" len="med"/>
                    </a:lnL>
                  </a:tcPr>
                </a:tc>
                <a:tc>
                  <a:txBody>
                    <a:bodyPr/>
                    <a:lstStyle/>
                    <a:p>
                      <a:pPr algn="ctr"/>
                      <a:r>
                        <a:rPr lang="en-GB" dirty="0"/>
                        <a:t>0.692</a:t>
                      </a:r>
                    </a:p>
                  </a:txBody>
                  <a:tcPr anchor="ctr"/>
                </a:tc>
                <a:tc>
                  <a:txBody>
                    <a:bodyPr/>
                    <a:lstStyle/>
                    <a:p>
                      <a:pPr algn="ctr"/>
                      <a:r>
                        <a:rPr lang="en-GB" dirty="0"/>
                        <a:t>0.270</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6352680"/>
                  </a:ext>
                </a:extLst>
              </a:tr>
              <a:tr h="894013">
                <a:tc>
                  <a:txBody>
                    <a:bodyPr/>
                    <a:lstStyle/>
                    <a:p>
                      <a:pPr algn="ctr"/>
                      <a:r>
                        <a:rPr lang="en-GB" b="1" dirty="0"/>
                        <a:t>Hybrid Model </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b="1" dirty="0"/>
                        <a:t>0.722</a:t>
                      </a:r>
                    </a:p>
                  </a:txBody>
                  <a:tcPr anchor="ctr">
                    <a:lnB w="12700" cap="flat" cmpd="sng" algn="ctr">
                      <a:solidFill>
                        <a:schemeClr val="tx1"/>
                      </a:solidFill>
                      <a:prstDash val="solid"/>
                      <a:round/>
                      <a:headEnd type="none" w="med" len="med"/>
                      <a:tailEnd type="none" w="med" len="med"/>
                    </a:lnB>
                  </a:tcPr>
                </a:tc>
                <a:tc>
                  <a:txBody>
                    <a:bodyPr/>
                    <a:lstStyle/>
                    <a:p>
                      <a:pPr algn="ctr"/>
                      <a:r>
                        <a:rPr lang="en-GB" b="1" dirty="0"/>
                        <a:t>0.313</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833427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92861" y="0"/>
            <a:ext cx="7030707" cy="10287000"/>
            <a:chOff x="0" y="0"/>
            <a:chExt cx="1089240" cy="1593725"/>
          </a:xfrm>
        </p:grpSpPr>
        <p:sp>
          <p:nvSpPr>
            <p:cNvPr id="3" name="Freeform 3"/>
            <p:cNvSpPr/>
            <p:nvPr/>
          </p:nvSpPr>
          <p:spPr>
            <a:xfrm>
              <a:off x="0" y="0"/>
              <a:ext cx="1089240" cy="1593725"/>
            </a:xfrm>
            <a:custGeom>
              <a:avLst/>
              <a:gdLst/>
              <a:ahLst/>
              <a:cxnLst/>
              <a:rect l="l" t="t" r="r" b="b"/>
              <a:pathLst>
                <a:path w="1089240" h="1593725">
                  <a:moveTo>
                    <a:pt x="66069" y="0"/>
                  </a:moveTo>
                  <a:lnTo>
                    <a:pt x="1023171" y="0"/>
                  </a:lnTo>
                  <a:cubicBezTo>
                    <a:pt x="1059660" y="0"/>
                    <a:pt x="1089240" y="29580"/>
                    <a:pt x="1089240" y="66069"/>
                  </a:cubicBezTo>
                  <a:lnTo>
                    <a:pt x="1089240" y="1527656"/>
                  </a:lnTo>
                  <a:cubicBezTo>
                    <a:pt x="1089240" y="1545179"/>
                    <a:pt x="1082280" y="1561984"/>
                    <a:pt x="1069889" y="1574374"/>
                  </a:cubicBezTo>
                  <a:cubicBezTo>
                    <a:pt x="1057499" y="1586765"/>
                    <a:pt x="1040694" y="1593725"/>
                    <a:pt x="1023171" y="1593725"/>
                  </a:cubicBezTo>
                  <a:lnTo>
                    <a:pt x="66069" y="1593725"/>
                  </a:lnTo>
                  <a:cubicBezTo>
                    <a:pt x="29580" y="1593725"/>
                    <a:pt x="0" y="1564145"/>
                    <a:pt x="0" y="1527656"/>
                  </a:cubicBezTo>
                  <a:lnTo>
                    <a:pt x="0" y="66069"/>
                  </a:lnTo>
                  <a:cubicBezTo>
                    <a:pt x="0" y="48547"/>
                    <a:pt x="6961" y="31742"/>
                    <a:pt x="19351" y="19351"/>
                  </a:cubicBezTo>
                  <a:cubicBezTo>
                    <a:pt x="31742" y="6961"/>
                    <a:pt x="48547" y="0"/>
                    <a:pt x="66069" y="0"/>
                  </a:cubicBezTo>
                  <a:close/>
                </a:path>
              </a:pathLst>
            </a:custGeom>
            <a:blipFill>
              <a:blip r:embed="rId2"/>
              <a:stretch>
                <a:fillRect l="-55" r="-55"/>
              </a:stretch>
            </a:blipFill>
          </p:spPr>
          <p:txBody>
            <a:bodyPr/>
            <a:lstStyle/>
            <a:p>
              <a:endParaRPr lang="en-GB"/>
            </a:p>
          </p:txBody>
        </p:sp>
      </p:grpSp>
      <p:grpSp>
        <p:nvGrpSpPr>
          <p:cNvPr id="4" name="Group 4"/>
          <p:cNvGrpSpPr/>
          <p:nvPr/>
        </p:nvGrpSpPr>
        <p:grpSpPr>
          <a:xfrm>
            <a:off x="3168360" y="-2936105"/>
            <a:ext cx="1186330" cy="4320194"/>
            <a:chOff x="0" y="0"/>
            <a:chExt cx="312449" cy="1137829"/>
          </a:xfrm>
        </p:grpSpPr>
        <p:sp>
          <p:nvSpPr>
            <p:cNvPr id="5" name="Freeform 5"/>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6" name="TextBox 6"/>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7" name="Group 7"/>
          <p:cNvGrpSpPr/>
          <p:nvPr/>
        </p:nvGrpSpPr>
        <p:grpSpPr>
          <a:xfrm>
            <a:off x="1715330" y="-854415"/>
            <a:ext cx="1186330" cy="3208957"/>
            <a:chOff x="0" y="0"/>
            <a:chExt cx="312449" cy="845157"/>
          </a:xfrm>
        </p:grpSpPr>
        <p:sp>
          <p:nvSpPr>
            <p:cNvPr id="8" name="Freeform 8"/>
            <p:cNvSpPr/>
            <p:nvPr/>
          </p:nvSpPr>
          <p:spPr>
            <a:xfrm>
              <a:off x="0" y="0"/>
              <a:ext cx="312449" cy="845157"/>
            </a:xfrm>
            <a:custGeom>
              <a:avLst/>
              <a:gdLst/>
              <a:ahLst/>
              <a:cxnLst/>
              <a:rect l="l" t="t" r="r" b="b"/>
              <a:pathLst>
                <a:path w="312449" h="845157">
                  <a:moveTo>
                    <a:pt x="156225" y="0"/>
                  </a:moveTo>
                  <a:lnTo>
                    <a:pt x="156225" y="0"/>
                  </a:lnTo>
                  <a:cubicBezTo>
                    <a:pt x="197658" y="0"/>
                    <a:pt x="237394" y="16459"/>
                    <a:pt x="266692" y="45757"/>
                  </a:cubicBezTo>
                  <a:cubicBezTo>
                    <a:pt x="295990" y="75055"/>
                    <a:pt x="312449" y="114791"/>
                    <a:pt x="312449" y="156225"/>
                  </a:cubicBezTo>
                  <a:lnTo>
                    <a:pt x="312449" y="688933"/>
                  </a:lnTo>
                  <a:cubicBezTo>
                    <a:pt x="312449" y="730366"/>
                    <a:pt x="295990" y="770103"/>
                    <a:pt x="266692" y="799400"/>
                  </a:cubicBezTo>
                  <a:cubicBezTo>
                    <a:pt x="237394" y="828698"/>
                    <a:pt x="197658" y="845157"/>
                    <a:pt x="156225" y="845157"/>
                  </a:cubicBezTo>
                  <a:lnTo>
                    <a:pt x="156225" y="845157"/>
                  </a:lnTo>
                  <a:cubicBezTo>
                    <a:pt x="114791" y="845157"/>
                    <a:pt x="75055" y="828698"/>
                    <a:pt x="45757" y="799400"/>
                  </a:cubicBezTo>
                  <a:cubicBezTo>
                    <a:pt x="16459" y="770103"/>
                    <a:pt x="0" y="730366"/>
                    <a:pt x="0" y="688933"/>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9" name="TextBox 9"/>
            <p:cNvSpPr txBox="1"/>
            <p:nvPr/>
          </p:nvSpPr>
          <p:spPr>
            <a:xfrm>
              <a:off x="0" y="28575"/>
              <a:ext cx="312449" cy="816582"/>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0" name="Group 10"/>
          <p:cNvGrpSpPr/>
          <p:nvPr/>
        </p:nvGrpSpPr>
        <p:grpSpPr>
          <a:xfrm>
            <a:off x="262300" y="-3690375"/>
            <a:ext cx="1186330" cy="4320194"/>
            <a:chOff x="0" y="0"/>
            <a:chExt cx="312449" cy="1137829"/>
          </a:xfrm>
        </p:grpSpPr>
        <p:sp>
          <p:nvSpPr>
            <p:cNvPr id="11" name="Freeform 11"/>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84D4C7"/>
            </a:solidFill>
          </p:spPr>
          <p:txBody>
            <a:bodyPr/>
            <a:lstStyle/>
            <a:p>
              <a:endParaRPr lang="en-GB"/>
            </a:p>
          </p:txBody>
        </p:sp>
        <p:sp>
          <p:nvSpPr>
            <p:cNvPr id="12" name="TextBox 12"/>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3" name="Group 13"/>
          <p:cNvGrpSpPr/>
          <p:nvPr/>
        </p:nvGrpSpPr>
        <p:grpSpPr>
          <a:xfrm>
            <a:off x="262300" y="785111"/>
            <a:ext cx="1186330" cy="1197956"/>
            <a:chOff x="0" y="0"/>
            <a:chExt cx="312449" cy="315511"/>
          </a:xfrm>
        </p:grpSpPr>
        <p:sp>
          <p:nvSpPr>
            <p:cNvPr id="14" name="Freeform 14"/>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5" name="TextBox 15"/>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6" name="Group 16"/>
          <p:cNvGrpSpPr/>
          <p:nvPr/>
        </p:nvGrpSpPr>
        <p:grpSpPr>
          <a:xfrm>
            <a:off x="16269888" y="6578640"/>
            <a:ext cx="1186330" cy="5507734"/>
            <a:chOff x="0" y="0"/>
            <a:chExt cx="312449" cy="1450597"/>
          </a:xfrm>
        </p:grpSpPr>
        <p:sp>
          <p:nvSpPr>
            <p:cNvPr id="17" name="Freeform 17"/>
            <p:cNvSpPr/>
            <p:nvPr/>
          </p:nvSpPr>
          <p:spPr>
            <a:xfrm>
              <a:off x="0" y="0"/>
              <a:ext cx="312449" cy="1450597"/>
            </a:xfrm>
            <a:custGeom>
              <a:avLst/>
              <a:gdLst/>
              <a:ahLst/>
              <a:cxnLst/>
              <a:rect l="l" t="t" r="r" b="b"/>
              <a:pathLst>
                <a:path w="312449" h="1450597">
                  <a:moveTo>
                    <a:pt x="156225" y="0"/>
                  </a:moveTo>
                  <a:lnTo>
                    <a:pt x="156225" y="0"/>
                  </a:lnTo>
                  <a:cubicBezTo>
                    <a:pt x="197658" y="0"/>
                    <a:pt x="237394" y="16459"/>
                    <a:pt x="266692" y="45757"/>
                  </a:cubicBezTo>
                  <a:cubicBezTo>
                    <a:pt x="295990" y="75055"/>
                    <a:pt x="312449" y="114791"/>
                    <a:pt x="312449" y="156225"/>
                  </a:cubicBezTo>
                  <a:lnTo>
                    <a:pt x="312449" y="1294372"/>
                  </a:lnTo>
                  <a:cubicBezTo>
                    <a:pt x="312449" y="1335806"/>
                    <a:pt x="295990" y="1375542"/>
                    <a:pt x="266692" y="1404840"/>
                  </a:cubicBezTo>
                  <a:cubicBezTo>
                    <a:pt x="237394" y="1434137"/>
                    <a:pt x="197658" y="1450597"/>
                    <a:pt x="156225" y="1450597"/>
                  </a:cubicBezTo>
                  <a:lnTo>
                    <a:pt x="156225" y="1450597"/>
                  </a:lnTo>
                  <a:cubicBezTo>
                    <a:pt x="114791" y="1450597"/>
                    <a:pt x="75055" y="1434137"/>
                    <a:pt x="45757" y="1404840"/>
                  </a:cubicBezTo>
                  <a:cubicBezTo>
                    <a:pt x="16459" y="1375542"/>
                    <a:pt x="0" y="1335806"/>
                    <a:pt x="0" y="1294372"/>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8" name="TextBox 18"/>
            <p:cNvSpPr txBox="1"/>
            <p:nvPr/>
          </p:nvSpPr>
          <p:spPr>
            <a:xfrm>
              <a:off x="0" y="28575"/>
              <a:ext cx="312449" cy="1422022"/>
            </a:xfrm>
            <a:prstGeom prst="rect">
              <a:avLst/>
            </a:prstGeom>
          </p:spPr>
          <p:txBody>
            <a:bodyPr lIns="50800" tIns="50800" rIns="50800" bIns="50800" rtlCol="0" anchor="ctr"/>
            <a:lstStyle/>
            <a:p>
              <a:pPr marL="0" lvl="0" indent="0" algn="ctr">
                <a:lnSpc>
                  <a:spcPts val="2640"/>
                </a:lnSpc>
              </a:pPr>
              <a:endParaRPr/>
            </a:p>
          </p:txBody>
        </p:sp>
      </p:grpSp>
      <p:grpSp>
        <p:nvGrpSpPr>
          <p:cNvPr id="19" name="Group 19"/>
          <p:cNvGrpSpPr/>
          <p:nvPr/>
        </p:nvGrpSpPr>
        <p:grpSpPr>
          <a:xfrm>
            <a:off x="17727332" y="6865808"/>
            <a:ext cx="1186330" cy="4492540"/>
            <a:chOff x="0" y="0"/>
            <a:chExt cx="312449" cy="1183220"/>
          </a:xfrm>
        </p:grpSpPr>
        <p:sp>
          <p:nvSpPr>
            <p:cNvPr id="20" name="Freeform 20"/>
            <p:cNvSpPr/>
            <p:nvPr/>
          </p:nvSpPr>
          <p:spPr>
            <a:xfrm>
              <a:off x="0" y="0"/>
              <a:ext cx="312449" cy="1183220"/>
            </a:xfrm>
            <a:custGeom>
              <a:avLst/>
              <a:gdLst/>
              <a:ahLst/>
              <a:cxnLst/>
              <a:rect l="l" t="t" r="r" b="b"/>
              <a:pathLst>
                <a:path w="312449" h="1183220">
                  <a:moveTo>
                    <a:pt x="156225" y="0"/>
                  </a:moveTo>
                  <a:lnTo>
                    <a:pt x="156225" y="0"/>
                  </a:lnTo>
                  <a:cubicBezTo>
                    <a:pt x="197658" y="0"/>
                    <a:pt x="237394" y="16459"/>
                    <a:pt x="266692" y="45757"/>
                  </a:cubicBezTo>
                  <a:cubicBezTo>
                    <a:pt x="295990" y="75055"/>
                    <a:pt x="312449" y="114791"/>
                    <a:pt x="312449" y="156225"/>
                  </a:cubicBezTo>
                  <a:lnTo>
                    <a:pt x="312449" y="1026996"/>
                  </a:lnTo>
                  <a:cubicBezTo>
                    <a:pt x="312449" y="1068429"/>
                    <a:pt x="295990" y="1108165"/>
                    <a:pt x="266692" y="1137463"/>
                  </a:cubicBezTo>
                  <a:cubicBezTo>
                    <a:pt x="237394" y="1166761"/>
                    <a:pt x="197658" y="1183220"/>
                    <a:pt x="156225" y="1183220"/>
                  </a:cubicBezTo>
                  <a:lnTo>
                    <a:pt x="156225" y="1183220"/>
                  </a:lnTo>
                  <a:cubicBezTo>
                    <a:pt x="114791" y="1183220"/>
                    <a:pt x="75055" y="1166761"/>
                    <a:pt x="45757" y="1137463"/>
                  </a:cubicBezTo>
                  <a:cubicBezTo>
                    <a:pt x="16459" y="1108165"/>
                    <a:pt x="0" y="1068429"/>
                    <a:pt x="0" y="1026996"/>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21" name="TextBox 21"/>
            <p:cNvSpPr txBox="1"/>
            <p:nvPr/>
          </p:nvSpPr>
          <p:spPr>
            <a:xfrm>
              <a:off x="0" y="28575"/>
              <a:ext cx="312449" cy="1154645"/>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22" name="Group 22"/>
          <p:cNvGrpSpPr/>
          <p:nvPr/>
        </p:nvGrpSpPr>
        <p:grpSpPr>
          <a:xfrm>
            <a:off x="17722918" y="5468013"/>
            <a:ext cx="1186330" cy="1197956"/>
            <a:chOff x="0" y="0"/>
            <a:chExt cx="312449" cy="315511"/>
          </a:xfrm>
        </p:grpSpPr>
        <p:sp>
          <p:nvSpPr>
            <p:cNvPr id="23" name="Freeform 23"/>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24" name="TextBox 24"/>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25" name="TextBox 25"/>
          <p:cNvSpPr txBox="1"/>
          <p:nvPr/>
        </p:nvSpPr>
        <p:spPr>
          <a:xfrm>
            <a:off x="2308495" y="2972052"/>
            <a:ext cx="6090065" cy="2272906"/>
          </a:xfrm>
          <a:prstGeom prst="rect">
            <a:avLst/>
          </a:prstGeom>
        </p:spPr>
        <p:txBody>
          <a:bodyPr lIns="0" tIns="0" rIns="0" bIns="0" rtlCol="0" anchor="t">
            <a:spAutoFit/>
          </a:bodyPr>
          <a:lstStyle/>
          <a:p>
            <a:pPr marL="0" lvl="0" indent="0" algn="l">
              <a:lnSpc>
                <a:spcPts val="5859"/>
              </a:lnSpc>
              <a:spcBef>
                <a:spcPct val="0"/>
              </a:spcBef>
            </a:pPr>
            <a:r>
              <a:rPr lang="en-US" sz="5859" b="1" u="none" strike="noStrike">
                <a:solidFill>
                  <a:srgbClr val="0C0E0B"/>
                </a:solidFill>
                <a:latin typeface="Montaser Arabic Bold"/>
                <a:ea typeface="Montaser Arabic Bold"/>
                <a:cs typeface="Montaser Arabic Bold"/>
                <a:sym typeface="Montaser Arabic Bold"/>
              </a:rPr>
              <a:t>Understanding Model Decisions</a:t>
            </a:r>
          </a:p>
        </p:txBody>
      </p:sp>
      <p:sp>
        <p:nvSpPr>
          <p:cNvPr id="26" name="TextBox 26"/>
          <p:cNvSpPr txBox="1"/>
          <p:nvPr/>
        </p:nvSpPr>
        <p:spPr>
          <a:xfrm>
            <a:off x="2308495" y="5802887"/>
            <a:ext cx="5476189" cy="3529620"/>
          </a:xfrm>
          <a:prstGeom prst="rect">
            <a:avLst/>
          </a:prstGeom>
        </p:spPr>
        <p:txBody>
          <a:bodyPr lIns="0" tIns="0" rIns="0" bIns="0" rtlCol="0" anchor="t">
            <a:spAutoFit/>
          </a:bodyPr>
          <a:lstStyle/>
          <a:p>
            <a:pPr marL="0" lvl="0" indent="0" algn="l">
              <a:lnSpc>
                <a:spcPts val="2329"/>
              </a:lnSpc>
              <a:spcBef>
                <a:spcPct val="0"/>
              </a:spcBef>
            </a:pPr>
            <a:r>
              <a:rPr lang="en-US" sz="1663" b="1" spc="-33">
                <a:solidFill>
                  <a:srgbClr val="0C0E0B"/>
                </a:solidFill>
                <a:latin typeface="Montaser Arabic Bold"/>
                <a:ea typeface="Montaser Arabic Bold"/>
                <a:cs typeface="Montaser Arabic Bold"/>
                <a:sym typeface="Montaser Arabic Bold"/>
              </a:rPr>
              <a:t>SHAP Value Analysis</a:t>
            </a:r>
          </a:p>
          <a:p>
            <a:pPr marL="0" lvl="0" indent="0" algn="l">
              <a:lnSpc>
                <a:spcPts val="2329"/>
              </a:lnSpc>
              <a:spcBef>
                <a:spcPct val="0"/>
              </a:spcBef>
            </a:pPr>
            <a:endParaRPr lang="en-US" sz="1663" b="1" spc="-33">
              <a:solidFill>
                <a:srgbClr val="0C0E0B"/>
              </a:solidFill>
              <a:latin typeface="Montaser Arabic Bold"/>
              <a:ea typeface="Montaser Arabic Bold"/>
              <a:cs typeface="Montaser Arabic Bold"/>
              <a:sym typeface="Montaser Arabic Bold"/>
            </a:endParaRPr>
          </a:p>
          <a:p>
            <a:pPr marL="0" lvl="0" indent="0" algn="l">
              <a:lnSpc>
                <a:spcPts val="2329"/>
              </a:lnSpc>
              <a:spcBef>
                <a:spcPct val="0"/>
              </a:spcBef>
            </a:pPr>
            <a:r>
              <a:rPr lang="en-US" sz="1663" spc="-33">
                <a:solidFill>
                  <a:srgbClr val="0C0E0B"/>
                </a:solidFill>
                <a:latin typeface="Montaser Arabic"/>
                <a:ea typeface="Montaser Arabic"/>
                <a:cs typeface="Montaser Arabic"/>
                <a:sym typeface="Montaser Arabic"/>
              </a:rPr>
              <a:t>• Global feature importance breakdown across all predictions</a:t>
            </a:r>
          </a:p>
          <a:p>
            <a:pPr marL="0" lvl="0" indent="0" algn="l">
              <a:lnSpc>
                <a:spcPts val="2329"/>
              </a:lnSpc>
              <a:spcBef>
                <a:spcPct val="0"/>
              </a:spcBef>
            </a:pPr>
            <a:r>
              <a:rPr lang="en-US" sz="1663" spc="-33">
                <a:solidFill>
                  <a:srgbClr val="0C0E0B"/>
                </a:solidFill>
                <a:latin typeface="Montaser Arabic"/>
                <a:ea typeface="Montaser Arabic"/>
                <a:cs typeface="Montaser Arabic"/>
                <a:sym typeface="Montaser Arabic"/>
              </a:rPr>
              <a:t>• Biological features (GC Content, CpG Counts, Mutation Type) provide strong, interpretable signals</a:t>
            </a:r>
          </a:p>
          <a:p>
            <a:pPr marL="0" lvl="0" indent="0" algn="l">
              <a:lnSpc>
                <a:spcPts val="2329"/>
              </a:lnSpc>
              <a:spcBef>
                <a:spcPct val="0"/>
              </a:spcBef>
            </a:pPr>
            <a:r>
              <a:rPr lang="en-US" sz="1663" spc="-33">
                <a:solidFill>
                  <a:srgbClr val="0C0E0B"/>
                </a:solidFill>
                <a:latin typeface="Montaser Arabic"/>
                <a:ea typeface="Montaser Arabic"/>
                <a:cs typeface="Montaser Arabic"/>
                <a:sym typeface="Montaser Arabic"/>
              </a:rPr>
              <a:t>• Nucleotide Transformer embeddings capture deep sequence context</a:t>
            </a:r>
          </a:p>
          <a:p>
            <a:pPr marL="0" lvl="0" indent="0" algn="l">
              <a:lnSpc>
                <a:spcPts val="2329"/>
              </a:lnSpc>
              <a:spcBef>
                <a:spcPct val="0"/>
              </a:spcBef>
            </a:pPr>
            <a:r>
              <a:rPr lang="en-US" sz="1663" spc="-33">
                <a:solidFill>
                  <a:srgbClr val="0C0E0B"/>
                </a:solidFill>
                <a:latin typeface="Montaser Arabic"/>
                <a:ea typeface="Montaser Arabic"/>
                <a:cs typeface="Montaser Arabic"/>
                <a:sym typeface="Montaser Arabic"/>
              </a:rPr>
              <a:t>• Hybrid model benefits from complementary contributions of both feature types</a:t>
            </a:r>
          </a:p>
          <a:p>
            <a:pPr marL="0" lvl="0" indent="0" algn="l">
              <a:lnSpc>
                <a:spcPts val="2329"/>
              </a:lnSpc>
              <a:spcBef>
                <a:spcPct val="0"/>
              </a:spcBef>
            </a:pPr>
            <a:r>
              <a:rPr lang="en-US" sz="1663" spc="-33">
                <a:solidFill>
                  <a:srgbClr val="0C0E0B"/>
                </a:solidFill>
                <a:latin typeface="Montaser Arabic"/>
                <a:ea typeface="Montaser Arabic"/>
                <a:cs typeface="Montaser Arabic"/>
                <a:sym typeface="Montaser Arabic"/>
              </a:rPr>
              <a:t>• Top features align with known biological differences between somatic and germline mutations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53877" y="3074617"/>
            <a:ext cx="7480295" cy="6022003"/>
            <a:chOff x="0" y="0"/>
            <a:chExt cx="1970119" cy="1586042"/>
          </a:xfrm>
        </p:grpSpPr>
        <p:sp>
          <p:nvSpPr>
            <p:cNvPr id="3" name="Freeform 3"/>
            <p:cNvSpPr/>
            <p:nvPr/>
          </p:nvSpPr>
          <p:spPr>
            <a:xfrm>
              <a:off x="0" y="0"/>
              <a:ext cx="1970119" cy="1586042"/>
            </a:xfrm>
            <a:custGeom>
              <a:avLst/>
              <a:gdLst/>
              <a:ahLst/>
              <a:cxnLst/>
              <a:rect l="l" t="t" r="r" b="b"/>
              <a:pathLst>
                <a:path w="1970119" h="1586042">
                  <a:moveTo>
                    <a:pt x="62099" y="0"/>
                  </a:moveTo>
                  <a:lnTo>
                    <a:pt x="1908020" y="0"/>
                  </a:lnTo>
                  <a:cubicBezTo>
                    <a:pt x="1924490" y="0"/>
                    <a:pt x="1940285" y="6543"/>
                    <a:pt x="1951931" y="18188"/>
                  </a:cubicBezTo>
                  <a:cubicBezTo>
                    <a:pt x="1963576" y="29834"/>
                    <a:pt x="1970119" y="45629"/>
                    <a:pt x="1970119" y="62099"/>
                  </a:cubicBezTo>
                  <a:lnTo>
                    <a:pt x="1970119" y="1523943"/>
                  </a:lnTo>
                  <a:cubicBezTo>
                    <a:pt x="1970119" y="1540413"/>
                    <a:pt x="1963576" y="1556208"/>
                    <a:pt x="1951931" y="1567854"/>
                  </a:cubicBezTo>
                  <a:cubicBezTo>
                    <a:pt x="1940285" y="1579499"/>
                    <a:pt x="1924490" y="1586042"/>
                    <a:pt x="1908020" y="1586042"/>
                  </a:cubicBezTo>
                  <a:lnTo>
                    <a:pt x="62099" y="1586042"/>
                  </a:lnTo>
                  <a:cubicBezTo>
                    <a:pt x="45629" y="1586042"/>
                    <a:pt x="29834" y="1579499"/>
                    <a:pt x="18188" y="1567854"/>
                  </a:cubicBezTo>
                  <a:cubicBezTo>
                    <a:pt x="6543" y="1556208"/>
                    <a:pt x="0" y="1540413"/>
                    <a:pt x="0" y="1523943"/>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1D5A7C"/>
              </a:solidFill>
              <a:prstDash val="solid"/>
              <a:round/>
            </a:ln>
          </p:spPr>
          <p:txBody>
            <a:bodyPr/>
            <a:lstStyle/>
            <a:p>
              <a:endParaRPr lang="en-GB"/>
            </a:p>
          </p:txBody>
        </p:sp>
        <p:sp>
          <p:nvSpPr>
            <p:cNvPr id="4" name="TextBox 4"/>
            <p:cNvSpPr txBox="1"/>
            <p:nvPr/>
          </p:nvSpPr>
          <p:spPr>
            <a:xfrm>
              <a:off x="0" y="28575"/>
              <a:ext cx="1970119" cy="1557467"/>
            </a:xfrm>
            <a:prstGeom prst="rect">
              <a:avLst/>
            </a:prstGeom>
          </p:spPr>
          <p:txBody>
            <a:bodyPr lIns="50800" tIns="50800" rIns="50800" bIns="50800" rtlCol="0" anchor="ctr"/>
            <a:lstStyle/>
            <a:p>
              <a:pPr marL="0" lvl="0" indent="0" algn="ctr">
                <a:lnSpc>
                  <a:spcPts val="2640"/>
                </a:lnSpc>
              </a:pPr>
              <a:endParaRPr/>
            </a:p>
          </p:txBody>
        </p:sp>
      </p:grpSp>
      <p:grpSp>
        <p:nvGrpSpPr>
          <p:cNvPr id="5" name="Group 5"/>
          <p:cNvGrpSpPr/>
          <p:nvPr/>
        </p:nvGrpSpPr>
        <p:grpSpPr>
          <a:xfrm>
            <a:off x="9253828" y="3074617"/>
            <a:ext cx="7480295" cy="6022003"/>
            <a:chOff x="0" y="0"/>
            <a:chExt cx="1970119" cy="1586042"/>
          </a:xfrm>
        </p:grpSpPr>
        <p:sp>
          <p:nvSpPr>
            <p:cNvPr id="6" name="Freeform 6"/>
            <p:cNvSpPr/>
            <p:nvPr/>
          </p:nvSpPr>
          <p:spPr>
            <a:xfrm>
              <a:off x="0" y="0"/>
              <a:ext cx="1970119" cy="1586042"/>
            </a:xfrm>
            <a:custGeom>
              <a:avLst/>
              <a:gdLst/>
              <a:ahLst/>
              <a:cxnLst/>
              <a:rect l="l" t="t" r="r" b="b"/>
              <a:pathLst>
                <a:path w="1970119" h="1586042">
                  <a:moveTo>
                    <a:pt x="62099" y="0"/>
                  </a:moveTo>
                  <a:lnTo>
                    <a:pt x="1908020" y="0"/>
                  </a:lnTo>
                  <a:cubicBezTo>
                    <a:pt x="1924490" y="0"/>
                    <a:pt x="1940285" y="6543"/>
                    <a:pt x="1951931" y="18188"/>
                  </a:cubicBezTo>
                  <a:cubicBezTo>
                    <a:pt x="1963576" y="29834"/>
                    <a:pt x="1970119" y="45629"/>
                    <a:pt x="1970119" y="62099"/>
                  </a:cubicBezTo>
                  <a:lnTo>
                    <a:pt x="1970119" y="1523943"/>
                  </a:lnTo>
                  <a:cubicBezTo>
                    <a:pt x="1970119" y="1540413"/>
                    <a:pt x="1963576" y="1556208"/>
                    <a:pt x="1951931" y="1567854"/>
                  </a:cubicBezTo>
                  <a:cubicBezTo>
                    <a:pt x="1940285" y="1579499"/>
                    <a:pt x="1924490" y="1586042"/>
                    <a:pt x="1908020" y="1586042"/>
                  </a:cubicBezTo>
                  <a:lnTo>
                    <a:pt x="62099" y="1586042"/>
                  </a:lnTo>
                  <a:cubicBezTo>
                    <a:pt x="45629" y="1586042"/>
                    <a:pt x="29834" y="1579499"/>
                    <a:pt x="18188" y="1567854"/>
                  </a:cubicBezTo>
                  <a:cubicBezTo>
                    <a:pt x="6543" y="1556208"/>
                    <a:pt x="0" y="1540413"/>
                    <a:pt x="0" y="1523943"/>
                  </a:cubicBezTo>
                  <a:lnTo>
                    <a:pt x="0" y="62099"/>
                  </a:lnTo>
                  <a:cubicBezTo>
                    <a:pt x="0" y="45629"/>
                    <a:pt x="6543" y="29834"/>
                    <a:pt x="18188" y="18188"/>
                  </a:cubicBezTo>
                  <a:cubicBezTo>
                    <a:pt x="29834" y="6543"/>
                    <a:pt x="45629" y="0"/>
                    <a:pt x="62099" y="0"/>
                  </a:cubicBezTo>
                  <a:close/>
                </a:path>
              </a:pathLst>
            </a:custGeom>
            <a:solidFill>
              <a:srgbClr val="FFFFFF"/>
            </a:solidFill>
            <a:ln w="38100" cap="rnd">
              <a:solidFill>
                <a:srgbClr val="85D3C7"/>
              </a:solidFill>
              <a:prstDash val="solid"/>
              <a:round/>
            </a:ln>
          </p:spPr>
          <p:txBody>
            <a:bodyPr/>
            <a:lstStyle/>
            <a:p>
              <a:endParaRPr lang="en-GB"/>
            </a:p>
          </p:txBody>
        </p:sp>
        <p:sp>
          <p:nvSpPr>
            <p:cNvPr id="7" name="TextBox 7"/>
            <p:cNvSpPr txBox="1"/>
            <p:nvPr/>
          </p:nvSpPr>
          <p:spPr>
            <a:xfrm>
              <a:off x="0" y="28575"/>
              <a:ext cx="1970119" cy="1557467"/>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8" name="Freeform 8"/>
          <p:cNvSpPr/>
          <p:nvPr/>
        </p:nvSpPr>
        <p:spPr>
          <a:xfrm>
            <a:off x="2064637" y="3247451"/>
            <a:ext cx="1295599" cy="1642819"/>
          </a:xfrm>
          <a:custGeom>
            <a:avLst/>
            <a:gdLst/>
            <a:ahLst/>
            <a:cxnLst/>
            <a:rect l="l" t="t" r="r" b="b"/>
            <a:pathLst>
              <a:path w="1295599" h="1642819">
                <a:moveTo>
                  <a:pt x="0" y="0"/>
                </a:moveTo>
                <a:lnTo>
                  <a:pt x="1295599" y="0"/>
                </a:lnTo>
                <a:lnTo>
                  <a:pt x="1295599" y="1642819"/>
                </a:lnTo>
                <a:lnTo>
                  <a:pt x="0" y="1642819"/>
                </a:lnTo>
                <a:lnTo>
                  <a:pt x="0" y="0"/>
                </a:lnTo>
                <a:close/>
              </a:path>
            </a:pathLst>
          </a:custGeom>
          <a:blipFill>
            <a:blip r:embed="rId2"/>
            <a:stretch>
              <a:fillRect/>
            </a:stretch>
          </a:blipFill>
        </p:spPr>
        <p:txBody>
          <a:bodyPr/>
          <a:lstStyle/>
          <a:p>
            <a:endParaRPr lang="en-GB"/>
          </a:p>
        </p:txBody>
      </p:sp>
      <p:sp>
        <p:nvSpPr>
          <p:cNvPr id="9" name="Freeform 9"/>
          <p:cNvSpPr/>
          <p:nvPr/>
        </p:nvSpPr>
        <p:spPr>
          <a:xfrm>
            <a:off x="9979051" y="3503898"/>
            <a:ext cx="1114958" cy="1104577"/>
          </a:xfrm>
          <a:custGeom>
            <a:avLst/>
            <a:gdLst/>
            <a:ahLst/>
            <a:cxnLst/>
            <a:rect l="l" t="t" r="r" b="b"/>
            <a:pathLst>
              <a:path w="1114958" h="1104577">
                <a:moveTo>
                  <a:pt x="0" y="0"/>
                </a:moveTo>
                <a:lnTo>
                  <a:pt x="1114958" y="0"/>
                </a:lnTo>
                <a:lnTo>
                  <a:pt x="1114958" y="1104577"/>
                </a:lnTo>
                <a:lnTo>
                  <a:pt x="0" y="1104577"/>
                </a:lnTo>
                <a:lnTo>
                  <a:pt x="0" y="0"/>
                </a:lnTo>
                <a:close/>
              </a:path>
            </a:pathLst>
          </a:custGeom>
          <a:blipFill>
            <a:blip r:embed="rId3"/>
            <a:stretch>
              <a:fillRect/>
            </a:stretch>
          </a:blipFill>
        </p:spPr>
        <p:txBody>
          <a:bodyPr/>
          <a:lstStyle/>
          <a:p>
            <a:endParaRPr lang="en-GB"/>
          </a:p>
        </p:txBody>
      </p:sp>
      <p:sp>
        <p:nvSpPr>
          <p:cNvPr id="10" name="TextBox 10"/>
          <p:cNvSpPr txBox="1"/>
          <p:nvPr/>
        </p:nvSpPr>
        <p:spPr>
          <a:xfrm>
            <a:off x="1487491" y="1259558"/>
            <a:ext cx="10128823" cy="1289609"/>
          </a:xfrm>
          <a:prstGeom prst="rect">
            <a:avLst/>
          </a:prstGeom>
        </p:spPr>
        <p:txBody>
          <a:bodyPr lIns="0" tIns="0" rIns="0" bIns="0" rtlCol="0" anchor="t">
            <a:spAutoFit/>
          </a:bodyPr>
          <a:lstStyle/>
          <a:p>
            <a:pPr marL="0" lvl="0" indent="0" algn="l">
              <a:lnSpc>
                <a:spcPts val="5022"/>
              </a:lnSpc>
              <a:spcBef>
                <a:spcPct val="0"/>
              </a:spcBef>
            </a:pPr>
            <a:r>
              <a:rPr lang="en-US" sz="5022" b="1">
                <a:solidFill>
                  <a:srgbClr val="0C0E0B"/>
                </a:solidFill>
                <a:latin typeface="Montaser Arabic Bold"/>
                <a:ea typeface="Montaser Arabic Bold"/>
                <a:cs typeface="Montaser Arabic Bold"/>
                <a:sym typeface="Montaser Arabic Bold"/>
              </a:rPr>
              <a:t>Interpreting Learned Representations</a:t>
            </a:r>
          </a:p>
        </p:txBody>
      </p:sp>
      <p:sp>
        <p:nvSpPr>
          <p:cNvPr id="11" name="TextBox 11"/>
          <p:cNvSpPr txBox="1"/>
          <p:nvPr/>
        </p:nvSpPr>
        <p:spPr>
          <a:xfrm>
            <a:off x="2180420" y="6692437"/>
            <a:ext cx="6251880" cy="1461895"/>
          </a:xfrm>
          <a:prstGeom prst="rect">
            <a:avLst/>
          </a:prstGeom>
        </p:spPr>
        <p:txBody>
          <a:bodyPr lIns="0" tIns="0" rIns="0" bIns="0" rtlCol="0" anchor="t">
            <a:spAutoFit/>
          </a:bodyPr>
          <a:lstStyle/>
          <a:p>
            <a:pPr marL="0" lvl="0" indent="0" algn="l">
              <a:lnSpc>
                <a:spcPts val="2373"/>
              </a:lnSpc>
              <a:spcBef>
                <a:spcPct val="0"/>
              </a:spcBef>
            </a:pPr>
            <a:r>
              <a:rPr lang="en-US" sz="1695" u="none" strike="noStrike" spc="-33" dirty="0">
                <a:solidFill>
                  <a:srgbClr val="2A2E30"/>
                </a:solidFill>
                <a:latin typeface="Montaser Arabic"/>
                <a:ea typeface="Montaser Arabic"/>
                <a:cs typeface="Montaser Arabic"/>
                <a:sym typeface="Montaser Arabic"/>
              </a:rPr>
              <a:t>Decision path analysis reveals how the hybrid model structures its classification logic. Key splits correspond to biologically meaningful thresholds in GC content and CpG density, confirming that the model learns interpretable genomic rules rather than arbitrary statistical patterns.</a:t>
            </a:r>
          </a:p>
        </p:txBody>
      </p:sp>
      <p:sp>
        <p:nvSpPr>
          <p:cNvPr id="12" name="TextBox 12"/>
          <p:cNvSpPr txBox="1"/>
          <p:nvPr/>
        </p:nvSpPr>
        <p:spPr>
          <a:xfrm>
            <a:off x="9880372" y="6692437"/>
            <a:ext cx="6251880" cy="1461895"/>
          </a:xfrm>
          <a:prstGeom prst="rect">
            <a:avLst/>
          </a:prstGeom>
        </p:spPr>
        <p:txBody>
          <a:bodyPr lIns="0" tIns="0" rIns="0" bIns="0" rtlCol="0" anchor="t">
            <a:spAutoFit/>
          </a:bodyPr>
          <a:lstStyle/>
          <a:p>
            <a:pPr marL="0" lvl="0" indent="0" algn="l">
              <a:lnSpc>
                <a:spcPts val="2373"/>
              </a:lnSpc>
              <a:spcBef>
                <a:spcPct val="0"/>
              </a:spcBef>
            </a:pPr>
            <a:r>
              <a:rPr lang="en-US" sz="1695" u="none" strike="noStrike" spc="-33">
                <a:solidFill>
                  <a:srgbClr val="2A2E30"/>
                </a:solidFill>
                <a:latin typeface="Montaser Arabic"/>
                <a:ea typeface="Montaser Arabic"/>
                <a:cs typeface="Montaser Arabic"/>
                <a:sym typeface="Montaser Arabic"/>
              </a:rPr>
              <a:t>Nucleotide Transformer embeddings show strong correlations with GC-rich regions, CpG motifs, and repetitive sequence motifs. These patterns align with known biological differences between somatic and germline mutation landscapes, validating the model's learned representations.</a:t>
            </a:r>
          </a:p>
        </p:txBody>
      </p:sp>
      <p:sp>
        <p:nvSpPr>
          <p:cNvPr id="13" name="TextBox 13"/>
          <p:cNvSpPr txBox="1"/>
          <p:nvPr/>
        </p:nvSpPr>
        <p:spPr>
          <a:xfrm>
            <a:off x="2155748" y="5332602"/>
            <a:ext cx="6276552" cy="778485"/>
          </a:xfrm>
          <a:prstGeom prst="rect">
            <a:avLst/>
          </a:prstGeom>
        </p:spPr>
        <p:txBody>
          <a:bodyPr lIns="0" tIns="0" rIns="0" bIns="0" rtlCol="0" anchor="t">
            <a:spAutoFit/>
          </a:bodyPr>
          <a:lstStyle/>
          <a:p>
            <a:pPr marL="0" lvl="0" indent="0" algn="l">
              <a:lnSpc>
                <a:spcPts val="3077"/>
              </a:lnSpc>
            </a:pPr>
            <a:r>
              <a:rPr lang="en-US" sz="2798" b="1">
                <a:solidFill>
                  <a:srgbClr val="0C0E0B"/>
                </a:solidFill>
                <a:latin typeface="Montaser Arabic Bold"/>
                <a:ea typeface="Montaser Arabic Bold"/>
                <a:cs typeface="Montaser Arabic Bold"/>
                <a:sym typeface="Montaser Arabic Bold"/>
              </a:rPr>
              <a:t>Decision Tree</a:t>
            </a:r>
          </a:p>
          <a:p>
            <a:pPr marL="0" lvl="0" indent="0" algn="l">
              <a:lnSpc>
                <a:spcPts val="3077"/>
              </a:lnSpc>
            </a:pPr>
            <a:r>
              <a:rPr lang="en-US" sz="2798" b="1">
                <a:solidFill>
                  <a:srgbClr val="0C0E0B"/>
                </a:solidFill>
                <a:latin typeface="Montaser Arabic Bold"/>
                <a:ea typeface="Montaser Arabic Bold"/>
                <a:cs typeface="Montaser Arabic Bold"/>
                <a:sym typeface="Montaser Arabic Bold"/>
              </a:rPr>
              <a:t>Analysis</a:t>
            </a:r>
          </a:p>
        </p:txBody>
      </p:sp>
      <p:sp>
        <p:nvSpPr>
          <p:cNvPr id="14" name="TextBox 14"/>
          <p:cNvSpPr txBox="1"/>
          <p:nvPr/>
        </p:nvSpPr>
        <p:spPr>
          <a:xfrm>
            <a:off x="9855700" y="5332602"/>
            <a:ext cx="6276552" cy="778485"/>
          </a:xfrm>
          <a:prstGeom prst="rect">
            <a:avLst/>
          </a:prstGeom>
        </p:spPr>
        <p:txBody>
          <a:bodyPr lIns="0" tIns="0" rIns="0" bIns="0" rtlCol="0" anchor="t">
            <a:spAutoFit/>
          </a:bodyPr>
          <a:lstStyle/>
          <a:p>
            <a:pPr marL="0" lvl="0" indent="0" algn="l">
              <a:lnSpc>
                <a:spcPts val="3077"/>
              </a:lnSpc>
            </a:pPr>
            <a:r>
              <a:rPr lang="en-US" sz="2798" b="1">
                <a:solidFill>
                  <a:srgbClr val="0C0E0B"/>
                </a:solidFill>
                <a:latin typeface="Montaser Arabic Bold"/>
                <a:ea typeface="Montaser Arabic Bold"/>
                <a:cs typeface="Montaser Arabic Bold"/>
                <a:sym typeface="Montaser Arabic Bold"/>
              </a:rPr>
              <a:t>Embedding Correlations</a:t>
            </a:r>
          </a:p>
          <a:p>
            <a:pPr marL="0" lvl="0" indent="0" algn="l">
              <a:lnSpc>
                <a:spcPts val="3077"/>
              </a:lnSpc>
            </a:pPr>
            <a:r>
              <a:rPr lang="en-US" sz="2798" b="1">
                <a:solidFill>
                  <a:srgbClr val="0C0E0B"/>
                </a:solidFill>
                <a:latin typeface="Montaser Arabic Bold"/>
                <a:ea typeface="Montaser Arabic Bold"/>
                <a:cs typeface="Montaser Arabic Bold"/>
                <a:sym typeface="Montaser Arabic Bold"/>
              </a:rPr>
              <a:t>&amp; Sequence Patterns</a:t>
            </a:r>
          </a:p>
        </p:txBody>
      </p:sp>
      <p:grpSp>
        <p:nvGrpSpPr>
          <p:cNvPr id="15" name="Group 15"/>
          <p:cNvGrpSpPr/>
          <p:nvPr/>
        </p:nvGrpSpPr>
        <p:grpSpPr>
          <a:xfrm>
            <a:off x="14094764" y="-2669198"/>
            <a:ext cx="1186330" cy="4320194"/>
            <a:chOff x="0" y="0"/>
            <a:chExt cx="312449" cy="1137829"/>
          </a:xfrm>
        </p:grpSpPr>
        <p:sp>
          <p:nvSpPr>
            <p:cNvPr id="16" name="Freeform 16"/>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17" name="TextBox 17"/>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8" name="Group 18"/>
          <p:cNvGrpSpPr/>
          <p:nvPr/>
        </p:nvGrpSpPr>
        <p:grpSpPr>
          <a:xfrm>
            <a:off x="15543379" y="-3637608"/>
            <a:ext cx="1186330" cy="4320194"/>
            <a:chOff x="0" y="0"/>
            <a:chExt cx="312449" cy="1137829"/>
          </a:xfrm>
        </p:grpSpPr>
        <p:sp>
          <p:nvSpPr>
            <p:cNvPr id="19" name="Freeform 19"/>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0" name="TextBox 20"/>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1" name="Group 21"/>
          <p:cNvGrpSpPr/>
          <p:nvPr/>
        </p:nvGrpSpPr>
        <p:grpSpPr>
          <a:xfrm>
            <a:off x="12641734" y="-3094661"/>
            <a:ext cx="1186330" cy="4320194"/>
            <a:chOff x="0" y="0"/>
            <a:chExt cx="312449" cy="1137829"/>
          </a:xfrm>
        </p:grpSpPr>
        <p:sp>
          <p:nvSpPr>
            <p:cNvPr id="22" name="Freeform 22"/>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3" name="TextBox 23"/>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4" name="Group 24"/>
          <p:cNvGrpSpPr/>
          <p:nvPr/>
        </p:nvGrpSpPr>
        <p:grpSpPr>
          <a:xfrm>
            <a:off x="15547793" y="863668"/>
            <a:ext cx="1186330" cy="1197956"/>
            <a:chOff x="0" y="0"/>
            <a:chExt cx="312449" cy="315511"/>
          </a:xfrm>
        </p:grpSpPr>
        <p:sp>
          <p:nvSpPr>
            <p:cNvPr id="25" name="Freeform 25"/>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26" name="TextBox 26"/>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68360" y="-2936105"/>
            <a:ext cx="1186330" cy="4320194"/>
            <a:chOff x="0" y="0"/>
            <a:chExt cx="312449" cy="1137829"/>
          </a:xfrm>
        </p:grpSpPr>
        <p:sp>
          <p:nvSpPr>
            <p:cNvPr id="3" name="Freeform 3"/>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4" name="TextBox 4"/>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5" name="Group 5"/>
          <p:cNvGrpSpPr/>
          <p:nvPr/>
        </p:nvGrpSpPr>
        <p:grpSpPr>
          <a:xfrm>
            <a:off x="1715330" y="-854415"/>
            <a:ext cx="1186330" cy="3208957"/>
            <a:chOff x="0" y="0"/>
            <a:chExt cx="312449" cy="845157"/>
          </a:xfrm>
        </p:grpSpPr>
        <p:sp>
          <p:nvSpPr>
            <p:cNvPr id="6" name="Freeform 6"/>
            <p:cNvSpPr/>
            <p:nvPr/>
          </p:nvSpPr>
          <p:spPr>
            <a:xfrm>
              <a:off x="0" y="0"/>
              <a:ext cx="312449" cy="845157"/>
            </a:xfrm>
            <a:custGeom>
              <a:avLst/>
              <a:gdLst/>
              <a:ahLst/>
              <a:cxnLst/>
              <a:rect l="l" t="t" r="r" b="b"/>
              <a:pathLst>
                <a:path w="312449" h="845157">
                  <a:moveTo>
                    <a:pt x="156225" y="0"/>
                  </a:moveTo>
                  <a:lnTo>
                    <a:pt x="156225" y="0"/>
                  </a:lnTo>
                  <a:cubicBezTo>
                    <a:pt x="197658" y="0"/>
                    <a:pt x="237394" y="16459"/>
                    <a:pt x="266692" y="45757"/>
                  </a:cubicBezTo>
                  <a:cubicBezTo>
                    <a:pt x="295990" y="75055"/>
                    <a:pt x="312449" y="114791"/>
                    <a:pt x="312449" y="156225"/>
                  </a:cubicBezTo>
                  <a:lnTo>
                    <a:pt x="312449" y="688933"/>
                  </a:lnTo>
                  <a:cubicBezTo>
                    <a:pt x="312449" y="730366"/>
                    <a:pt x="295990" y="770103"/>
                    <a:pt x="266692" y="799400"/>
                  </a:cubicBezTo>
                  <a:cubicBezTo>
                    <a:pt x="237394" y="828698"/>
                    <a:pt x="197658" y="845157"/>
                    <a:pt x="156225" y="845157"/>
                  </a:cubicBezTo>
                  <a:lnTo>
                    <a:pt x="156225" y="845157"/>
                  </a:lnTo>
                  <a:cubicBezTo>
                    <a:pt x="114791" y="845157"/>
                    <a:pt x="75055" y="828698"/>
                    <a:pt x="45757" y="799400"/>
                  </a:cubicBezTo>
                  <a:cubicBezTo>
                    <a:pt x="16459" y="770103"/>
                    <a:pt x="0" y="730366"/>
                    <a:pt x="0" y="688933"/>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7" name="TextBox 7"/>
            <p:cNvSpPr txBox="1"/>
            <p:nvPr/>
          </p:nvSpPr>
          <p:spPr>
            <a:xfrm>
              <a:off x="0" y="28575"/>
              <a:ext cx="312449" cy="816582"/>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8" name="Group 8"/>
          <p:cNvGrpSpPr/>
          <p:nvPr/>
        </p:nvGrpSpPr>
        <p:grpSpPr>
          <a:xfrm>
            <a:off x="262300" y="-3690375"/>
            <a:ext cx="1186330" cy="4320194"/>
            <a:chOff x="0" y="0"/>
            <a:chExt cx="312449" cy="1137829"/>
          </a:xfrm>
        </p:grpSpPr>
        <p:sp>
          <p:nvSpPr>
            <p:cNvPr id="9" name="Freeform 9"/>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84D4C7"/>
            </a:solidFill>
          </p:spPr>
          <p:txBody>
            <a:bodyPr/>
            <a:lstStyle/>
            <a:p>
              <a:endParaRPr lang="en-GB"/>
            </a:p>
          </p:txBody>
        </p:sp>
        <p:sp>
          <p:nvSpPr>
            <p:cNvPr id="10" name="TextBox 10"/>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1" name="Group 11"/>
          <p:cNvGrpSpPr/>
          <p:nvPr/>
        </p:nvGrpSpPr>
        <p:grpSpPr>
          <a:xfrm>
            <a:off x="262300" y="785111"/>
            <a:ext cx="1186330" cy="1197956"/>
            <a:chOff x="0" y="0"/>
            <a:chExt cx="312449" cy="315511"/>
          </a:xfrm>
        </p:grpSpPr>
        <p:sp>
          <p:nvSpPr>
            <p:cNvPr id="12" name="Freeform 12"/>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3" name="TextBox 13"/>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4" name="Group 14"/>
          <p:cNvGrpSpPr/>
          <p:nvPr/>
        </p:nvGrpSpPr>
        <p:grpSpPr>
          <a:xfrm>
            <a:off x="17727332" y="6865808"/>
            <a:ext cx="1186330" cy="4492540"/>
            <a:chOff x="0" y="0"/>
            <a:chExt cx="312449" cy="1183220"/>
          </a:xfrm>
        </p:grpSpPr>
        <p:sp>
          <p:nvSpPr>
            <p:cNvPr id="15" name="Freeform 15"/>
            <p:cNvSpPr/>
            <p:nvPr/>
          </p:nvSpPr>
          <p:spPr>
            <a:xfrm>
              <a:off x="0" y="0"/>
              <a:ext cx="312449" cy="1183220"/>
            </a:xfrm>
            <a:custGeom>
              <a:avLst/>
              <a:gdLst/>
              <a:ahLst/>
              <a:cxnLst/>
              <a:rect l="l" t="t" r="r" b="b"/>
              <a:pathLst>
                <a:path w="312449" h="1183220">
                  <a:moveTo>
                    <a:pt x="156225" y="0"/>
                  </a:moveTo>
                  <a:lnTo>
                    <a:pt x="156225" y="0"/>
                  </a:lnTo>
                  <a:cubicBezTo>
                    <a:pt x="197658" y="0"/>
                    <a:pt x="237394" y="16459"/>
                    <a:pt x="266692" y="45757"/>
                  </a:cubicBezTo>
                  <a:cubicBezTo>
                    <a:pt x="295990" y="75055"/>
                    <a:pt x="312449" y="114791"/>
                    <a:pt x="312449" y="156225"/>
                  </a:cubicBezTo>
                  <a:lnTo>
                    <a:pt x="312449" y="1026996"/>
                  </a:lnTo>
                  <a:cubicBezTo>
                    <a:pt x="312449" y="1068429"/>
                    <a:pt x="295990" y="1108165"/>
                    <a:pt x="266692" y="1137463"/>
                  </a:cubicBezTo>
                  <a:cubicBezTo>
                    <a:pt x="237394" y="1166761"/>
                    <a:pt x="197658" y="1183220"/>
                    <a:pt x="156225" y="1183220"/>
                  </a:cubicBezTo>
                  <a:lnTo>
                    <a:pt x="156225" y="1183220"/>
                  </a:lnTo>
                  <a:cubicBezTo>
                    <a:pt x="114791" y="1183220"/>
                    <a:pt x="75055" y="1166761"/>
                    <a:pt x="45757" y="1137463"/>
                  </a:cubicBezTo>
                  <a:cubicBezTo>
                    <a:pt x="16459" y="1108165"/>
                    <a:pt x="0" y="1068429"/>
                    <a:pt x="0" y="1026996"/>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6" name="TextBox 16"/>
            <p:cNvSpPr txBox="1"/>
            <p:nvPr/>
          </p:nvSpPr>
          <p:spPr>
            <a:xfrm>
              <a:off x="0" y="28575"/>
              <a:ext cx="312449" cy="1154645"/>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7" name="Group 17"/>
          <p:cNvGrpSpPr/>
          <p:nvPr/>
        </p:nvGrpSpPr>
        <p:grpSpPr>
          <a:xfrm>
            <a:off x="17722918" y="5468013"/>
            <a:ext cx="1186330" cy="1197956"/>
            <a:chOff x="0" y="0"/>
            <a:chExt cx="312449" cy="315511"/>
          </a:xfrm>
        </p:grpSpPr>
        <p:sp>
          <p:nvSpPr>
            <p:cNvPr id="18" name="Freeform 18"/>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9" name="TextBox 19"/>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20" name="Freeform 20"/>
          <p:cNvSpPr/>
          <p:nvPr/>
        </p:nvSpPr>
        <p:spPr>
          <a:xfrm>
            <a:off x="779783" y="3096486"/>
            <a:ext cx="16728435" cy="5941010"/>
          </a:xfrm>
          <a:custGeom>
            <a:avLst/>
            <a:gdLst/>
            <a:ahLst/>
            <a:cxnLst/>
            <a:rect l="l" t="t" r="r" b="b"/>
            <a:pathLst>
              <a:path w="16728435" h="5941010">
                <a:moveTo>
                  <a:pt x="0" y="0"/>
                </a:moveTo>
                <a:lnTo>
                  <a:pt x="16728434" y="0"/>
                </a:lnTo>
                <a:lnTo>
                  <a:pt x="16728434" y="5941010"/>
                </a:lnTo>
                <a:lnTo>
                  <a:pt x="0" y="5941010"/>
                </a:lnTo>
                <a:lnTo>
                  <a:pt x="0" y="0"/>
                </a:lnTo>
                <a:close/>
              </a:path>
            </a:pathLst>
          </a:custGeom>
          <a:blipFill>
            <a:blip r:embed="rId2"/>
            <a:stretch>
              <a:fillRect t="-456" r="-1156" b="-456"/>
            </a:stretch>
          </a:blipFill>
        </p:spPr>
        <p:txBody>
          <a:bodyPr/>
          <a:lstStyle/>
          <a:p>
            <a:endParaRPr lang="en-GB"/>
          </a:p>
        </p:txBody>
      </p:sp>
      <p:sp>
        <p:nvSpPr>
          <p:cNvPr id="21" name="TextBox 21"/>
          <p:cNvSpPr txBox="1"/>
          <p:nvPr/>
        </p:nvSpPr>
        <p:spPr>
          <a:xfrm>
            <a:off x="4916297" y="408948"/>
            <a:ext cx="12343003" cy="787006"/>
          </a:xfrm>
          <a:prstGeom prst="rect">
            <a:avLst/>
          </a:prstGeom>
        </p:spPr>
        <p:txBody>
          <a:bodyPr lIns="0" tIns="0" rIns="0" bIns="0" rtlCol="0" anchor="t">
            <a:spAutoFit/>
          </a:bodyPr>
          <a:lstStyle/>
          <a:p>
            <a:pPr marL="0" lvl="0" indent="0" algn="l">
              <a:lnSpc>
                <a:spcPts val="5859"/>
              </a:lnSpc>
              <a:spcBef>
                <a:spcPct val="0"/>
              </a:spcBef>
            </a:pPr>
            <a:r>
              <a:rPr lang="en-US" sz="5859" b="1" u="none" strike="noStrike">
                <a:solidFill>
                  <a:srgbClr val="0C0E0B"/>
                </a:solidFill>
                <a:latin typeface="Montaser Arabic Bold"/>
                <a:ea typeface="Montaser Arabic Bold"/>
                <a:cs typeface="Montaser Arabic Bold"/>
                <a:sym typeface="Montaser Arabic Bold"/>
              </a:rPr>
              <a:t>Understanding Model Decisions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68360" y="-2936105"/>
            <a:ext cx="1186330" cy="4320194"/>
            <a:chOff x="0" y="0"/>
            <a:chExt cx="312449" cy="1137829"/>
          </a:xfrm>
        </p:grpSpPr>
        <p:sp>
          <p:nvSpPr>
            <p:cNvPr id="3" name="Freeform 3"/>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4" name="TextBox 4"/>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5" name="Group 5"/>
          <p:cNvGrpSpPr/>
          <p:nvPr/>
        </p:nvGrpSpPr>
        <p:grpSpPr>
          <a:xfrm>
            <a:off x="262300" y="-3690375"/>
            <a:ext cx="1186330" cy="4320194"/>
            <a:chOff x="0" y="0"/>
            <a:chExt cx="312449" cy="1137829"/>
          </a:xfrm>
        </p:grpSpPr>
        <p:sp>
          <p:nvSpPr>
            <p:cNvPr id="6" name="Freeform 6"/>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84D4C7"/>
            </a:solidFill>
          </p:spPr>
          <p:txBody>
            <a:bodyPr/>
            <a:lstStyle/>
            <a:p>
              <a:endParaRPr lang="en-GB"/>
            </a:p>
          </p:txBody>
        </p:sp>
        <p:sp>
          <p:nvSpPr>
            <p:cNvPr id="7" name="TextBox 7"/>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8" name="Group 8"/>
          <p:cNvGrpSpPr/>
          <p:nvPr/>
        </p:nvGrpSpPr>
        <p:grpSpPr>
          <a:xfrm>
            <a:off x="262300" y="785111"/>
            <a:ext cx="1186330" cy="1197956"/>
            <a:chOff x="0" y="0"/>
            <a:chExt cx="312449" cy="315511"/>
          </a:xfrm>
        </p:grpSpPr>
        <p:sp>
          <p:nvSpPr>
            <p:cNvPr id="9" name="Freeform 9"/>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0" name="TextBox 10"/>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1" name="Group 11"/>
          <p:cNvGrpSpPr/>
          <p:nvPr/>
        </p:nvGrpSpPr>
        <p:grpSpPr>
          <a:xfrm>
            <a:off x="17727332" y="6865808"/>
            <a:ext cx="1186330" cy="4492540"/>
            <a:chOff x="0" y="0"/>
            <a:chExt cx="312449" cy="1183220"/>
          </a:xfrm>
        </p:grpSpPr>
        <p:sp>
          <p:nvSpPr>
            <p:cNvPr id="12" name="Freeform 12"/>
            <p:cNvSpPr/>
            <p:nvPr/>
          </p:nvSpPr>
          <p:spPr>
            <a:xfrm>
              <a:off x="0" y="0"/>
              <a:ext cx="312449" cy="1183220"/>
            </a:xfrm>
            <a:custGeom>
              <a:avLst/>
              <a:gdLst/>
              <a:ahLst/>
              <a:cxnLst/>
              <a:rect l="l" t="t" r="r" b="b"/>
              <a:pathLst>
                <a:path w="312449" h="1183220">
                  <a:moveTo>
                    <a:pt x="156225" y="0"/>
                  </a:moveTo>
                  <a:lnTo>
                    <a:pt x="156225" y="0"/>
                  </a:lnTo>
                  <a:cubicBezTo>
                    <a:pt x="197658" y="0"/>
                    <a:pt x="237394" y="16459"/>
                    <a:pt x="266692" y="45757"/>
                  </a:cubicBezTo>
                  <a:cubicBezTo>
                    <a:pt x="295990" y="75055"/>
                    <a:pt x="312449" y="114791"/>
                    <a:pt x="312449" y="156225"/>
                  </a:cubicBezTo>
                  <a:lnTo>
                    <a:pt x="312449" y="1026996"/>
                  </a:lnTo>
                  <a:cubicBezTo>
                    <a:pt x="312449" y="1068429"/>
                    <a:pt x="295990" y="1108165"/>
                    <a:pt x="266692" y="1137463"/>
                  </a:cubicBezTo>
                  <a:cubicBezTo>
                    <a:pt x="237394" y="1166761"/>
                    <a:pt x="197658" y="1183220"/>
                    <a:pt x="156225" y="1183220"/>
                  </a:cubicBezTo>
                  <a:lnTo>
                    <a:pt x="156225" y="1183220"/>
                  </a:lnTo>
                  <a:cubicBezTo>
                    <a:pt x="114791" y="1183220"/>
                    <a:pt x="75055" y="1166761"/>
                    <a:pt x="45757" y="1137463"/>
                  </a:cubicBezTo>
                  <a:cubicBezTo>
                    <a:pt x="16459" y="1108165"/>
                    <a:pt x="0" y="1068429"/>
                    <a:pt x="0" y="1026996"/>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3" name="TextBox 13"/>
            <p:cNvSpPr txBox="1"/>
            <p:nvPr/>
          </p:nvSpPr>
          <p:spPr>
            <a:xfrm>
              <a:off x="0" y="28575"/>
              <a:ext cx="312449" cy="1154645"/>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4" name="Group 14"/>
          <p:cNvGrpSpPr/>
          <p:nvPr/>
        </p:nvGrpSpPr>
        <p:grpSpPr>
          <a:xfrm>
            <a:off x="17722918" y="5468013"/>
            <a:ext cx="1186330" cy="1197956"/>
            <a:chOff x="0" y="0"/>
            <a:chExt cx="312449" cy="315511"/>
          </a:xfrm>
        </p:grpSpPr>
        <p:sp>
          <p:nvSpPr>
            <p:cNvPr id="15" name="Freeform 15"/>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6" name="TextBox 16"/>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17" name="Freeform 17"/>
          <p:cNvSpPr/>
          <p:nvPr/>
        </p:nvSpPr>
        <p:spPr>
          <a:xfrm>
            <a:off x="2052754" y="1546539"/>
            <a:ext cx="14822423" cy="8616334"/>
          </a:xfrm>
          <a:custGeom>
            <a:avLst/>
            <a:gdLst/>
            <a:ahLst/>
            <a:cxnLst/>
            <a:rect l="l" t="t" r="r" b="b"/>
            <a:pathLst>
              <a:path w="14822423" h="8616334">
                <a:moveTo>
                  <a:pt x="0" y="0"/>
                </a:moveTo>
                <a:lnTo>
                  <a:pt x="14822423" y="0"/>
                </a:lnTo>
                <a:lnTo>
                  <a:pt x="14822423" y="8616333"/>
                </a:lnTo>
                <a:lnTo>
                  <a:pt x="0" y="8616333"/>
                </a:lnTo>
                <a:lnTo>
                  <a:pt x="0" y="0"/>
                </a:lnTo>
                <a:close/>
              </a:path>
            </a:pathLst>
          </a:custGeom>
          <a:blipFill>
            <a:blip r:embed="rId2"/>
            <a:stretch>
              <a:fillRect/>
            </a:stretch>
          </a:blipFill>
        </p:spPr>
        <p:txBody>
          <a:bodyPr/>
          <a:lstStyle/>
          <a:p>
            <a:endParaRPr lang="en-GB"/>
          </a:p>
        </p:txBody>
      </p:sp>
      <p:sp>
        <p:nvSpPr>
          <p:cNvPr id="18" name="TextBox 18"/>
          <p:cNvSpPr txBox="1"/>
          <p:nvPr/>
        </p:nvSpPr>
        <p:spPr>
          <a:xfrm>
            <a:off x="4916297" y="408948"/>
            <a:ext cx="12343003" cy="787006"/>
          </a:xfrm>
          <a:prstGeom prst="rect">
            <a:avLst/>
          </a:prstGeom>
        </p:spPr>
        <p:txBody>
          <a:bodyPr lIns="0" tIns="0" rIns="0" bIns="0" rtlCol="0" anchor="t">
            <a:spAutoFit/>
          </a:bodyPr>
          <a:lstStyle/>
          <a:p>
            <a:pPr marL="0" lvl="0" indent="0" algn="l">
              <a:lnSpc>
                <a:spcPts val="5859"/>
              </a:lnSpc>
              <a:spcBef>
                <a:spcPct val="0"/>
              </a:spcBef>
            </a:pPr>
            <a:r>
              <a:rPr lang="en-US" sz="5859" b="1" u="none" strike="noStrike">
                <a:solidFill>
                  <a:srgbClr val="0C0E0B"/>
                </a:solidFill>
                <a:latin typeface="Montaser Arabic Bold"/>
                <a:ea typeface="Montaser Arabic Bold"/>
                <a:cs typeface="Montaser Arabic Bold"/>
                <a:sym typeface="Montaser Arabic Bold"/>
              </a:rPr>
              <a:t>Understanding Model Decisions</a:t>
            </a:r>
          </a:p>
        </p:txBody>
      </p:sp>
      <p:grpSp>
        <p:nvGrpSpPr>
          <p:cNvPr id="19" name="Group 19"/>
          <p:cNvGrpSpPr/>
          <p:nvPr/>
        </p:nvGrpSpPr>
        <p:grpSpPr>
          <a:xfrm>
            <a:off x="1715330" y="-568137"/>
            <a:ext cx="1186330" cy="1197956"/>
            <a:chOff x="0" y="0"/>
            <a:chExt cx="312449" cy="315511"/>
          </a:xfrm>
        </p:grpSpPr>
        <p:sp>
          <p:nvSpPr>
            <p:cNvPr id="20" name="Freeform 20"/>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21" name="TextBox 21"/>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ADDDEB55-923C-4E05-081E-752CD8637D7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2277243-18A0-7C87-757D-3A5487CB7EA1}"/>
              </a:ext>
            </a:extLst>
          </p:cNvPr>
          <p:cNvGrpSpPr/>
          <p:nvPr/>
        </p:nvGrpSpPr>
        <p:grpSpPr>
          <a:xfrm>
            <a:off x="3168360" y="-2936105"/>
            <a:ext cx="1186330" cy="4320194"/>
            <a:chOff x="0" y="0"/>
            <a:chExt cx="312449" cy="1137829"/>
          </a:xfrm>
        </p:grpSpPr>
        <p:sp>
          <p:nvSpPr>
            <p:cNvPr id="3" name="Freeform 3">
              <a:extLst>
                <a:ext uri="{FF2B5EF4-FFF2-40B4-BE49-F238E27FC236}">
                  <a16:creationId xmlns:a16="http://schemas.microsoft.com/office/drawing/2014/main" id="{DCB29EA8-45BE-E525-A345-295A682B810D}"/>
                </a:ext>
              </a:extLst>
            </p:cNvPr>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4" name="TextBox 4">
              <a:extLst>
                <a:ext uri="{FF2B5EF4-FFF2-40B4-BE49-F238E27FC236}">
                  <a16:creationId xmlns:a16="http://schemas.microsoft.com/office/drawing/2014/main" id="{04AB44F1-26F0-89EE-DF64-6B953773D29E}"/>
                </a:ext>
              </a:extLst>
            </p:cNvPr>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5" name="Group 5">
            <a:extLst>
              <a:ext uri="{FF2B5EF4-FFF2-40B4-BE49-F238E27FC236}">
                <a16:creationId xmlns:a16="http://schemas.microsoft.com/office/drawing/2014/main" id="{1B519356-BD43-64F8-7E42-BBB5F4C2ABF7}"/>
              </a:ext>
            </a:extLst>
          </p:cNvPr>
          <p:cNvGrpSpPr/>
          <p:nvPr/>
        </p:nvGrpSpPr>
        <p:grpSpPr>
          <a:xfrm>
            <a:off x="262300" y="-3690375"/>
            <a:ext cx="1186330" cy="4320194"/>
            <a:chOff x="0" y="0"/>
            <a:chExt cx="312449" cy="1137829"/>
          </a:xfrm>
        </p:grpSpPr>
        <p:sp>
          <p:nvSpPr>
            <p:cNvPr id="6" name="Freeform 6">
              <a:extLst>
                <a:ext uri="{FF2B5EF4-FFF2-40B4-BE49-F238E27FC236}">
                  <a16:creationId xmlns:a16="http://schemas.microsoft.com/office/drawing/2014/main" id="{5DE66A73-9CB3-FB86-78F7-5D7CD2ED4660}"/>
                </a:ext>
              </a:extLst>
            </p:cNvPr>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84D4C7"/>
            </a:solidFill>
          </p:spPr>
          <p:txBody>
            <a:bodyPr/>
            <a:lstStyle/>
            <a:p>
              <a:endParaRPr lang="en-GB"/>
            </a:p>
          </p:txBody>
        </p:sp>
        <p:sp>
          <p:nvSpPr>
            <p:cNvPr id="7" name="TextBox 7">
              <a:extLst>
                <a:ext uri="{FF2B5EF4-FFF2-40B4-BE49-F238E27FC236}">
                  <a16:creationId xmlns:a16="http://schemas.microsoft.com/office/drawing/2014/main" id="{FC1FA393-FCBE-EAE1-C94E-349BAA84E2D0}"/>
                </a:ext>
              </a:extLst>
            </p:cNvPr>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8" name="Group 8">
            <a:extLst>
              <a:ext uri="{FF2B5EF4-FFF2-40B4-BE49-F238E27FC236}">
                <a16:creationId xmlns:a16="http://schemas.microsoft.com/office/drawing/2014/main" id="{B2531683-BBFD-B209-EBCE-B0E3388AD8A9}"/>
              </a:ext>
            </a:extLst>
          </p:cNvPr>
          <p:cNvGrpSpPr/>
          <p:nvPr/>
        </p:nvGrpSpPr>
        <p:grpSpPr>
          <a:xfrm>
            <a:off x="262300" y="785111"/>
            <a:ext cx="1186330" cy="1197956"/>
            <a:chOff x="0" y="0"/>
            <a:chExt cx="312449" cy="315511"/>
          </a:xfrm>
        </p:grpSpPr>
        <p:sp>
          <p:nvSpPr>
            <p:cNvPr id="9" name="Freeform 9">
              <a:extLst>
                <a:ext uri="{FF2B5EF4-FFF2-40B4-BE49-F238E27FC236}">
                  <a16:creationId xmlns:a16="http://schemas.microsoft.com/office/drawing/2014/main" id="{705F7DCE-0122-8271-56F8-44AC5D014F71}"/>
                </a:ext>
              </a:extLst>
            </p:cNvPr>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0" name="TextBox 10">
              <a:extLst>
                <a:ext uri="{FF2B5EF4-FFF2-40B4-BE49-F238E27FC236}">
                  <a16:creationId xmlns:a16="http://schemas.microsoft.com/office/drawing/2014/main" id="{6EBC48B3-54FA-981D-A38A-A45697BA392F}"/>
                </a:ext>
              </a:extLst>
            </p:cNvPr>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1" name="Group 11">
            <a:extLst>
              <a:ext uri="{FF2B5EF4-FFF2-40B4-BE49-F238E27FC236}">
                <a16:creationId xmlns:a16="http://schemas.microsoft.com/office/drawing/2014/main" id="{DB608DD8-E49C-19B9-2143-B58B912D805B}"/>
              </a:ext>
            </a:extLst>
          </p:cNvPr>
          <p:cNvGrpSpPr/>
          <p:nvPr/>
        </p:nvGrpSpPr>
        <p:grpSpPr>
          <a:xfrm>
            <a:off x="17727332" y="6865808"/>
            <a:ext cx="1186330" cy="4492540"/>
            <a:chOff x="0" y="0"/>
            <a:chExt cx="312449" cy="1183220"/>
          </a:xfrm>
        </p:grpSpPr>
        <p:sp>
          <p:nvSpPr>
            <p:cNvPr id="12" name="Freeform 12">
              <a:extLst>
                <a:ext uri="{FF2B5EF4-FFF2-40B4-BE49-F238E27FC236}">
                  <a16:creationId xmlns:a16="http://schemas.microsoft.com/office/drawing/2014/main" id="{C4F3ACAD-05F9-A909-F930-D2D6CABFD98A}"/>
                </a:ext>
              </a:extLst>
            </p:cNvPr>
            <p:cNvSpPr/>
            <p:nvPr/>
          </p:nvSpPr>
          <p:spPr>
            <a:xfrm>
              <a:off x="0" y="0"/>
              <a:ext cx="312449" cy="1183220"/>
            </a:xfrm>
            <a:custGeom>
              <a:avLst/>
              <a:gdLst/>
              <a:ahLst/>
              <a:cxnLst/>
              <a:rect l="l" t="t" r="r" b="b"/>
              <a:pathLst>
                <a:path w="312449" h="1183220">
                  <a:moveTo>
                    <a:pt x="156225" y="0"/>
                  </a:moveTo>
                  <a:lnTo>
                    <a:pt x="156225" y="0"/>
                  </a:lnTo>
                  <a:cubicBezTo>
                    <a:pt x="197658" y="0"/>
                    <a:pt x="237394" y="16459"/>
                    <a:pt x="266692" y="45757"/>
                  </a:cubicBezTo>
                  <a:cubicBezTo>
                    <a:pt x="295990" y="75055"/>
                    <a:pt x="312449" y="114791"/>
                    <a:pt x="312449" y="156225"/>
                  </a:cubicBezTo>
                  <a:lnTo>
                    <a:pt x="312449" y="1026996"/>
                  </a:lnTo>
                  <a:cubicBezTo>
                    <a:pt x="312449" y="1068429"/>
                    <a:pt x="295990" y="1108165"/>
                    <a:pt x="266692" y="1137463"/>
                  </a:cubicBezTo>
                  <a:cubicBezTo>
                    <a:pt x="237394" y="1166761"/>
                    <a:pt x="197658" y="1183220"/>
                    <a:pt x="156225" y="1183220"/>
                  </a:cubicBezTo>
                  <a:lnTo>
                    <a:pt x="156225" y="1183220"/>
                  </a:lnTo>
                  <a:cubicBezTo>
                    <a:pt x="114791" y="1183220"/>
                    <a:pt x="75055" y="1166761"/>
                    <a:pt x="45757" y="1137463"/>
                  </a:cubicBezTo>
                  <a:cubicBezTo>
                    <a:pt x="16459" y="1108165"/>
                    <a:pt x="0" y="1068429"/>
                    <a:pt x="0" y="1026996"/>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3" name="TextBox 13">
              <a:extLst>
                <a:ext uri="{FF2B5EF4-FFF2-40B4-BE49-F238E27FC236}">
                  <a16:creationId xmlns:a16="http://schemas.microsoft.com/office/drawing/2014/main" id="{42C5EB77-B4B9-BB4B-99A1-9AB7B9C46527}"/>
                </a:ext>
              </a:extLst>
            </p:cNvPr>
            <p:cNvSpPr txBox="1"/>
            <p:nvPr/>
          </p:nvSpPr>
          <p:spPr>
            <a:xfrm>
              <a:off x="0" y="28575"/>
              <a:ext cx="312449" cy="1154645"/>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14" name="Group 14">
            <a:extLst>
              <a:ext uri="{FF2B5EF4-FFF2-40B4-BE49-F238E27FC236}">
                <a16:creationId xmlns:a16="http://schemas.microsoft.com/office/drawing/2014/main" id="{D791C479-63CE-6A0D-F4C7-FC1C74B6F37F}"/>
              </a:ext>
            </a:extLst>
          </p:cNvPr>
          <p:cNvGrpSpPr/>
          <p:nvPr/>
        </p:nvGrpSpPr>
        <p:grpSpPr>
          <a:xfrm>
            <a:off x="17722918" y="5468013"/>
            <a:ext cx="1186330" cy="1197956"/>
            <a:chOff x="0" y="0"/>
            <a:chExt cx="312449" cy="315511"/>
          </a:xfrm>
        </p:grpSpPr>
        <p:sp>
          <p:nvSpPr>
            <p:cNvPr id="15" name="Freeform 15">
              <a:extLst>
                <a:ext uri="{FF2B5EF4-FFF2-40B4-BE49-F238E27FC236}">
                  <a16:creationId xmlns:a16="http://schemas.microsoft.com/office/drawing/2014/main" id="{4142622D-6ECE-92CF-1419-E1F942FAE3A8}"/>
                </a:ext>
              </a:extLst>
            </p:cNvPr>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16" name="TextBox 16">
              <a:extLst>
                <a:ext uri="{FF2B5EF4-FFF2-40B4-BE49-F238E27FC236}">
                  <a16:creationId xmlns:a16="http://schemas.microsoft.com/office/drawing/2014/main" id="{B416283D-03BE-EB22-30C0-4BEAA89D0680}"/>
                </a:ext>
              </a:extLst>
            </p:cNvPr>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18" name="TextBox 18">
            <a:extLst>
              <a:ext uri="{FF2B5EF4-FFF2-40B4-BE49-F238E27FC236}">
                <a16:creationId xmlns:a16="http://schemas.microsoft.com/office/drawing/2014/main" id="{9C1C0588-5BF3-D124-191C-14B0A1ACF5F5}"/>
              </a:ext>
            </a:extLst>
          </p:cNvPr>
          <p:cNvSpPr txBox="1"/>
          <p:nvPr/>
        </p:nvSpPr>
        <p:spPr>
          <a:xfrm>
            <a:off x="4916297" y="408948"/>
            <a:ext cx="12343003" cy="787006"/>
          </a:xfrm>
          <a:prstGeom prst="rect">
            <a:avLst/>
          </a:prstGeom>
        </p:spPr>
        <p:txBody>
          <a:bodyPr lIns="0" tIns="0" rIns="0" bIns="0" rtlCol="0" anchor="t">
            <a:spAutoFit/>
          </a:bodyPr>
          <a:lstStyle/>
          <a:p>
            <a:pPr marL="0" lvl="0" indent="0" algn="l">
              <a:lnSpc>
                <a:spcPts val="5859"/>
              </a:lnSpc>
              <a:spcBef>
                <a:spcPct val="0"/>
              </a:spcBef>
            </a:pPr>
            <a:r>
              <a:rPr lang="en-US" sz="5859" b="1" u="none" strike="noStrike">
                <a:solidFill>
                  <a:srgbClr val="0C0E0B"/>
                </a:solidFill>
                <a:latin typeface="Montaser Arabic Bold"/>
                <a:ea typeface="Montaser Arabic Bold"/>
                <a:cs typeface="Montaser Arabic Bold"/>
                <a:sym typeface="Montaser Arabic Bold"/>
              </a:rPr>
              <a:t>Understanding Model Decisions</a:t>
            </a:r>
          </a:p>
        </p:txBody>
      </p:sp>
      <p:grpSp>
        <p:nvGrpSpPr>
          <p:cNvPr id="19" name="Group 19">
            <a:extLst>
              <a:ext uri="{FF2B5EF4-FFF2-40B4-BE49-F238E27FC236}">
                <a16:creationId xmlns:a16="http://schemas.microsoft.com/office/drawing/2014/main" id="{F5BDF6BD-CB8B-DEEB-004E-52037ABB6B37}"/>
              </a:ext>
            </a:extLst>
          </p:cNvPr>
          <p:cNvGrpSpPr/>
          <p:nvPr/>
        </p:nvGrpSpPr>
        <p:grpSpPr>
          <a:xfrm>
            <a:off x="1715330" y="-568137"/>
            <a:ext cx="1186330" cy="1197956"/>
            <a:chOff x="0" y="0"/>
            <a:chExt cx="312449" cy="315511"/>
          </a:xfrm>
        </p:grpSpPr>
        <p:sp>
          <p:nvSpPr>
            <p:cNvPr id="20" name="Freeform 20">
              <a:extLst>
                <a:ext uri="{FF2B5EF4-FFF2-40B4-BE49-F238E27FC236}">
                  <a16:creationId xmlns:a16="http://schemas.microsoft.com/office/drawing/2014/main" id="{9EECAD08-F9B7-FA3B-95B2-474416903E3E}"/>
                </a:ext>
              </a:extLst>
            </p:cNvPr>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21" name="TextBox 21">
              <a:extLst>
                <a:ext uri="{FF2B5EF4-FFF2-40B4-BE49-F238E27FC236}">
                  <a16:creationId xmlns:a16="http://schemas.microsoft.com/office/drawing/2014/main" id="{2C506219-8C88-16D9-FB52-E66E76CE1CA0}"/>
                </a:ext>
              </a:extLst>
            </p:cNvPr>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pic>
        <p:nvPicPr>
          <p:cNvPr id="23" name="Picture 22">
            <a:extLst>
              <a:ext uri="{FF2B5EF4-FFF2-40B4-BE49-F238E27FC236}">
                <a16:creationId xmlns:a16="http://schemas.microsoft.com/office/drawing/2014/main" id="{2E8CD9B3-6711-B0FD-2C37-9A43432D2B4F}"/>
              </a:ext>
            </a:extLst>
          </p:cNvPr>
          <p:cNvPicPr>
            <a:picLocks noChangeAspect="1"/>
          </p:cNvPicPr>
          <p:nvPr/>
        </p:nvPicPr>
        <p:blipFill>
          <a:blip r:embed="rId3"/>
          <a:stretch>
            <a:fillRect/>
          </a:stretch>
        </p:blipFill>
        <p:spPr>
          <a:xfrm>
            <a:off x="5108763" y="2058820"/>
            <a:ext cx="11734800" cy="7819232"/>
          </a:xfrm>
          <a:prstGeom prst="rect">
            <a:avLst/>
          </a:prstGeom>
        </p:spPr>
      </p:pic>
      <p:pic>
        <p:nvPicPr>
          <p:cNvPr id="25" name="Picture 24">
            <a:extLst>
              <a:ext uri="{FF2B5EF4-FFF2-40B4-BE49-F238E27FC236}">
                <a16:creationId xmlns:a16="http://schemas.microsoft.com/office/drawing/2014/main" id="{34BAB7BB-3EE9-DC36-FA20-F84B0E250306}"/>
              </a:ext>
            </a:extLst>
          </p:cNvPr>
          <p:cNvPicPr>
            <a:picLocks noChangeAspect="1"/>
          </p:cNvPicPr>
          <p:nvPr/>
        </p:nvPicPr>
        <p:blipFill>
          <a:blip r:embed="rId4"/>
          <a:stretch>
            <a:fillRect/>
          </a:stretch>
        </p:blipFill>
        <p:spPr>
          <a:xfrm>
            <a:off x="6629400" y="1916392"/>
            <a:ext cx="2038350" cy="133350"/>
          </a:xfrm>
          <a:prstGeom prst="rect">
            <a:avLst/>
          </a:prstGeom>
        </p:spPr>
      </p:pic>
      <p:pic>
        <p:nvPicPr>
          <p:cNvPr id="26" name="Picture 25">
            <a:extLst>
              <a:ext uri="{FF2B5EF4-FFF2-40B4-BE49-F238E27FC236}">
                <a16:creationId xmlns:a16="http://schemas.microsoft.com/office/drawing/2014/main" id="{3D333221-4AC4-5E25-66C8-AAE4B4CDBA9B}"/>
              </a:ext>
            </a:extLst>
          </p:cNvPr>
          <p:cNvPicPr>
            <a:picLocks noChangeAspect="1"/>
          </p:cNvPicPr>
          <p:nvPr/>
        </p:nvPicPr>
        <p:blipFill>
          <a:blip r:embed="rId4"/>
          <a:stretch>
            <a:fillRect/>
          </a:stretch>
        </p:blipFill>
        <p:spPr>
          <a:xfrm>
            <a:off x="8937813" y="1883055"/>
            <a:ext cx="2038350" cy="133350"/>
          </a:xfrm>
          <a:prstGeom prst="rect">
            <a:avLst/>
          </a:prstGeom>
        </p:spPr>
      </p:pic>
      <p:sp>
        <p:nvSpPr>
          <p:cNvPr id="27" name="TextBox 26">
            <a:extLst>
              <a:ext uri="{FF2B5EF4-FFF2-40B4-BE49-F238E27FC236}">
                <a16:creationId xmlns:a16="http://schemas.microsoft.com/office/drawing/2014/main" id="{1176BFBB-4458-6011-D567-211774979AEC}"/>
              </a:ext>
            </a:extLst>
          </p:cNvPr>
          <p:cNvSpPr txBox="1"/>
          <p:nvPr/>
        </p:nvSpPr>
        <p:spPr>
          <a:xfrm>
            <a:off x="3008699" y="1801874"/>
            <a:ext cx="1658180" cy="7017306"/>
          </a:xfrm>
          <a:prstGeom prst="rect">
            <a:avLst/>
          </a:prstGeom>
          <a:noFill/>
        </p:spPr>
        <p:txBody>
          <a:bodyPr wrap="square" rtlCol="0">
            <a:spAutoFit/>
          </a:bodyPr>
          <a:lstStyle/>
          <a:p>
            <a:r>
              <a:rPr lang="en-US" sz="45000" dirty="0"/>
              <a:t>{</a:t>
            </a:r>
            <a:endParaRPr lang="en-GB" sz="45000" dirty="0"/>
          </a:p>
        </p:txBody>
      </p:sp>
      <p:sp>
        <p:nvSpPr>
          <p:cNvPr id="28" name="TextBox 27">
            <a:extLst>
              <a:ext uri="{FF2B5EF4-FFF2-40B4-BE49-F238E27FC236}">
                <a16:creationId xmlns:a16="http://schemas.microsoft.com/office/drawing/2014/main" id="{F4942503-72A3-BE52-D53E-A6495FD00ECD}"/>
              </a:ext>
            </a:extLst>
          </p:cNvPr>
          <p:cNvSpPr txBox="1"/>
          <p:nvPr/>
        </p:nvSpPr>
        <p:spPr>
          <a:xfrm>
            <a:off x="886517" y="4884011"/>
            <a:ext cx="2122182" cy="1384995"/>
          </a:xfrm>
          <a:prstGeom prst="rect">
            <a:avLst/>
          </a:prstGeom>
          <a:noFill/>
        </p:spPr>
        <p:txBody>
          <a:bodyPr wrap="square" rtlCol="0">
            <a:spAutoFit/>
          </a:bodyPr>
          <a:lstStyle/>
          <a:p>
            <a:r>
              <a:rPr lang="en-US" sz="2800" dirty="0">
                <a:latin typeface="Montaser Arabic" panose="020B0604020202020204" charset="-78"/>
                <a:cs typeface="Montaser Arabic" panose="020B0604020202020204" charset="-78"/>
              </a:rPr>
              <a:t>Mix of features at the top !!!</a:t>
            </a:r>
            <a:endParaRPr lang="en-GB" sz="2800" dirty="0">
              <a:latin typeface="Montaser Arabic" panose="020B0604020202020204" charset="-78"/>
              <a:cs typeface="Montaser Arabic" panose="020B0604020202020204" charset="-78"/>
            </a:endParaRPr>
          </a:p>
        </p:txBody>
      </p:sp>
    </p:spTree>
    <p:extLst>
      <p:ext uri="{BB962C8B-B14F-4D97-AF65-F5344CB8AC3E}">
        <p14:creationId xmlns:p14="http://schemas.microsoft.com/office/powerpoint/2010/main" val="321380966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53877" y="1494527"/>
            <a:ext cx="10128823" cy="848246"/>
          </a:xfrm>
          <a:prstGeom prst="rect">
            <a:avLst/>
          </a:prstGeom>
        </p:spPr>
        <p:txBody>
          <a:bodyPr lIns="0" tIns="0" rIns="0" bIns="0" rtlCol="0" anchor="t">
            <a:spAutoFit/>
          </a:bodyPr>
          <a:lstStyle/>
          <a:p>
            <a:pPr marL="0" lvl="0" indent="0" algn="l">
              <a:lnSpc>
                <a:spcPts val="6395"/>
              </a:lnSpc>
              <a:spcBef>
                <a:spcPct val="0"/>
              </a:spcBef>
            </a:pPr>
            <a:r>
              <a:rPr lang="en-US" sz="6395" b="1">
                <a:solidFill>
                  <a:srgbClr val="0C0E0B"/>
                </a:solidFill>
                <a:latin typeface="Montaser Arabic Bold"/>
                <a:ea typeface="Montaser Arabic Bold"/>
                <a:cs typeface="Montaser Arabic Bold"/>
                <a:sym typeface="Montaser Arabic Bold"/>
              </a:rPr>
              <a:t>Conclusions</a:t>
            </a:r>
          </a:p>
        </p:txBody>
      </p:sp>
      <p:grpSp>
        <p:nvGrpSpPr>
          <p:cNvPr id="3" name="Group 3"/>
          <p:cNvGrpSpPr/>
          <p:nvPr/>
        </p:nvGrpSpPr>
        <p:grpSpPr>
          <a:xfrm>
            <a:off x="1592352" y="2701325"/>
            <a:ext cx="15103297" cy="6395294"/>
            <a:chOff x="0" y="0"/>
            <a:chExt cx="3977823" cy="1684357"/>
          </a:xfrm>
        </p:grpSpPr>
        <p:sp>
          <p:nvSpPr>
            <p:cNvPr id="4" name="Freeform 4"/>
            <p:cNvSpPr/>
            <p:nvPr/>
          </p:nvSpPr>
          <p:spPr>
            <a:xfrm>
              <a:off x="0" y="0"/>
              <a:ext cx="3977823" cy="1684357"/>
            </a:xfrm>
            <a:custGeom>
              <a:avLst/>
              <a:gdLst/>
              <a:ahLst/>
              <a:cxnLst/>
              <a:rect l="l" t="t" r="r" b="b"/>
              <a:pathLst>
                <a:path w="3977823" h="1684357">
                  <a:moveTo>
                    <a:pt x="30756" y="0"/>
                  </a:moveTo>
                  <a:lnTo>
                    <a:pt x="3947067" y="0"/>
                  </a:lnTo>
                  <a:cubicBezTo>
                    <a:pt x="3964053" y="0"/>
                    <a:pt x="3977823" y="13770"/>
                    <a:pt x="3977823" y="30756"/>
                  </a:cubicBezTo>
                  <a:lnTo>
                    <a:pt x="3977823" y="1653601"/>
                  </a:lnTo>
                  <a:cubicBezTo>
                    <a:pt x="3977823" y="1670587"/>
                    <a:pt x="3964053" y="1684357"/>
                    <a:pt x="3947067" y="1684357"/>
                  </a:cubicBezTo>
                  <a:lnTo>
                    <a:pt x="30756" y="1684357"/>
                  </a:lnTo>
                  <a:cubicBezTo>
                    <a:pt x="13770" y="1684357"/>
                    <a:pt x="0" y="1670587"/>
                    <a:pt x="0" y="1653601"/>
                  </a:cubicBezTo>
                  <a:lnTo>
                    <a:pt x="0" y="30756"/>
                  </a:lnTo>
                  <a:cubicBezTo>
                    <a:pt x="0" y="13770"/>
                    <a:pt x="13770" y="0"/>
                    <a:pt x="30756" y="0"/>
                  </a:cubicBezTo>
                  <a:close/>
                </a:path>
              </a:pathLst>
            </a:custGeom>
            <a:solidFill>
              <a:srgbClr val="FFFFFF"/>
            </a:solidFill>
            <a:ln w="38100" cap="rnd">
              <a:solidFill>
                <a:srgbClr val="1D5A7C"/>
              </a:solidFill>
              <a:prstDash val="solid"/>
              <a:round/>
            </a:ln>
          </p:spPr>
          <p:txBody>
            <a:bodyPr/>
            <a:lstStyle/>
            <a:p>
              <a:endParaRPr lang="en-GB"/>
            </a:p>
          </p:txBody>
        </p:sp>
        <p:sp>
          <p:nvSpPr>
            <p:cNvPr id="5" name="TextBox 5"/>
            <p:cNvSpPr txBox="1"/>
            <p:nvPr/>
          </p:nvSpPr>
          <p:spPr>
            <a:xfrm>
              <a:off x="0" y="28575"/>
              <a:ext cx="3977823" cy="1655782"/>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6" name="TextBox 6"/>
          <p:cNvSpPr txBox="1"/>
          <p:nvPr/>
        </p:nvSpPr>
        <p:spPr>
          <a:xfrm>
            <a:off x="4656447" y="3936638"/>
            <a:ext cx="10399799" cy="452827"/>
          </a:xfrm>
          <a:prstGeom prst="rect">
            <a:avLst/>
          </a:prstGeom>
        </p:spPr>
        <p:txBody>
          <a:bodyPr lIns="0" tIns="0" rIns="0" bIns="0" rtlCol="0" anchor="t">
            <a:spAutoFit/>
          </a:bodyPr>
          <a:lstStyle/>
          <a:p>
            <a:pPr marL="0" lvl="0" indent="0" algn="l">
              <a:lnSpc>
                <a:spcPts val="1816"/>
              </a:lnSpc>
              <a:spcBef>
                <a:spcPct val="0"/>
              </a:spcBef>
            </a:pPr>
            <a:r>
              <a:rPr lang="en-US" sz="1297" spc="-25" dirty="0">
                <a:solidFill>
                  <a:srgbClr val="2A2E30"/>
                </a:solidFill>
                <a:latin typeface="Montaser Arabic"/>
                <a:ea typeface="Montaser Arabic"/>
                <a:cs typeface="Montaser Arabic"/>
                <a:sym typeface="Montaser Arabic"/>
              </a:rPr>
              <a:t>Local DNA sequence context contains detectable mutation origin signals. The hybrid model (NT + Biological Features + XGBoost) achieves the best classification performance with MCC 0.313 and ROC-AUC 0.722, outperforming all baseline approaches.</a:t>
            </a:r>
          </a:p>
        </p:txBody>
      </p:sp>
      <p:sp>
        <p:nvSpPr>
          <p:cNvPr id="7" name="TextBox 7"/>
          <p:cNvSpPr txBox="1"/>
          <p:nvPr/>
        </p:nvSpPr>
        <p:spPr>
          <a:xfrm>
            <a:off x="4656447" y="5842437"/>
            <a:ext cx="10399799" cy="452827"/>
          </a:xfrm>
          <a:prstGeom prst="rect">
            <a:avLst/>
          </a:prstGeom>
        </p:spPr>
        <p:txBody>
          <a:bodyPr lIns="0" tIns="0" rIns="0" bIns="0" rtlCol="0" anchor="t">
            <a:spAutoFit/>
          </a:bodyPr>
          <a:lstStyle/>
          <a:p>
            <a:pPr marL="0" lvl="0" indent="0" algn="l">
              <a:lnSpc>
                <a:spcPts val="1816"/>
              </a:lnSpc>
              <a:spcBef>
                <a:spcPct val="0"/>
              </a:spcBef>
            </a:pPr>
            <a:r>
              <a:rPr lang="en-US" sz="1297" u="none" strike="noStrike" spc="-25">
                <a:solidFill>
                  <a:srgbClr val="2A2E30"/>
                </a:solidFill>
                <a:latin typeface="Montaser Arabic"/>
                <a:ea typeface="Montaser Arabic"/>
                <a:cs typeface="Montaser Arabic"/>
                <a:sym typeface="Montaser Arabic"/>
              </a:rPr>
              <a:t>Nucleotide Transformer embeddings outperform traditional k-mer and logistic regression approaches. Biological features provide complementary, interpretable information that further boosts classification performance.</a:t>
            </a:r>
          </a:p>
        </p:txBody>
      </p:sp>
      <p:sp>
        <p:nvSpPr>
          <p:cNvPr id="8" name="TextBox 8"/>
          <p:cNvSpPr txBox="1"/>
          <p:nvPr/>
        </p:nvSpPr>
        <p:spPr>
          <a:xfrm>
            <a:off x="4656447" y="3450910"/>
            <a:ext cx="4839724" cy="282286"/>
          </a:xfrm>
          <a:prstGeom prst="rect">
            <a:avLst/>
          </a:prstGeom>
        </p:spPr>
        <p:txBody>
          <a:bodyPr lIns="0" tIns="0" rIns="0" bIns="0" rtlCol="0" anchor="t">
            <a:spAutoFit/>
          </a:bodyPr>
          <a:lstStyle/>
          <a:p>
            <a:pPr marL="0" lvl="0" indent="0" algn="l">
              <a:lnSpc>
                <a:spcPts val="2175"/>
              </a:lnSpc>
            </a:pPr>
            <a:r>
              <a:rPr lang="en-US" sz="1977" b="1">
                <a:solidFill>
                  <a:srgbClr val="0C0E0B"/>
                </a:solidFill>
                <a:latin typeface="Montaser Arabic Bold"/>
                <a:ea typeface="Montaser Arabic Bold"/>
                <a:cs typeface="Montaser Arabic Bold"/>
                <a:sym typeface="Montaser Arabic Bold"/>
              </a:rPr>
              <a:t>Key Findings</a:t>
            </a:r>
          </a:p>
        </p:txBody>
      </p:sp>
      <p:sp>
        <p:nvSpPr>
          <p:cNvPr id="9" name="TextBox 9"/>
          <p:cNvSpPr txBox="1"/>
          <p:nvPr/>
        </p:nvSpPr>
        <p:spPr>
          <a:xfrm>
            <a:off x="2033292" y="3645166"/>
            <a:ext cx="1711599" cy="735342"/>
          </a:xfrm>
          <a:prstGeom prst="rect">
            <a:avLst/>
          </a:prstGeom>
        </p:spPr>
        <p:txBody>
          <a:bodyPr lIns="0" tIns="0" rIns="0" bIns="0" rtlCol="0" anchor="t">
            <a:spAutoFit/>
          </a:bodyPr>
          <a:lstStyle/>
          <a:p>
            <a:pPr marL="0" lvl="0" indent="0" algn="r">
              <a:lnSpc>
                <a:spcPts val="5572"/>
              </a:lnSpc>
              <a:spcBef>
                <a:spcPct val="0"/>
              </a:spcBef>
            </a:pPr>
            <a:r>
              <a:rPr lang="en-US" sz="5572" b="1">
                <a:solidFill>
                  <a:srgbClr val="1D5A7C"/>
                </a:solidFill>
                <a:latin typeface="Montaser Arabic Bold"/>
                <a:ea typeface="Montaser Arabic Bold"/>
                <a:cs typeface="Montaser Arabic Bold"/>
                <a:sym typeface="Montaser Arabic Bold"/>
              </a:rPr>
              <a:t>0</a:t>
            </a:r>
            <a:r>
              <a:rPr lang="en-US" sz="5572" b="1" strike="noStrike">
                <a:solidFill>
                  <a:srgbClr val="1D5A7C"/>
                </a:solidFill>
                <a:latin typeface="Montaser Arabic Bold"/>
                <a:ea typeface="Montaser Arabic Bold"/>
                <a:cs typeface="Montaser Arabic Bold"/>
                <a:sym typeface="Montaser Arabic Bold"/>
              </a:rPr>
              <a:t>1</a:t>
            </a:r>
          </a:p>
        </p:txBody>
      </p:sp>
      <p:sp>
        <p:nvSpPr>
          <p:cNvPr id="10" name="TextBox 10"/>
          <p:cNvSpPr txBox="1"/>
          <p:nvPr/>
        </p:nvSpPr>
        <p:spPr>
          <a:xfrm>
            <a:off x="4656447" y="5356710"/>
            <a:ext cx="4839724" cy="282286"/>
          </a:xfrm>
          <a:prstGeom prst="rect">
            <a:avLst/>
          </a:prstGeom>
        </p:spPr>
        <p:txBody>
          <a:bodyPr lIns="0" tIns="0" rIns="0" bIns="0" rtlCol="0" anchor="t">
            <a:spAutoFit/>
          </a:bodyPr>
          <a:lstStyle/>
          <a:p>
            <a:pPr marL="0" lvl="0" indent="0" algn="l">
              <a:lnSpc>
                <a:spcPts val="2175"/>
              </a:lnSpc>
            </a:pPr>
            <a:r>
              <a:rPr lang="en-US" sz="1977" b="1">
                <a:solidFill>
                  <a:srgbClr val="0C0E0B"/>
                </a:solidFill>
                <a:latin typeface="Montaser Arabic Bold"/>
                <a:ea typeface="Montaser Arabic Bold"/>
                <a:cs typeface="Montaser Arabic Bold"/>
                <a:sym typeface="Montaser Arabic Bold"/>
              </a:rPr>
              <a:t>Foundation Models vs. Traditional ML</a:t>
            </a:r>
          </a:p>
        </p:txBody>
      </p:sp>
      <p:sp>
        <p:nvSpPr>
          <p:cNvPr id="11" name="TextBox 11"/>
          <p:cNvSpPr txBox="1"/>
          <p:nvPr/>
        </p:nvSpPr>
        <p:spPr>
          <a:xfrm>
            <a:off x="2033292" y="5603671"/>
            <a:ext cx="1711599" cy="735342"/>
          </a:xfrm>
          <a:prstGeom prst="rect">
            <a:avLst/>
          </a:prstGeom>
        </p:spPr>
        <p:txBody>
          <a:bodyPr lIns="0" tIns="0" rIns="0" bIns="0" rtlCol="0" anchor="t">
            <a:spAutoFit/>
          </a:bodyPr>
          <a:lstStyle/>
          <a:p>
            <a:pPr marL="0" lvl="0" indent="0" algn="r">
              <a:lnSpc>
                <a:spcPts val="5572"/>
              </a:lnSpc>
              <a:spcBef>
                <a:spcPct val="0"/>
              </a:spcBef>
            </a:pPr>
            <a:r>
              <a:rPr lang="en-US" sz="5572" b="1">
                <a:solidFill>
                  <a:srgbClr val="1D5A7C"/>
                </a:solidFill>
                <a:latin typeface="Montaser Arabic Bold"/>
                <a:ea typeface="Montaser Arabic Bold"/>
                <a:cs typeface="Montaser Arabic Bold"/>
                <a:sym typeface="Montaser Arabic Bold"/>
              </a:rPr>
              <a:t>02</a:t>
            </a:r>
          </a:p>
        </p:txBody>
      </p:sp>
      <p:sp>
        <p:nvSpPr>
          <p:cNvPr id="12" name="TextBox 12"/>
          <p:cNvSpPr txBox="1"/>
          <p:nvPr/>
        </p:nvSpPr>
        <p:spPr>
          <a:xfrm>
            <a:off x="4656447" y="7748237"/>
            <a:ext cx="10399799" cy="445058"/>
          </a:xfrm>
          <a:prstGeom prst="rect">
            <a:avLst/>
          </a:prstGeom>
        </p:spPr>
        <p:txBody>
          <a:bodyPr lIns="0" tIns="0" rIns="0" bIns="0" rtlCol="0" anchor="t">
            <a:spAutoFit/>
          </a:bodyPr>
          <a:lstStyle/>
          <a:p>
            <a:pPr marL="0" lvl="0" indent="0" algn="l">
              <a:lnSpc>
                <a:spcPts val="1816"/>
              </a:lnSpc>
              <a:spcBef>
                <a:spcPct val="0"/>
              </a:spcBef>
            </a:pPr>
            <a:r>
              <a:rPr lang="en-US" sz="1297" spc="-25" dirty="0">
                <a:solidFill>
                  <a:srgbClr val="2A2E30"/>
                </a:solidFill>
                <a:latin typeface="Montaser Arabic"/>
                <a:ea typeface="Montaser Arabic"/>
                <a:cs typeface="Montaser Arabic"/>
                <a:sym typeface="Montaser Arabic"/>
              </a:rPr>
              <a:t>Compare with DNABERT-2 foundation model; fine-tune foundation models for somatic/germline classification; explore DEFT-inspired dynamic feature generation; discover novel mutation-associated sequence motifs.</a:t>
            </a:r>
          </a:p>
        </p:txBody>
      </p:sp>
      <p:sp>
        <p:nvSpPr>
          <p:cNvPr id="13" name="TextBox 13"/>
          <p:cNvSpPr txBox="1"/>
          <p:nvPr/>
        </p:nvSpPr>
        <p:spPr>
          <a:xfrm>
            <a:off x="4656447" y="7262510"/>
            <a:ext cx="4839724" cy="282286"/>
          </a:xfrm>
          <a:prstGeom prst="rect">
            <a:avLst/>
          </a:prstGeom>
        </p:spPr>
        <p:txBody>
          <a:bodyPr lIns="0" tIns="0" rIns="0" bIns="0" rtlCol="0" anchor="t">
            <a:spAutoFit/>
          </a:bodyPr>
          <a:lstStyle/>
          <a:p>
            <a:pPr marL="0" lvl="0" indent="0" algn="l">
              <a:lnSpc>
                <a:spcPts val="2175"/>
              </a:lnSpc>
            </a:pPr>
            <a:r>
              <a:rPr lang="en-US" sz="1977" b="1">
                <a:solidFill>
                  <a:srgbClr val="0C0E0B"/>
                </a:solidFill>
                <a:latin typeface="Montaser Arabic Bold"/>
                <a:ea typeface="Montaser Arabic Bold"/>
                <a:cs typeface="Montaser Arabic Bold"/>
                <a:sym typeface="Montaser Arabic Bold"/>
              </a:rPr>
              <a:t>Future Directions</a:t>
            </a:r>
          </a:p>
        </p:txBody>
      </p:sp>
      <p:sp>
        <p:nvSpPr>
          <p:cNvPr id="14" name="TextBox 14"/>
          <p:cNvSpPr txBox="1"/>
          <p:nvPr/>
        </p:nvSpPr>
        <p:spPr>
          <a:xfrm>
            <a:off x="2033292" y="7509471"/>
            <a:ext cx="1711599" cy="735342"/>
          </a:xfrm>
          <a:prstGeom prst="rect">
            <a:avLst/>
          </a:prstGeom>
        </p:spPr>
        <p:txBody>
          <a:bodyPr lIns="0" tIns="0" rIns="0" bIns="0" rtlCol="0" anchor="t">
            <a:spAutoFit/>
          </a:bodyPr>
          <a:lstStyle/>
          <a:p>
            <a:pPr marL="0" lvl="0" indent="0" algn="r">
              <a:lnSpc>
                <a:spcPts val="5572"/>
              </a:lnSpc>
              <a:spcBef>
                <a:spcPct val="0"/>
              </a:spcBef>
            </a:pPr>
            <a:r>
              <a:rPr lang="en-US" sz="5572" b="1">
                <a:solidFill>
                  <a:srgbClr val="1D5A7C"/>
                </a:solidFill>
                <a:latin typeface="Montaser Arabic Bold"/>
                <a:ea typeface="Montaser Arabic Bold"/>
                <a:cs typeface="Montaser Arabic Bold"/>
                <a:sym typeface="Montaser Arabic Bold"/>
              </a:rPr>
              <a:t>03</a:t>
            </a:r>
          </a:p>
        </p:txBody>
      </p:sp>
      <p:grpSp>
        <p:nvGrpSpPr>
          <p:cNvPr id="15" name="Group 15"/>
          <p:cNvGrpSpPr/>
          <p:nvPr/>
        </p:nvGrpSpPr>
        <p:grpSpPr>
          <a:xfrm>
            <a:off x="14099179" y="-2504166"/>
            <a:ext cx="1186330" cy="4320194"/>
            <a:chOff x="0" y="0"/>
            <a:chExt cx="312449" cy="1137829"/>
          </a:xfrm>
        </p:grpSpPr>
        <p:sp>
          <p:nvSpPr>
            <p:cNvPr id="16" name="Freeform 16"/>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17" name="TextBox 17"/>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8" name="Group 18"/>
          <p:cNvGrpSpPr/>
          <p:nvPr/>
        </p:nvGrpSpPr>
        <p:grpSpPr>
          <a:xfrm>
            <a:off x="15547793" y="-3472576"/>
            <a:ext cx="1186330" cy="4320194"/>
            <a:chOff x="0" y="0"/>
            <a:chExt cx="312449" cy="1137829"/>
          </a:xfrm>
        </p:grpSpPr>
        <p:sp>
          <p:nvSpPr>
            <p:cNvPr id="19" name="Freeform 19"/>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0" name="TextBox 20"/>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1" name="Group 21"/>
          <p:cNvGrpSpPr/>
          <p:nvPr/>
        </p:nvGrpSpPr>
        <p:grpSpPr>
          <a:xfrm>
            <a:off x="12646149" y="-2929629"/>
            <a:ext cx="1186330" cy="4320194"/>
            <a:chOff x="0" y="0"/>
            <a:chExt cx="312449" cy="1137829"/>
          </a:xfrm>
        </p:grpSpPr>
        <p:sp>
          <p:nvSpPr>
            <p:cNvPr id="22" name="Freeform 22"/>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3" name="TextBox 23"/>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4" name="Group 24"/>
          <p:cNvGrpSpPr/>
          <p:nvPr/>
        </p:nvGrpSpPr>
        <p:grpSpPr>
          <a:xfrm>
            <a:off x="15547793" y="952735"/>
            <a:ext cx="1186330" cy="1197956"/>
            <a:chOff x="0" y="0"/>
            <a:chExt cx="312449" cy="315511"/>
          </a:xfrm>
        </p:grpSpPr>
        <p:sp>
          <p:nvSpPr>
            <p:cNvPr id="25" name="Freeform 25"/>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26" name="TextBox 26"/>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02355" y="2791724"/>
            <a:ext cx="6444776" cy="1154162"/>
          </a:xfrm>
          <a:prstGeom prst="rect">
            <a:avLst/>
          </a:prstGeom>
        </p:spPr>
        <p:txBody>
          <a:bodyPr lIns="0" tIns="0" rIns="0" bIns="0" rtlCol="0" anchor="t">
            <a:spAutoFit/>
          </a:bodyPr>
          <a:lstStyle/>
          <a:p>
            <a:pPr marL="0" lvl="0" indent="0" algn="l">
              <a:lnSpc>
                <a:spcPts val="9039"/>
              </a:lnSpc>
            </a:pPr>
            <a:r>
              <a:rPr lang="en-US" sz="9039" b="1" dirty="0">
                <a:solidFill>
                  <a:srgbClr val="0C0E0B"/>
                </a:solidFill>
                <a:latin typeface="Montaser Arabic Semi-Bold"/>
                <a:ea typeface="Montaser Arabic Semi-Bold"/>
                <a:cs typeface="Montaser Arabic Semi-Bold"/>
                <a:sym typeface="Montaser Arabic Semi-Bold"/>
              </a:rPr>
              <a:t>Thank You</a:t>
            </a:r>
          </a:p>
        </p:txBody>
      </p:sp>
      <p:sp>
        <p:nvSpPr>
          <p:cNvPr id="3" name="TextBox 3"/>
          <p:cNvSpPr txBox="1"/>
          <p:nvPr/>
        </p:nvSpPr>
        <p:spPr>
          <a:xfrm>
            <a:off x="1302355" y="6943105"/>
            <a:ext cx="8457083" cy="293351"/>
          </a:xfrm>
          <a:prstGeom prst="rect">
            <a:avLst/>
          </a:prstGeom>
        </p:spPr>
        <p:txBody>
          <a:bodyPr lIns="0" tIns="0" rIns="0" bIns="0" rtlCol="0" anchor="t">
            <a:spAutoFit/>
          </a:bodyPr>
          <a:lstStyle/>
          <a:p>
            <a:pPr marL="0" lvl="0" indent="0" algn="just">
              <a:lnSpc>
                <a:spcPts val="2308"/>
              </a:lnSpc>
            </a:pPr>
            <a:r>
              <a:rPr lang="en-US" sz="2098">
                <a:solidFill>
                  <a:srgbClr val="0B1320"/>
                </a:solidFill>
                <a:latin typeface="Montaser Arabic"/>
                <a:ea typeface="Montaser Arabic"/>
                <a:cs typeface="Montaser Arabic"/>
                <a:sym typeface="Montaser Arabic"/>
              </a:rPr>
              <a:t>MSc Artificial Intelligence · June 2026</a:t>
            </a:r>
          </a:p>
        </p:txBody>
      </p:sp>
      <p:grpSp>
        <p:nvGrpSpPr>
          <p:cNvPr id="4" name="Group 4"/>
          <p:cNvGrpSpPr/>
          <p:nvPr/>
        </p:nvGrpSpPr>
        <p:grpSpPr>
          <a:xfrm>
            <a:off x="2755385" y="8654656"/>
            <a:ext cx="1186330" cy="4320194"/>
            <a:chOff x="0" y="0"/>
            <a:chExt cx="312449" cy="1137829"/>
          </a:xfrm>
        </p:grpSpPr>
        <p:sp>
          <p:nvSpPr>
            <p:cNvPr id="5" name="Freeform 5"/>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6" name="TextBox 6"/>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7" name="Group 7"/>
          <p:cNvGrpSpPr/>
          <p:nvPr/>
        </p:nvGrpSpPr>
        <p:grpSpPr>
          <a:xfrm>
            <a:off x="4204000" y="9025295"/>
            <a:ext cx="1186330" cy="4320194"/>
            <a:chOff x="0" y="0"/>
            <a:chExt cx="312449" cy="1137829"/>
          </a:xfrm>
        </p:grpSpPr>
        <p:sp>
          <p:nvSpPr>
            <p:cNvPr id="8" name="Freeform 8"/>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9" name="TextBox 9"/>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0" name="Group 10"/>
          <p:cNvGrpSpPr/>
          <p:nvPr/>
        </p:nvGrpSpPr>
        <p:grpSpPr>
          <a:xfrm>
            <a:off x="1302355" y="9568242"/>
            <a:ext cx="1186330" cy="4320194"/>
            <a:chOff x="0" y="0"/>
            <a:chExt cx="312449" cy="1137829"/>
          </a:xfrm>
        </p:grpSpPr>
        <p:sp>
          <p:nvSpPr>
            <p:cNvPr id="11" name="Freeform 11"/>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2" name="TextBox 12"/>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3" name="Group 13"/>
          <p:cNvGrpSpPr/>
          <p:nvPr/>
        </p:nvGrpSpPr>
        <p:grpSpPr>
          <a:xfrm>
            <a:off x="14445028" y="-2504166"/>
            <a:ext cx="1186330" cy="4320194"/>
            <a:chOff x="0" y="0"/>
            <a:chExt cx="312449" cy="1137829"/>
          </a:xfrm>
        </p:grpSpPr>
        <p:sp>
          <p:nvSpPr>
            <p:cNvPr id="14" name="Freeform 14"/>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1D5A7C"/>
            </a:solidFill>
          </p:spPr>
          <p:txBody>
            <a:bodyPr/>
            <a:lstStyle/>
            <a:p>
              <a:endParaRPr lang="en-GB"/>
            </a:p>
          </p:txBody>
        </p:sp>
        <p:sp>
          <p:nvSpPr>
            <p:cNvPr id="15" name="TextBox 15"/>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6" name="Group 16"/>
          <p:cNvGrpSpPr/>
          <p:nvPr/>
        </p:nvGrpSpPr>
        <p:grpSpPr>
          <a:xfrm>
            <a:off x="15893643" y="-3472576"/>
            <a:ext cx="1186330" cy="4320194"/>
            <a:chOff x="0" y="0"/>
            <a:chExt cx="312449" cy="1137829"/>
          </a:xfrm>
        </p:grpSpPr>
        <p:sp>
          <p:nvSpPr>
            <p:cNvPr id="17" name="Freeform 17"/>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18" name="TextBox 18"/>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19" name="Group 19"/>
          <p:cNvGrpSpPr/>
          <p:nvPr/>
        </p:nvGrpSpPr>
        <p:grpSpPr>
          <a:xfrm>
            <a:off x="17346673" y="6865198"/>
            <a:ext cx="1186330" cy="4320194"/>
            <a:chOff x="0" y="0"/>
            <a:chExt cx="312449" cy="1137829"/>
          </a:xfrm>
        </p:grpSpPr>
        <p:sp>
          <p:nvSpPr>
            <p:cNvPr id="20" name="Freeform 20"/>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1" name="TextBox 21"/>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2" name="Group 22"/>
          <p:cNvGrpSpPr/>
          <p:nvPr/>
        </p:nvGrpSpPr>
        <p:grpSpPr>
          <a:xfrm>
            <a:off x="12991998" y="-2929629"/>
            <a:ext cx="1186330" cy="4320194"/>
            <a:chOff x="0" y="0"/>
            <a:chExt cx="312449" cy="1137829"/>
          </a:xfrm>
        </p:grpSpPr>
        <p:sp>
          <p:nvSpPr>
            <p:cNvPr id="23" name="Freeform 23"/>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4" name="TextBox 24"/>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5" name="Group 25"/>
          <p:cNvGrpSpPr/>
          <p:nvPr/>
        </p:nvGrpSpPr>
        <p:grpSpPr>
          <a:xfrm>
            <a:off x="12987583" y="7766181"/>
            <a:ext cx="1186330" cy="4320194"/>
            <a:chOff x="0" y="0"/>
            <a:chExt cx="312449" cy="1137829"/>
          </a:xfrm>
        </p:grpSpPr>
        <p:sp>
          <p:nvSpPr>
            <p:cNvPr id="26" name="Freeform 26"/>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ln w="38100" cap="rnd">
              <a:solidFill>
                <a:srgbClr val="85D3C7"/>
              </a:solidFill>
              <a:prstDash val="solid"/>
              <a:round/>
            </a:ln>
          </p:spPr>
          <p:txBody>
            <a:bodyPr/>
            <a:lstStyle/>
            <a:p>
              <a:endParaRPr lang="en-GB"/>
            </a:p>
          </p:txBody>
        </p:sp>
        <p:sp>
          <p:nvSpPr>
            <p:cNvPr id="27" name="TextBox 27"/>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28" name="Group 28"/>
          <p:cNvGrpSpPr/>
          <p:nvPr/>
        </p:nvGrpSpPr>
        <p:grpSpPr>
          <a:xfrm>
            <a:off x="15893643" y="1023288"/>
            <a:ext cx="1186330" cy="3208957"/>
            <a:chOff x="0" y="0"/>
            <a:chExt cx="312449" cy="845157"/>
          </a:xfrm>
        </p:grpSpPr>
        <p:sp>
          <p:nvSpPr>
            <p:cNvPr id="29" name="Freeform 29"/>
            <p:cNvSpPr/>
            <p:nvPr/>
          </p:nvSpPr>
          <p:spPr>
            <a:xfrm>
              <a:off x="0" y="0"/>
              <a:ext cx="312449" cy="845157"/>
            </a:xfrm>
            <a:custGeom>
              <a:avLst/>
              <a:gdLst/>
              <a:ahLst/>
              <a:cxnLst/>
              <a:rect l="l" t="t" r="r" b="b"/>
              <a:pathLst>
                <a:path w="312449" h="845157">
                  <a:moveTo>
                    <a:pt x="156225" y="0"/>
                  </a:moveTo>
                  <a:lnTo>
                    <a:pt x="156225" y="0"/>
                  </a:lnTo>
                  <a:cubicBezTo>
                    <a:pt x="197658" y="0"/>
                    <a:pt x="237394" y="16459"/>
                    <a:pt x="266692" y="45757"/>
                  </a:cubicBezTo>
                  <a:cubicBezTo>
                    <a:pt x="295990" y="75055"/>
                    <a:pt x="312449" y="114791"/>
                    <a:pt x="312449" y="156225"/>
                  </a:cubicBezTo>
                  <a:lnTo>
                    <a:pt x="312449" y="688933"/>
                  </a:lnTo>
                  <a:cubicBezTo>
                    <a:pt x="312449" y="730366"/>
                    <a:pt x="295990" y="770103"/>
                    <a:pt x="266692" y="799400"/>
                  </a:cubicBezTo>
                  <a:cubicBezTo>
                    <a:pt x="237394" y="828698"/>
                    <a:pt x="197658" y="845157"/>
                    <a:pt x="156225" y="845157"/>
                  </a:cubicBezTo>
                  <a:lnTo>
                    <a:pt x="156225" y="845157"/>
                  </a:lnTo>
                  <a:cubicBezTo>
                    <a:pt x="114791" y="845157"/>
                    <a:pt x="75055" y="828698"/>
                    <a:pt x="45757" y="799400"/>
                  </a:cubicBezTo>
                  <a:cubicBezTo>
                    <a:pt x="16459" y="770103"/>
                    <a:pt x="0" y="730366"/>
                    <a:pt x="0" y="688933"/>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30" name="TextBox 30"/>
            <p:cNvSpPr txBox="1"/>
            <p:nvPr/>
          </p:nvSpPr>
          <p:spPr>
            <a:xfrm>
              <a:off x="0" y="28575"/>
              <a:ext cx="312449" cy="816582"/>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31" name="Group 31"/>
          <p:cNvGrpSpPr/>
          <p:nvPr/>
        </p:nvGrpSpPr>
        <p:grpSpPr>
          <a:xfrm>
            <a:off x="15893643" y="4477500"/>
            <a:ext cx="1186330" cy="6337253"/>
            <a:chOff x="0" y="0"/>
            <a:chExt cx="312449" cy="1669071"/>
          </a:xfrm>
        </p:grpSpPr>
        <p:sp>
          <p:nvSpPr>
            <p:cNvPr id="32" name="Freeform 32"/>
            <p:cNvSpPr/>
            <p:nvPr/>
          </p:nvSpPr>
          <p:spPr>
            <a:xfrm>
              <a:off x="0" y="0"/>
              <a:ext cx="312449" cy="1669071"/>
            </a:xfrm>
            <a:custGeom>
              <a:avLst/>
              <a:gdLst/>
              <a:ahLst/>
              <a:cxnLst/>
              <a:rect l="l" t="t" r="r" b="b"/>
              <a:pathLst>
                <a:path w="312449" h="1669071">
                  <a:moveTo>
                    <a:pt x="156225" y="0"/>
                  </a:moveTo>
                  <a:lnTo>
                    <a:pt x="156225" y="0"/>
                  </a:lnTo>
                  <a:cubicBezTo>
                    <a:pt x="197658" y="0"/>
                    <a:pt x="237394" y="16459"/>
                    <a:pt x="266692" y="45757"/>
                  </a:cubicBezTo>
                  <a:cubicBezTo>
                    <a:pt x="295990" y="75055"/>
                    <a:pt x="312449" y="114791"/>
                    <a:pt x="312449" y="156225"/>
                  </a:cubicBezTo>
                  <a:lnTo>
                    <a:pt x="312449" y="1512846"/>
                  </a:lnTo>
                  <a:cubicBezTo>
                    <a:pt x="312449" y="1554279"/>
                    <a:pt x="295990" y="1594016"/>
                    <a:pt x="266692" y="1623314"/>
                  </a:cubicBezTo>
                  <a:cubicBezTo>
                    <a:pt x="237394" y="1652611"/>
                    <a:pt x="197658" y="1669071"/>
                    <a:pt x="156225" y="1669071"/>
                  </a:cubicBezTo>
                  <a:lnTo>
                    <a:pt x="156225" y="1669071"/>
                  </a:lnTo>
                  <a:cubicBezTo>
                    <a:pt x="114791" y="1669071"/>
                    <a:pt x="75055" y="1652611"/>
                    <a:pt x="45757" y="1623314"/>
                  </a:cubicBezTo>
                  <a:cubicBezTo>
                    <a:pt x="16459" y="1594016"/>
                    <a:pt x="0" y="1554279"/>
                    <a:pt x="0" y="1512846"/>
                  </a:cubicBezTo>
                  <a:lnTo>
                    <a:pt x="0" y="156225"/>
                  </a:lnTo>
                  <a:cubicBezTo>
                    <a:pt x="0" y="114791"/>
                    <a:pt x="16459" y="75055"/>
                    <a:pt x="45757" y="45757"/>
                  </a:cubicBezTo>
                  <a:cubicBezTo>
                    <a:pt x="75055" y="16459"/>
                    <a:pt x="114791" y="0"/>
                    <a:pt x="156225" y="0"/>
                  </a:cubicBezTo>
                  <a:close/>
                </a:path>
              </a:pathLst>
            </a:custGeom>
            <a:solidFill>
              <a:srgbClr val="1D5A7C"/>
            </a:solidFill>
            <a:ln cap="rnd">
              <a:noFill/>
              <a:prstDash val="solid"/>
              <a:round/>
            </a:ln>
          </p:spPr>
          <p:txBody>
            <a:bodyPr/>
            <a:lstStyle/>
            <a:p>
              <a:endParaRPr lang="en-GB"/>
            </a:p>
          </p:txBody>
        </p:sp>
        <p:sp>
          <p:nvSpPr>
            <p:cNvPr id="33" name="TextBox 33"/>
            <p:cNvSpPr txBox="1"/>
            <p:nvPr/>
          </p:nvSpPr>
          <p:spPr>
            <a:xfrm>
              <a:off x="0" y="28575"/>
              <a:ext cx="312449" cy="1640496"/>
            </a:xfrm>
            <a:prstGeom prst="rect">
              <a:avLst/>
            </a:prstGeom>
          </p:spPr>
          <p:txBody>
            <a:bodyPr lIns="50800" tIns="50800" rIns="50800" bIns="50800" rtlCol="0" anchor="ctr"/>
            <a:lstStyle/>
            <a:p>
              <a:pPr marL="0" lvl="0" indent="0" algn="ctr">
                <a:lnSpc>
                  <a:spcPts val="2640"/>
                </a:lnSpc>
                <a:spcBef>
                  <a:spcPct val="0"/>
                </a:spcBef>
              </a:pPr>
              <a:endParaRPr/>
            </a:p>
          </p:txBody>
        </p:sp>
      </p:grpSp>
      <p:grpSp>
        <p:nvGrpSpPr>
          <p:cNvPr id="34" name="Group 34"/>
          <p:cNvGrpSpPr/>
          <p:nvPr/>
        </p:nvGrpSpPr>
        <p:grpSpPr>
          <a:xfrm>
            <a:off x="14440613" y="2072148"/>
            <a:ext cx="1186330" cy="4320194"/>
            <a:chOff x="0" y="0"/>
            <a:chExt cx="312449" cy="1137829"/>
          </a:xfrm>
        </p:grpSpPr>
        <p:sp>
          <p:nvSpPr>
            <p:cNvPr id="35" name="Freeform 35"/>
            <p:cNvSpPr/>
            <p:nvPr/>
          </p:nvSpPr>
          <p:spPr>
            <a:xfrm>
              <a:off x="0" y="0"/>
              <a:ext cx="312449" cy="1137829"/>
            </a:xfrm>
            <a:custGeom>
              <a:avLst/>
              <a:gdLst/>
              <a:ahLst/>
              <a:cxnLst/>
              <a:rect l="l" t="t" r="r" b="b"/>
              <a:pathLst>
                <a:path w="312449" h="1137829">
                  <a:moveTo>
                    <a:pt x="156225" y="0"/>
                  </a:moveTo>
                  <a:lnTo>
                    <a:pt x="156225" y="0"/>
                  </a:lnTo>
                  <a:cubicBezTo>
                    <a:pt x="197658" y="0"/>
                    <a:pt x="237394" y="16459"/>
                    <a:pt x="266692" y="45757"/>
                  </a:cubicBezTo>
                  <a:cubicBezTo>
                    <a:pt x="295990" y="75055"/>
                    <a:pt x="312449" y="114791"/>
                    <a:pt x="312449" y="156225"/>
                  </a:cubicBezTo>
                  <a:lnTo>
                    <a:pt x="312449" y="981604"/>
                  </a:lnTo>
                  <a:cubicBezTo>
                    <a:pt x="312449" y="1023038"/>
                    <a:pt x="295990" y="1062774"/>
                    <a:pt x="266692" y="1092072"/>
                  </a:cubicBezTo>
                  <a:cubicBezTo>
                    <a:pt x="237394" y="1121369"/>
                    <a:pt x="197658" y="1137829"/>
                    <a:pt x="156225" y="1137829"/>
                  </a:cubicBezTo>
                  <a:lnTo>
                    <a:pt x="156225" y="1137829"/>
                  </a:lnTo>
                  <a:cubicBezTo>
                    <a:pt x="114791" y="1137829"/>
                    <a:pt x="75055" y="1121369"/>
                    <a:pt x="45757" y="1092072"/>
                  </a:cubicBezTo>
                  <a:cubicBezTo>
                    <a:pt x="16459" y="1062774"/>
                    <a:pt x="0" y="1023038"/>
                    <a:pt x="0" y="981604"/>
                  </a:cubicBezTo>
                  <a:lnTo>
                    <a:pt x="0" y="156225"/>
                  </a:lnTo>
                  <a:cubicBezTo>
                    <a:pt x="0" y="114791"/>
                    <a:pt x="16459" y="75055"/>
                    <a:pt x="45757" y="45757"/>
                  </a:cubicBezTo>
                  <a:cubicBezTo>
                    <a:pt x="75055" y="16459"/>
                    <a:pt x="114791" y="0"/>
                    <a:pt x="156225" y="0"/>
                  </a:cubicBezTo>
                  <a:close/>
                </a:path>
              </a:pathLst>
            </a:custGeom>
            <a:solidFill>
              <a:srgbClr val="84D4C7"/>
            </a:solidFill>
          </p:spPr>
          <p:txBody>
            <a:bodyPr/>
            <a:lstStyle/>
            <a:p>
              <a:endParaRPr lang="en-GB"/>
            </a:p>
          </p:txBody>
        </p:sp>
        <p:sp>
          <p:nvSpPr>
            <p:cNvPr id="36" name="TextBox 36"/>
            <p:cNvSpPr txBox="1"/>
            <p:nvPr/>
          </p:nvSpPr>
          <p:spPr>
            <a:xfrm>
              <a:off x="0" y="28575"/>
              <a:ext cx="312449" cy="1109254"/>
            </a:xfrm>
            <a:prstGeom prst="rect">
              <a:avLst/>
            </a:prstGeom>
          </p:spPr>
          <p:txBody>
            <a:bodyPr lIns="50800" tIns="50800" rIns="50800" bIns="50800" rtlCol="0" anchor="ctr"/>
            <a:lstStyle/>
            <a:p>
              <a:pPr marL="0" lvl="0" indent="0" algn="ctr">
                <a:lnSpc>
                  <a:spcPts val="2640"/>
                </a:lnSpc>
              </a:pPr>
              <a:endParaRPr/>
            </a:p>
          </p:txBody>
        </p:sp>
      </p:grpSp>
      <p:grpSp>
        <p:nvGrpSpPr>
          <p:cNvPr id="37" name="Group 37"/>
          <p:cNvGrpSpPr/>
          <p:nvPr/>
        </p:nvGrpSpPr>
        <p:grpSpPr>
          <a:xfrm>
            <a:off x="14440613" y="6578640"/>
            <a:ext cx="1186330" cy="1197956"/>
            <a:chOff x="0" y="0"/>
            <a:chExt cx="312449" cy="315511"/>
          </a:xfrm>
        </p:grpSpPr>
        <p:sp>
          <p:nvSpPr>
            <p:cNvPr id="38" name="Freeform 38"/>
            <p:cNvSpPr/>
            <p:nvPr/>
          </p:nvSpPr>
          <p:spPr>
            <a:xfrm>
              <a:off x="0" y="0"/>
              <a:ext cx="312449" cy="315511"/>
            </a:xfrm>
            <a:custGeom>
              <a:avLst/>
              <a:gdLst/>
              <a:ahLst/>
              <a:cxnLst/>
              <a:rect l="l" t="t" r="r" b="b"/>
              <a:pathLst>
                <a:path w="312449" h="315511">
                  <a:moveTo>
                    <a:pt x="156225" y="0"/>
                  </a:moveTo>
                  <a:lnTo>
                    <a:pt x="156225" y="0"/>
                  </a:lnTo>
                  <a:cubicBezTo>
                    <a:pt x="197658" y="0"/>
                    <a:pt x="237394" y="16459"/>
                    <a:pt x="266692" y="45757"/>
                  </a:cubicBezTo>
                  <a:cubicBezTo>
                    <a:pt x="295990" y="75055"/>
                    <a:pt x="312449" y="114791"/>
                    <a:pt x="312449" y="156225"/>
                  </a:cubicBezTo>
                  <a:lnTo>
                    <a:pt x="312449" y="159287"/>
                  </a:lnTo>
                  <a:cubicBezTo>
                    <a:pt x="312449" y="200720"/>
                    <a:pt x="295990" y="240456"/>
                    <a:pt x="266692" y="269754"/>
                  </a:cubicBezTo>
                  <a:cubicBezTo>
                    <a:pt x="237394" y="299052"/>
                    <a:pt x="197658" y="315511"/>
                    <a:pt x="156225" y="315511"/>
                  </a:cubicBezTo>
                  <a:lnTo>
                    <a:pt x="156225" y="315511"/>
                  </a:lnTo>
                  <a:cubicBezTo>
                    <a:pt x="114791" y="315511"/>
                    <a:pt x="75055" y="299052"/>
                    <a:pt x="45757" y="269754"/>
                  </a:cubicBezTo>
                  <a:cubicBezTo>
                    <a:pt x="16459" y="240456"/>
                    <a:pt x="0" y="200720"/>
                    <a:pt x="0" y="159287"/>
                  </a:cubicBezTo>
                  <a:lnTo>
                    <a:pt x="0" y="156225"/>
                  </a:lnTo>
                  <a:cubicBezTo>
                    <a:pt x="0" y="114791"/>
                    <a:pt x="16459" y="75055"/>
                    <a:pt x="45757" y="45757"/>
                  </a:cubicBezTo>
                  <a:cubicBezTo>
                    <a:pt x="75055" y="16459"/>
                    <a:pt x="114791" y="0"/>
                    <a:pt x="156225" y="0"/>
                  </a:cubicBezTo>
                  <a:close/>
                </a:path>
              </a:pathLst>
            </a:custGeom>
            <a:ln w="38100" cap="rnd">
              <a:solidFill>
                <a:srgbClr val="1D5A7C"/>
              </a:solidFill>
              <a:prstDash val="solid"/>
              <a:round/>
            </a:ln>
          </p:spPr>
          <p:txBody>
            <a:bodyPr/>
            <a:lstStyle/>
            <a:p>
              <a:endParaRPr lang="en-GB"/>
            </a:p>
          </p:txBody>
        </p:sp>
        <p:sp>
          <p:nvSpPr>
            <p:cNvPr id="39" name="TextBox 39"/>
            <p:cNvSpPr txBox="1"/>
            <p:nvPr/>
          </p:nvSpPr>
          <p:spPr>
            <a:xfrm>
              <a:off x="0" y="28575"/>
              <a:ext cx="312449" cy="286936"/>
            </a:xfrm>
            <a:prstGeom prst="rect">
              <a:avLst/>
            </a:prstGeom>
          </p:spPr>
          <p:txBody>
            <a:bodyPr lIns="50800" tIns="50800" rIns="50800" bIns="50800" rtlCol="0" anchor="ctr"/>
            <a:lstStyle/>
            <a:p>
              <a:pPr marL="0" lvl="0" indent="0" algn="ctr">
                <a:lnSpc>
                  <a:spcPts val="2640"/>
                </a:lnSpc>
                <a:spcBef>
                  <a:spcPct val="0"/>
                </a:spcBef>
              </a:pPr>
              <a:endParaRPr/>
            </a:p>
          </p:txBody>
        </p:sp>
      </p:grpSp>
      <p:sp>
        <p:nvSpPr>
          <p:cNvPr id="40" name="TextBox 40"/>
          <p:cNvSpPr txBox="1"/>
          <p:nvPr/>
        </p:nvSpPr>
        <p:spPr>
          <a:xfrm>
            <a:off x="1302355" y="6574149"/>
            <a:ext cx="8457083" cy="199390"/>
          </a:xfrm>
          <a:prstGeom prst="rect">
            <a:avLst/>
          </a:prstGeom>
        </p:spPr>
        <p:txBody>
          <a:bodyPr lIns="0" tIns="0" rIns="0" bIns="0" rtlCol="0" anchor="t">
            <a:spAutoFit/>
          </a:bodyPr>
          <a:lstStyle/>
          <a:p>
            <a:pPr marL="0" lvl="0" indent="0" algn="just">
              <a:lnSpc>
                <a:spcPts val="1594"/>
              </a:lnSpc>
            </a:pPr>
            <a:r>
              <a:rPr lang="en-US" sz="1449" b="1">
                <a:solidFill>
                  <a:srgbClr val="0B1320"/>
                </a:solidFill>
                <a:latin typeface="Montaser Arabic Bold"/>
                <a:ea typeface="Montaser Arabic Bold"/>
                <a:cs typeface="Montaser Arabic Bold"/>
                <a:sym typeface="Montaser Arabic Bold"/>
              </a:rPr>
              <a:t>Stella Chantava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53</TotalTime>
  <Words>866</Words>
  <Application>Microsoft Office PowerPoint</Application>
  <PresentationFormat>Custom</PresentationFormat>
  <Paragraphs>118</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Montaser Arabic</vt:lpstr>
      <vt:lpstr>Calibri</vt:lpstr>
      <vt:lpstr>Arial</vt:lpstr>
      <vt:lpstr>Montaser Arabic Ultra-Bold</vt:lpstr>
      <vt:lpstr>Montaser Arabic Semi-Bold</vt:lpstr>
      <vt:lpstr>Montaser Arabic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Bio_ai_applications</dc:title>
  <cp:lastModifiedBy>Stella Chantava</cp:lastModifiedBy>
  <cp:revision>4</cp:revision>
  <dcterms:created xsi:type="dcterms:W3CDTF">2006-08-16T00:00:00Z</dcterms:created>
  <dcterms:modified xsi:type="dcterms:W3CDTF">2026-06-22T22:13:18Z</dcterms:modified>
  <dc:identifier>DAHNUfLIQMo</dc:identifier>
</cp:coreProperties>
</file>